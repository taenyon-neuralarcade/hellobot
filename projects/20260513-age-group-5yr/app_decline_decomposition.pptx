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5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6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7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8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2023 → 2026 구매자 감소율 (%)</c:v>
                </c:pt>
              </c:strCache>
            </c:strRef>
          </c:tx>
          <c:spPr>
            <a:solidFill>
              <a:srgbClr val="B85042"/>
            </a:solidFill>
            <a:effectLst/>
          </c:spPr>
          <c:invertIfNegative val="0"/>
          <c:dLbls>
            <c:numFmt formatCode="+0;-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B8504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13-15</c:v>
                  </c:pt>
                  <c:pt idx="1">
                    <c:v>16-20</c:v>
                  </c:pt>
                  <c:pt idx="2">
                    <c:v>21-25</c:v>
                  </c:pt>
                  <c:pt idx="3">
                    <c:v>26-30</c:v>
                  </c:pt>
                  <c:pt idx="4">
                    <c:v>31-35</c:v>
                  </c:pt>
                  <c:pt idx="5">
                    <c:v>36-40</c:v>
                  </c:pt>
                  <c:pt idx="6">
                    <c:v>41-45</c:v>
                  </c:pt>
                  <c:pt idx="7">
                    <c:v>46-50</c:v>
                  </c:pt>
                  <c:pt idx="8">
                    <c:v>51-55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-45</c:v>
                </c:pt>
                <c:pt idx="1">
                  <c:v>-53</c:v>
                </c:pt>
                <c:pt idx="2">
                  <c:v>-67</c:v>
                </c:pt>
                <c:pt idx="3">
                  <c:v>-63</c:v>
                </c:pt>
                <c:pt idx="4">
                  <c:v>-60</c:v>
                </c:pt>
                <c:pt idx="5">
                  <c:v>-60</c:v>
                </c:pt>
                <c:pt idx="6">
                  <c:v>-60</c:v>
                </c:pt>
                <c:pt idx="7">
                  <c:v>-69</c:v>
                </c:pt>
                <c:pt idx="8">
                  <c:v>-69</c:v>
                </c:pt>
              </c:numCache>
            </c:numRef>
          </c:val>
        </c:ser>
        <c:dLbls>
          <c:numFmt formatCode="+0;-0" sourceLinked="0"/>
          <c:txPr>
            <a:bodyPr/>
            <a:lstStyle/>
            <a:p>
              <a:pPr>
                <a:defRPr b="0" i="0" strike="noStrike" sz="900" u="none">
                  <a:solidFill>
                    <a:srgbClr val="B8504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3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6DEE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3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000" b="0" i="0" u="none" strike="noStrike">
                <a:solidFill>
                  <a:srgbClr val="1E2761"/>
                </a:solidFill>
                <a:latin typeface="Arial"/>
              </a:rPr>
              <a:t>4개년 사용자 추이 (천명, K)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iOS 사용자 (K)</c:v>
                </c:pt>
              </c:strCache>
            </c:strRef>
          </c:tx>
          <c:spPr>
            <a:solidFill>
              <a:srgbClr val="1E2761"/>
            </a:solidFill>
            <a:ln w="38100" cap="flat">
              <a:solidFill>
                <a:srgbClr val="1E2761"/>
              </a:solidFill>
              <a:prstDash val="solid"/>
              <a:round/>
            </a:ln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1" i="0" strike="noStrike" sz="900" u="none">
                    <a:solidFill>
                      <a:srgbClr val="1A1F36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10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137.1</c:v>
                </c:pt>
                <c:pt idx="1">
                  <c:v>138.6</c:v>
                </c:pt>
                <c:pt idx="2">
                  <c:v>88.1</c:v>
                </c:pt>
                <c:pt idx="3">
                  <c:v>69.2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Android 사용자 (K)</c:v>
                </c:pt>
              </c:strCache>
            </c:strRef>
          </c:tx>
          <c:spPr>
            <a:solidFill>
              <a:srgbClr val="D4A017"/>
            </a:solidFill>
            <a:ln w="38100" cap="flat">
              <a:solidFill>
                <a:srgbClr val="D4A017"/>
              </a:solidFill>
              <a:prstDash val="solid"/>
              <a:round/>
            </a:ln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1" i="0" strike="noStrike" sz="900" u="none">
                    <a:solidFill>
                      <a:srgbClr val="1A1F36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10"/>
            <c:spPr>
              <a:solidFill>
                <a:srgbClr val="D4A017"/>
              </a:solidFill>
              <a:ln w="9525" cap="flat">
                <a:solidFill>
                  <a:srgbClr val="D4A01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139.5</c:v>
                </c:pt>
                <c:pt idx="1">
                  <c:v>80.6</c:v>
                </c:pt>
                <c:pt idx="2">
                  <c:v>52.2</c:v>
                </c:pt>
                <c:pt idx="3">
                  <c:v>40.2</c:v>
                </c:pt>
              </c:numCache>
            </c:numRef>
          </c:val>
          <c:smooth val="1"/>
        </c:ser>
        <c:dLbls>
          <c:numFmt formatCode="0.0" sourceLinked="0"/>
          <c:txPr>
            <a:bodyPr/>
            <a:lstStyle/>
            <a:p>
              <a:pPr>
                <a:defRPr b="1" i="0" strike="noStrike" sz="900" u="none">
                  <a:solidFill>
                    <a:srgbClr val="1A1F36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F3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6DEE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3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solidFill>
                <a:srgbClr val="1A1F36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21-25 iOS</c:v>
                </c:pt>
              </c:strCache>
            </c:strRef>
          </c:tx>
          <c:spPr>
            <a:solidFill>
              <a:srgbClr val="CADCFC"/>
            </a:solidFill>
            <a:ln w="31750" cap="flat">
              <a:solidFill>
                <a:srgbClr val="CADCF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CADCFC"/>
              </a:solidFill>
              <a:ln w="9525" cap="flat">
                <a:solidFill>
                  <a:srgbClr val="CADCF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14649</c:v>
                </c:pt>
                <c:pt idx="1">
                  <c:v>21510</c:v>
                </c:pt>
                <c:pt idx="2">
                  <c:v>20264</c:v>
                </c:pt>
                <c:pt idx="3">
                  <c:v>17568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26-30 iOS</c:v>
                </c:pt>
              </c:strCache>
            </c:strRef>
          </c:tx>
          <c:spPr>
            <a:solidFill>
              <a:srgbClr val="1E2761"/>
            </a:solidFill>
            <a:ln w="31750" cap="flat">
              <a:solidFill>
                <a:srgbClr val="1E276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18480</c:v>
                </c:pt>
                <c:pt idx="1">
                  <c:v>26574</c:v>
                </c:pt>
                <c:pt idx="2">
                  <c:v>25272</c:v>
                </c:pt>
                <c:pt idx="3">
                  <c:v>21226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31-35 iOS</c:v>
                </c:pt>
              </c:strCache>
            </c:strRef>
          </c:tx>
          <c:spPr>
            <a:solidFill>
              <a:srgbClr val="D4A017"/>
            </a:solidFill>
            <a:ln w="31750" cap="flat">
              <a:solidFill>
                <a:srgbClr val="D4A01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D4A017"/>
              </a:solidFill>
              <a:ln w="9525" cap="flat">
                <a:solidFill>
                  <a:srgbClr val="D4A01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19633</c:v>
                </c:pt>
                <c:pt idx="1">
                  <c:v>28917</c:v>
                </c:pt>
                <c:pt idx="2">
                  <c:v>26317</c:v>
                </c:pt>
                <c:pt idx="3">
                  <c:v>22752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A1F3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6DEE9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A63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>
              <a:solidFill>
                <a:srgbClr val="1A1F36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21-25 iOS</c:v>
                </c:pt>
              </c:strCache>
            </c:strRef>
          </c:tx>
          <c:spPr>
            <a:solidFill>
              <a:srgbClr val="CADCFC"/>
            </a:solidFill>
            <a:ln w="31750" cap="flat">
              <a:solidFill>
                <a:srgbClr val="CADCF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CADCFC"/>
              </a:solidFill>
              <a:ln w="9525" cap="flat">
                <a:solidFill>
                  <a:srgbClr val="CADCF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3.37</c:v>
                </c:pt>
                <c:pt idx="1">
                  <c:v>3</c:v>
                </c:pt>
                <c:pt idx="2">
                  <c:v>3.44</c:v>
                </c:pt>
                <c:pt idx="3">
                  <c:v>2.56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26-30 iOS</c:v>
                </c:pt>
              </c:strCache>
            </c:strRef>
          </c:tx>
          <c:spPr>
            <a:solidFill>
              <a:srgbClr val="1E2761"/>
            </a:solidFill>
            <a:ln w="31750" cap="flat">
              <a:solidFill>
                <a:srgbClr val="1E276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3.34</c:v>
                </c:pt>
                <c:pt idx="1">
                  <c:v>3.15</c:v>
                </c:pt>
                <c:pt idx="2">
                  <c:v>2.91</c:v>
                </c:pt>
                <c:pt idx="3">
                  <c:v>2.52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31-35 iOS</c:v>
                </c:pt>
              </c:strCache>
            </c:strRef>
          </c:tx>
          <c:spPr>
            <a:solidFill>
              <a:srgbClr val="D4A017"/>
            </a:solidFill>
            <a:ln w="31750" cap="flat">
              <a:solidFill>
                <a:srgbClr val="D4A01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D4A017"/>
              </a:solidFill>
              <a:ln w="9525" cap="flat">
                <a:solidFill>
                  <a:srgbClr val="D4A01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3.36</c:v>
                </c:pt>
                <c:pt idx="1">
                  <c:v>3.44</c:v>
                </c:pt>
                <c:pt idx="2">
                  <c:v>2.97</c:v>
                </c:pt>
                <c:pt idx="3">
                  <c:v>2.86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A1F3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6DEE9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A63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>
              <a:solidFill>
                <a:srgbClr val="1A1F36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신규 구매자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+0;-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1F3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26-30 iOS</c:v>
                  </c:pt>
                  <c:pt idx="1">
                    <c:v>26-30 Android</c:v>
                  </c:pt>
                  <c:pt idx="2">
                    <c:v>31-35 iOS</c:v>
                  </c:pt>
                  <c:pt idx="3">
                    <c:v>21-25 iOS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-70</c:v>
                </c:pt>
                <c:pt idx="1">
                  <c:v>-72</c:v>
                </c:pt>
                <c:pt idx="2">
                  <c:v>-69</c:v>
                </c:pt>
                <c:pt idx="3">
                  <c:v>-61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기존 구매자</c:v>
                </c:pt>
              </c:strCache>
            </c:strRef>
          </c:tx>
          <c:spPr>
            <a:solidFill>
              <a:srgbClr val="CADCFC"/>
            </a:solidFill>
            <a:effectLst/>
          </c:spPr>
          <c:invertIfNegative val="0"/>
          <c:dLbls>
            <c:numFmt formatCode="+0;-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1F3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26-30 iOS</c:v>
                  </c:pt>
                  <c:pt idx="1">
                    <c:v>26-30 Android</c:v>
                  </c:pt>
                  <c:pt idx="2">
                    <c:v>31-35 iOS</c:v>
                  </c:pt>
                  <c:pt idx="3">
                    <c:v>21-25 iOS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-60</c:v>
                </c:pt>
                <c:pt idx="1">
                  <c:v>-68</c:v>
                </c:pt>
                <c:pt idx="2">
                  <c:v>-56</c:v>
                </c:pt>
                <c:pt idx="3">
                  <c:v>-64</c:v>
                </c:pt>
              </c:numCache>
            </c:numRef>
          </c:val>
        </c:ser>
        <c:dLbls>
          <c:numFmt formatCode="+0;-0" sourceLinked="0"/>
          <c:txPr>
            <a:bodyPr/>
            <a:lstStyle/>
            <a:p>
              <a:pPr>
                <a:defRPr b="0" i="0" strike="noStrike" sz="900" u="none">
                  <a:solidFill>
                    <a:srgbClr val="1A1F3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1A1F3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6DEE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3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solidFill>
                <a:srgbClr val="1A1F36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000" b="0" i="0" u="none" strike="noStrike">
                <a:solidFill>
                  <a:srgbClr val="1E2761"/>
                </a:solidFill>
                <a:latin typeface="Arial"/>
              </a:rPr>
              <a:t>셀별 매출 손실 절대값 (백만원, 2023 → 2026)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 손실 (백만원)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26-30 iOS</c:v>
                  </c:pt>
                  <c:pt idx="1">
                    <c:v>26-30 Android</c:v>
                  </c:pt>
                  <c:pt idx="2">
                    <c:v>21-25 iOS</c:v>
                  </c:pt>
                  <c:pt idx="3">
                    <c:v>31-35 Android</c:v>
                  </c:pt>
                  <c:pt idx="4">
                    <c:v>31-35 iOS</c:v>
                  </c:pt>
                  <c:pt idx="5">
                    <c:v>21-25 Android</c:v>
                  </c:pt>
                  <c:pt idx="6">
                    <c:v>36-40 Android</c:v>
                  </c:pt>
                  <c:pt idx="7">
                    <c:v>41-45 Android</c:v>
                  </c:pt>
                  <c:pt idx="8">
                    <c:v>36-40 iOS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66</c:v>
                </c:pt>
                <c:pt idx="1">
                  <c:v>49.2</c:v>
                </c:pt>
                <c:pt idx="2">
                  <c:v>43.4</c:v>
                </c:pt>
                <c:pt idx="3">
                  <c:v>36.5</c:v>
                </c:pt>
                <c:pt idx="4">
                  <c:v>34.6</c:v>
                </c:pt>
                <c:pt idx="5">
                  <c:v>27.6</c:v>
                </c:pt>
                <c:pt idx="6">
                  <c:v>22.2</c:v>
                </c:pt>
                <c:pt idx="7">
                  <c:v>13</c:v>
                </c:pt>
                <c:pt idx="8">
                  <c:v>12.3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9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1A1F3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D6DEE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3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000" b="0" i="0" u="none" strike="noStrike">
                <a:solidFill>
                  <a:srgbClr val="1E2761"/>
                </a:solidFill>
                <a:latin typeface="Arial"/>
              </a:rPr>
              <a:t>21-25 iOS — 누적 결제 구간별 사용자 수 변화 (4개년)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0원 (비결제)</c:v>
                </c:pt>
              </c:strCache>
            </c:strRef>
          </c:tx>
          <c:spPr>
            <a:solidFill>
              <a:srgbClr val="CADCF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17952</c:v>
                </c:pt>
                <c:pt idx="1">
                  <c:v>16302</c:v>
                </c:pt>
                <c:pt idx="2">
                  <c:v>11612</c:v>
                </c:pt>
                <c:pt idx="3">
                  <c:v>8018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17K 미만</c:v>
                </c:pt>
              </c:strCache>
            </c:strRef>
          </c:tx>
          <c:spPr>
            <a:solidFill>
              <a:srgbClr val="A5B8D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712</c:v>
                </c:pt>
                <c:pt idx="1">
                  <c:v>354</c:v>
                </c:pt>
                <c:pt idx="2">
                  <c:v>195</c:v>
                </c:pt>
                <c:pt idx="3">
                  <c:v>100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17K-136K (중간)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1640</c:v>
                </c:pt>
                <c:pt idx="1">
                  <c:v>1703</c:v>
                </c:pt>
                <c:pt idx="2">
                  <c:v>1032</c:v>
                </c:pt>
                <c:pt idx="3">
                  <c:v>770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136K+ (대형)</c:v>
                </c:pt>
              </c:strCache>
            </c:strRef>
          </c:tx>
          <c:spPr>
            <a:solidFill>
              <a:srgbClr val="D4A01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</c:v>
                  </c:pt>
                </c:lvl>
              </c:multiLvlStrCache>
            </c:multiLvl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259</c:v>
                </c:pt>
                <c:pt idx="1">
                  <c:v>397</c:v>
                </c:pt>
                <c:pt idx="2">
                  <c:v>360</c:v>
                </c:pt>
                <c:pt idx="3">
                  <c:v>168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323K+ (Whale)</c:v>
                </c:pt>
              </c:strCache>
            </c:strRef>
          </c:tx>
          <c:spPr>
            <a:solidFill>
              <a:srgbClr val="B8504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</c:v>
                  </c:pt>
                </c:lvl>
              </c:multiLvlStrCache>
            </c:multiLvlStrRef>
          </c:cat>
          <c:val>
            <c:numRef>
              <c:f>Sheet1!$F$2:$F$5</c:f>
              <c:numCache>
                <c:formatCode>General</c:formatCode>
                <c:ptCount val="4"/>
                <c:pt idx="0">
                  <c:v>65</c:v>
                </c:pt>
                <c:pt idx="1">
                  <c:v>158</c:v>
                </c:pt>
                <c:pt idx="2">
                  <c:v>221</c:v>
                </c:pt>
                <c:pt idx="3">
                  <c:v>137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F3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6DEE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3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>
              <a:solidFill>
                <a:srgbClr val="1A1F36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iOS 월별 사용자 (K)</c:v>
                </c:pt>
              </c:strCache>
            </c:strRef>
          </c:tx>
          <c:spPr>
            <a:solidFill>
              <a:srgbClr val="1E2761"/>
            </a:solidFill>
            <a:ln w="38100" cap="flat">
              <a:solidFill>
                <a:srgbClr val="1E276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9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24-01</c:v>
                  </c:pt>
                  <c:pt idx="1">
                    <c:v>24-06</c:v>
                  </c:pt>
                  <c:pt idx="2">
                    <c:v>24-12</c:v>
                  </c:pt>
                  <c:pt idx="3">
                    <c:v>25-01</c:v>
                  </c:pt>
                  <c:pt idx="4">
                    <c:v>25-06</c:v>
                  </c:pt>
                  <c:pt idx="5">
                    <c:v>25-12</c:v>
                  </c:pt>
                  <c:pt idx="6">
                    <c:v>26-01</c:v>
                  </c:pt>
                  <c:pt idx="7">
                    <c:v>26-04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148.1</c:v>
                </c:pt>
                <c:pt idx="1">
                  <c:v>124.9</c:v>
                </c:pt>
                <c:pt idx="2">
                  <c:v>120.5</c:v>
                </c:pt>
                <c:pt idx="3">
                  <c:v>118.1</c:v>
                </c:pt>
                <c:pt idx="4">
                  <c:v>89.7</c:v>
                </c:pt>
                <c:pt idx="5">
                  <c:v>75.9</c:v>
                </c:pt>
                <c:pt idx="6">
                  <c:v>79</c:v>
                </c:pt>
                <c:pt idx="7">
                  <c:v>74.4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Android 월별 사용자 (K)</c:v>
                </c:pt>
              </c:strCache>
            </c:strRef>
          </c:tx>
          <c:spPr>
            <a:solidFill>
              <a:srgbClr val="D4A017"/>
            </a:solidFill>
            <a:ln w="38100" cap="flat">
              <a:solidFill>
                <a:srgbClr val="D4A01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9"/>
            <c:spPr>
              <a:solidFill>
                <a:srgbClr val="D4A017"/>
              </a:solidFill>
              <a:ln w="9525" cap="flat">
                <a:solidFill>
                  <a:srgbClr val="D4A01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24-01</c:v>
                  </c:pt>
                  <c:pt idx="1">
                    <c:v>24-06</c:v>
                  </c:pt>
                  <c:pt idx="2">
                    <c:v>24-12</c:v>
                  </c:pt>
                  <c:pt idx="3">
                    <c:v>25-01</c:v>
                  </c:pt>
                  <c:pt idx="4">
                    <c:v>25-06</c:v>
                  </c:pt>
                  <c:pt idx="5">
                    <c:v>25-12</c:v>
                  </c:pt>
                  <c:pt idx="6">
                    <c:v>26-01</c:v>
                  </c:pt>
                  <c:pt idx="7">
                    <c:v>26-04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101.7</c:v>
                </c:pt>
                <c:pt idx="1">
                  <c:v>71.4</c:v>
                </c:pt>
                <c:pt idx="2">
                  <c:v>83.5</c:v>
                </c:pt>
                <c:pt idx="3">
                  <c:v>67.9</c:v>
                </c:pt>
                <c:pt idx="4">
                  <c:v>49.5</c:v>
                </c:pt>
                <c:pt idx="5">
                  <c:v>45.5</c:v>
                </c:pt>
                <c:pt idx="6">
                  <c:v>45.1</c:v>
                </c:pt>
                <c:pt idx="7">
                  <c:v>42.6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A1F3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6DEE9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3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solidFill>
                <a:srgbClr val="1A1F36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18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9601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4A0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 REPORT  ·  PART 3  ·  2026-05-16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 매출·구매자 하락 분해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21031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매출 = 사용자 × 결제율 × ARPPU  ·  −58%의 동인 분해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606040"/>
            <a:ext cx="548640" cy="36576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393192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A0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−58%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0080" y="4462272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 매출 4개년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240280" y="393192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A0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80%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240280" y="4462272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유입 감소 기여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840480" y="393192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A0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−71%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840480" y="4462272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Android 사용자 4년 (iOS −49%)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440680" y="393192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A0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−70%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440680" y="4462272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구매자 (기존 −60%)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040880" y="393192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A0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+110%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7040880" y="4462272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Whale(323K+) 비중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40080" y="493776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작성: Tony  ·  뉴럴아케이드 / DLT Partners  ·  filter: platform IN ('IOS','ANDROID')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4A0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FRAME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프레임 — 매출 분해 방정식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11480" y="1280160"/>
            <a:ext cx="8321040" cy="9601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137160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D4A0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매출  =  사용자수  ×  결제 전환율  ×  ARPPU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411480" y="1783080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=  사용자수  ×  결제 전환율  ×  ( 인당 결제 횟수  ×  결제 단가 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242316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EDA의 8개 질문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" y="2788920"/>
            <a:ext cx="4096512" cy="393192"/>
          </a:xfrm>
          <a:prstGeom prst="rect">
            <a:avLst/>
          </a:prstGeom>
          <a:solidFill>
            <a:srgbClr val="E8EFFB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2880360"/>
            <a:ext cx="219456" cy="219456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88036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68680" y="2788920"/>
            <a:ext cx="35204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연령대 구매자 하락이 가장 큰가?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36008" y="2788920"/>
            <a:ext cx="4096512" cy="393192"/>
          </a:xfrm>
          <a:prstGeom prst="rect">
            <a:avLst/>
          </a:prstGeom>
          <a:solidFill>
            <a:srgbClr val="E8EFFB"/>
          </a:solidFill>
          <a:ln/>
        </p:spPr>
      </p:sp>
      <p:sp>
        <p:nvSpPr>
          <p:cNvPr id="13" name="Shape 11"/>
          <p:cNvSpPr/>
          <p:nvPr/>
        </p:nvSpPr>
        <p:spPr>
          <a:xfrm>
            <a:off x="4773168" y="2880360"/>
            <a:ext cx="219456" cy="219456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14" name="Text 12"/>
          <p:cNvSpPr/>
          <p:nvPr/>
        </p:nvSpPr>
        <p:spPr>
          <a:xfrm>
            <a:off x="4773168" y="288036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93208" y="2788920"/>
            <a:ext cx="35204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iOS vs Android — 어느 플랫폼?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11480" y="3255264"/>
            <a:ext cx="4096512" cy="393192"/>
          </a:xfrm>
          <a:prstGeom prst="rect">
            <a:avLst/>
          </a:prstGeom>
          <a:solidFill>
            <a:srgbClr val="E8EFFB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3346704"/>
            <a:ext cx="219456" cy="219456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34670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68680" y="3255264"/>
            <a:ext cx="35204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 유입 vs 전환율 vs 빈도 vs 단가 — 어느 동인?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36008" y="3255264"/>
            <a:ext cx="4096512" cy="393192"/>
          </a:xfrm>
          <a:prstGeom prst="rect">
            <a:avLst/>
          </a:prstGeom>
          <a:solidFill>
            <a:srgbClr val="E8EFFB"/>
          </a:solidFill>
          <a:ln/>
        </p:spPr>
      </p:sp>
      <p:sp>
        <p:nvSpPr>
          <p:cNvPr id="21" name="Shape 19"/>
          <p:cNvSpPr/>
          <p:nvPr/>
        </p:nvSpPr>
        <p:spPr>
          <a:xfrm>
            <a:off x="4773168" y="3346704"/>
            <a:ext cx="219456" cy="219456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22" name="Text 20"/>
          <p:cNvSpPr/>
          <p:nvPr/>
        </p:nvSpPr>
        <p:spPr>
          <a:xfrm>
            <a:off x="4773168" y="334670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093208" y="3255264"/>
            <a:ext cx="35204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구매자 구매력(ARPPU·whale) 변화는?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11480" y="3721608"/>
            <a:ext cx="4096512" cy="393192"/>
          </a:xfrm>
          <a:prstGeom prst="rect">
            <a:avLst/>
          </a:prstGeom>
          <a:solidFill>
            <a:srgbClr val="E8EFFB"/>
          </a:solidFill>
          <a:ln/>
        </p:spPr>
      </p:sp>
      <p:sp>
        <p:nvSpPr>
          <p:cNvPr id="25" name="Shape 23"/>
          <p:cNvSpPr/>
          <p:nvPr/>
        </p:nvSpPr>
        <p:spPr>
          <a:xfrm>
            <a:off x="548640" y="3813048"/>
            <a:ext cx="219456" cy="219456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381304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68680" y="3721608"/>
            <a:ext cx="35204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vs 기존 — 어느 쪽이 더 큰 책임?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636008" y="3721608"/>
            <a:ext cx="4096512" cy="393192"/>
          </a:xfrm>
          <a:prstGeom prst="rect">
            <a:avLst/>
          </a:prstGeom>
          <a:solidFill>
            <a:srgbClr val="E8EFFB"/>
          </a:solidFill>
          <a:ln/>
        </p:spPr>
      </p:sp>
      <p:sp>
        <p:nvSpPr>
          <p:cNvPr id="29" name="Shape 27"/>
          <p:cNvSpPr/>
          <p:nvPr/>
        </p:nvSpPr>
        <p:spPr>
          <a:xfrm>
            <a:off x="4773168" y="3813048"/>
            <a:ext cx="219456" cy="219456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30" name="Text 28"/>
          <p:cNvSpPr/>
          <p:nvPr/>
        </p:nvSpPr>
        <p:spPr>
          <a:xfrm>
            <a:off x="4773168" y="381304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093208" y="3721608"/>
            <a:ext cx="35204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연령 × 플랫폼 — 가장 큰 책임 셀은?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11480" y="4187952"/>
            <a:ext cx="4096512" cy="393192"/>
          </a:xfrm>
          <a:prstGeom prst="rect">
            <a:avLst/>
          </a:prstGeom>
          <a:solidFill>
            <a:srgbClr val="E8EFFB"/>
          </a:solidFill>
          <a:ln/>
        </p:spPr>
      </p:sp>
      <p:sp>
        <p:nvSpPr>
          <p:cNvPr id="33" name="Shape 31"/>
          <p:cNvSpPr/>
          <p:nvPr/>
        </p:nvSpPr>
        <p:spPr>
          <a:xfrm>
            <a:off x="548640" y="4279392"/>
            <a:ext cx="219456" cy="219456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34" name="Text 32"/>
          <p:cNvSpPr/>
          <p:nvPr/>
        </p:nvSpPr>
        <p:spPr>
          <a:xfrm>
            <a:off x="548640" y="427939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68680" y="4187952"/>
            <a:ext cx="35204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Whale(323K+) 이탈 패턴은?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636008" y="4187952"/>
            <a:ext cx="4096512" cy="393192"/>
          </a:xfrm>
          <a:prstGeom prst="rect">
            <a:avLst/>
          </a:prstGeom>
          <a:solidFill>
            <a:srgbClr val="E8EFFB"/>
          </a:solidFill>
          <a:ln/>
        </p:spPr>
      </p:sp>
      <p:sp>
        <p:nvSpPr>
          <p:cNvPr id="37" name="Shape 35"/>
          <p:cNvSpPr/>
          <p:nvPr/>
        </p:nvSpPr>
        <p:spPr>
          <a:xfrm>
            <a:off x="4773168" y="4279392"/>
            <a:ext cx="219456" cy="219456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38" name="Text 36"/>
          <p:cNvSpPr/>
          <p:nvPr/>
        </p:nvSpPr>
        <p:spPr>
          <a:xfrm>
            <a:off x="4773168" y="427939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093208" y="4187952"/>
            <a:ext cx="35204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iOS/Android 하락 시점 차이 (월별)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11480" y="4864608"/>
            <a:ext cx="8321040" cy="0"/>
          </a:xfrm>
          <a:prstGeom prst="line">
            <a:avLst/>
          </a:prstGeom>
          <a:noFill/>
          <a:ln w="6350">
            <a:solidFill>
              <a:srgbClr val="D6DEE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11480" y="491947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3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HelloBot · APP 매출 하락 분해 · 2026-05-16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8321040" y="491947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63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4A0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TL;DR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한눈에 보는 6개 결론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11480" y="1325880"/>
            <a:ext cx="2697480" cy="1463040"/>
          </a:xfrm>
          <a:prstGeom prst="rect">
            <a:avLst/>
          </a:prstGeom>
          <a:solidFill>
            <a:srgbClr val="E8EFFB"/>
          </a:solidFill>
          <a:ln/>
        </p:spPr>
      </p:sp>
      <p:sp>
        <p:nvSpPr>
          <p:cNvPr id="5" name="Shape 3"/>
          <p:cNvSpPr/>
          <p:nvPr/>
        </p:nvSpPr>
        <p:spPr>
          <a:xfrm>
            <a:off x="411480" y="1325880"/>
            <a:ext cx="73152" cy="1463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46304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80%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594360" y="196596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유입 감소 기여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94360" y="225856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매출 하락의 본질은 결제력이 아닌 사용자 유입 감소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18688" y="1325880"/>
            <a:ext cx="2697480" cy="1463040"/>
          </a:xfrm>
          <a:prstGeom prst="rect">
            <a:avLst/>
          </a:prstGeom>
          <a:solidFill>
            <a:srgbClr val="E8EFFB"/>
          </a:solidFill>
          <a:ln/>
        </p:spPr>
      </p:sp>
      <p:sp>
        <p:nvSpPr>
          <p:cNvPr id="10" name="Shape 8"/>
          <p:cNvSpPr/>
          <p:nvPr/>
        </p:nvSpPr>
        <p:spPr>
          <a:xfrm>
            <a:off x="3218688" y="1325880"/>
            <a:ext cx="73152" cy="146304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1" name="Text 9"/>
          <p:cNvSpPr/>
          <p:nvPr/>
        </p:nvSpPr>
        <p:spPr>
          <a:xfrm>
            <a:off x="3401568" y="146304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B850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Android ×1.5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401568" y="196596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iOS보다 빠른 감소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401568" y="225856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4년 사용자 Android −71% vs iOS −49%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025896" y="1325880"/>
            <a:ext cx="2697480" cy="1463040"/>
          </a:xfrm>
          <a:prstGeom prst="rect">
            <a:avLst/>
          </a:prstGeom>
          <a:solidFill>
            <a:srgbClr val="E8EFFB"/>
          </a:solidFill>
          <a:ln/>
        </p:spPr>
      </p:sp>
      <p:sp>
        <p:nvSpPr>
          <p:cNvPr id="15" name="Shape 13"/>
          <p:cNvSpPr/>
          <p:nvPr/>
        </p:nvSpPr>
        <p:spPr>
          <a:xfrm>
            <a:off x="6025896" y="1325880"/>
            <a:ext cx="73152" cy="146304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16" name="Text 14"/>
          <p:cNvSpPr/>
          <p:nvPr/>
        </p:nvSpPr>
        <p:spPr>
          <a:xfrm>
            <a:off x="6208776" y="146304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D4A0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 2023→2024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6208776" y="196596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Android −42% 폭락 시작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208776" y="225856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OR-FGEMF-20(2026) 훨씬 이전 — 별도 원인 추적 필요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11480" y="2953512"/>
            <a:ext cx="2697480" cy="1463040"/>
          </a:xfrm>
          <a:prstGeom prst="rect">
            <a:avLst/>
          </a:prstGeom>
          <a:solidFill>
            <a:srgbClr val="E8EFFB"/>
          </a:solidFill>
          <a:ln/>
        </p:spPr>
      </p:sp>
      <p:sp>
        <p:nvSpPr>
          <p:cNvPr id="20" name="Shape 18"/>
          <p:cNvSpPr/>
          <p:nvPr/>
        </p:nvSpPr>
        <p:spPr>
          <a:xfrm>
            <a:off x="411480" y="2953512"/>
            <a:ext cx="73152" cy="146304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" y="309067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B850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−70%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594360" y="359359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기존(−60%)보다 큰 폭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94360" y="388620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26-30 iOS 신규 결제율 49% → 31% (−18%p)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18688" y="2953512"/>
            <a:ext cx="2697480" cy="1463040"/>
          </a:xfrm>
          <a:prstGeom prst="rect">
            <a:avLst/>
          </a:prstGeom>
          <a:solidFill>
            <a:srgbClr val="E8EFFB"/>
          </a:solidFill>
          <a:ln/>
        </p:spPr>
      </p:sp>
      <p:sp>
        <p:nvSpPr>
          <p:cNvPr id="25" name="Shape 23"/>
          <p:cNvSpPr/>
          <p:nvPr/>
        </p:nvSpPr>
        <p:spPr>
          <a:xfrm>
            <a:off x="3218688" y="2953512"/>
            <a:ext cx="73152" cy="1463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3401568" y="309067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+110%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3401568" y="359359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Whale(323K+) 역설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401568" y="388620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21-25 iOS whale 비중 증가 · 0원·소액 사용자가 먼저 이탈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025896" y="2953512"/>
            <a:ext cx="2697480" cy="1463040"/>
          </a:xfrm>
          <a:prstGeom prst="rect">
            <a:avLst/>
          </a:prstGeom>
          <a:solidFill>
            <a:srgbClr val="E8EFFB"/>
          </a:solidFill>
          <a:ln/>
        </p:spPr>
      </p:sp>
      <p:sp>
        <p:nvSpPr>
          <p:cNvPr id="30" name="Shape 28"/>
          <p:cNvSpPr/>
          <p:nvPr/>
        </p:nvSpPr>
        <p:spPr>
          <a:xfrm>
            <a:off x="6025896" y="2953512"/>
            <a:ext cx="73152" cy="1463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1" name="Text 29"/>
          <p:cNvSpPr/>
          <p:nvPr/>
        </p:nvSpPr>
        <p:spPr>
          <a:xfrm>
            <a:off x="6208776" y="309067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구조적</a:t>
            </a:r>
            <a:endParaRPr lang="en-US" sz="1900" dirty="0"/>
          </a:p>
        </p:txBody>
      </p:sp>
      <p:sp>
        <p:nvSpPr>
          <p:cNvPr id="32" name="Text 30"/>
          <p:cNvSpPr/>
          <p:nvPr/>
        </p:nvSpPr>
        <p:spPr>
          <a:xfrm>
            <a:off x="6208776" y="359359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단일 폭락점 없음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208776" y="388620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월별 시계열에서 단조 감소 · 정책·캠페인 단발 효과 아님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11480" y="4864608"/>
            <a:ext cx="8321040" cy="0"/>
          </a:xfrm>
          <a:prstGeom prst="line">
            <a:avLst/>
          </a:prstGeom>
          <a:noFill/>
          <a:ln w="6350">
            <a:solidFill>
              <a:srgbClr val="D6DEE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1480" y="491947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3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HelloBot · APP 매출 하락 분해 · 2026-05-16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8321040" y="491947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63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4A0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 ·  연령대별 구매자 하락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21-35세 3개 세그먼트가 손실의 79%</a:t>
            </a:r>
            <a:endParaRPr lang="en-US" sz="2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11480" y="1280160"/>
          <a:ext cx="566928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263640" y="1280160"/>
            <a:ext cx="2468880" cy="1188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0" y="137160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4A0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절대 손실 TOP 3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400800" y="162763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79%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6400800" y="210312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구매자 손실의 79%가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21-25 · 26-30 · 31-35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6263640" y="2606040"/>
            <a:ext cx="2468880" cy="365760"/>
          </a:xfrm>
          <a:prstGeom prst="rect">
            <a:avLst/>
          </a:prstGeom>
          <a:solidFill>
            <a:srgbClr val="E8EFFB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0" y="26060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26-30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132320" y="2606040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50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−6,439명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092440" y="26060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4A0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32.3%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263640" y="3044952"/>
            <a:ext cx="2468880" cy="365760"/>
          </a:xfrm>
          <a:prstGeom prst="rect">
            <a:avLst/>
          </a:prstGeom>
          <a:solidFill>
            <a:srgbClr val="E8EFFB"/>
          </a:solidFill>
          <a:ln/>
        </p:spPr>
      </p:sp>
      <p:sp>
        <p:nvSpPr>
          <p:cNvPr id="14" name="Text 11"/>
          <p:cNvSpPr/>
          <p:nvPr/>
        </p:nvSpPr>
        <p:spPr>
          <a:xfrm>
            <a:off x="6400800" y="304495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21-25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132320" y="3044952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50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−5,352명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092440" y="304495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4A0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26.8%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263640" y="3483864"/>
            <a:ext cx="2468880" cy="365760"/>
          </a:xfrm>
          <a:prstGeom prst="rect">
            <a:avLst/>
          </a:prstGeom>
          <a:solidFill>
            <a:srgbClr val="E8EFFB"/>
          </a:solidFill>
          <a:ln/>
        </p:spPr>
      </p:sp>
      <p:sp>
        <p:nvSpPr>
          <p:cNvPr id="18" name="Text 15"/>
          <p:cNvSpPr/>
          <p:nvPr/>
        </p:nvSpPr>
        <p:spPr>
          <a:xfrm>
            <a:off x="6400800" y="3483864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31-35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7132320" y="3483864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50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−4,037명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8092440" y="348386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4A0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20.3%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263640" y="395020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A63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손실 −19,934명 중 비중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411480" y="4590288"/>
            <a:ext cx="8321040" cy="246888"/>
          </a:xfrm>
          <a:prstGeom prst="rect">
            <a:avLst/>
          </a:prstGeom>
          <a:solidFill>
            <a:srgbClr val="FBF0D4"/>
          </a:solidFill>
          <a:ln/>
        </p:spPr>
      </p:sp>
      <p:sp>
        <p:nvSpPr>
          <p:cNvPr id="23" name="Text 20"/>
          <p:cNvSpPr/>
          <p:nvPr/>
        </p:nvSpPr>
        <p:spPr>
          <a:xfrm>
            <a:off x="411480" y="4590288"/>
            <a:ext cx="8321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0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관찰: </a:t>
            </a:r>
            <a:pPr algn="ctr"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21-25(−67%) · 26-30(−63%) · 31-35~41-45(−60%) — 핵심 결제 세그먼트가 균일하게 −60% 이상 감소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411480" y="4864608"/>
            <a:ext cx="8321040" cy="0"/>
          </a:xfrm>
          <a:prstGeom prst="line">
            <a:avLst/>
          </a:prstGeom>
          <a:noFill/>
          <a:ln w="6350">
            <a:solidFill>
              <a:srgbClr val="D6DEE9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11480" y="491947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3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HelloBot · APP 매출 하락 분해 · 2026-05-16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8321040" y="491947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63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4A0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 ·  iOS vs Android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Android가 iOS보다 1.5배 빠르게 감소</a:t>
            </a:r>
            <a:endParaRPr lang="en-US" sz="2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11480" y="1280160"/>
          <a:ext cx="548640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6080760" y="12801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4년 누적 감소율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6080760" y="1627632"/>
            <a:ext cx="2651760" cy="621792"/>
          </a:xfrm>
          <a:prstGeom prst="rect">
            <a:avLst/>
          </a:prstGeom>
          <a:solidFill>
            <a:srgbClr val="E8EFFB"/>
          </a:solidFill>
          <a:ln/>
        </p:spPr>
      </p:sp>
      <p:sp>
        <p:nvSpPr>
          <p:cNvPr id="7" name="Text 4"/>
          <p:cNvSpPr/>
          <p:nvPr/>
        </p:nvSpPr>
        <p:spPr>
          <a:xfrm>
            <a:off x="6190488" y="1673352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63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190488" y="1901952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iOS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583680" y="1865376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−49%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452360" y="1901952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0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Android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8001000" y="1865376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−71%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080760" y="2340864"/>
            <a:ext cx="2651760" cy="621792"/>
          </a:xfrm>
          <a:prstGeom prst="rect">
            <a:avLst/>
          </a:prstGeom>
          <a:solidFill>
            <a:srgbClr val="E8EFFB"/>
          </a:solidFill>
          <a:ln/>
        </p:spPr>
      </p:sp>
      <p:sp>
        <p:nvSpPr>
          <p:cNvPr id="13" name="Text 10"/>
          <p:cNvSpPr/>
          <p:nvPr/>
        </p:nvSpPr>
        <p:spPr>
          <a:xfrm>
            <a:off x="6190488" y="2386584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63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구매자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190488" y="2615184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iOS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583680" y="2578608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−48%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452360" y="2615184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0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Android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8001000" y="2578608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−63%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080760" y="3054096"/>
            <a:ext cx="2651760" cy="621792"/>
          </a:xfrm>
          <a:prstGeom prst="rect">
            <a:avLst/>
          </a:prstGeom>
          <a:solidFill>
            <a:srgbClr val="E8EFFB"/>
          </a:solidFill>
          <a:ln/>
        </p:spPr>
      </p:sp>
      <p:sp>
        <p:nvSpPr>
          <p:cNvPr id="19" name="Text 16"/>
          <p:cNvSpPr/>
          <p:nvPr/>
        </p:nvSpPr>
        <p:spPr>
          <a:xfrm>
            <a:off x="6190488" y="3099816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63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매출(추정)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190488" y="3328416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iOS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6583680" y="3291840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−53%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7452360" y="3328416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0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Android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8001000" y="3291840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−69%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411480" y="4434840"/>
            <a:ext cx="8321040" cy="384048"/>
          </a:xfrm>
          <a:prstGeom prst="rect">
            <a:avLst/>
          </a:prstGeom>
          <a:solidFill>
            <a:srgbClr val="FBF0D4"/>
          </a:solidFill>
          <a:ln/>
        </p:spPr>
      </p:sp>
      <p:sp>
        <p:nvSpPr>
          <p:cNvPr id="25" name="Text 22"/>
          <p:cNvSpPr/>
          <p:nvPr/>
        </p:nvSpPr>
        <p:spPr>
          <a:xfrm>
            <a:off x="502920" y="443484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4A0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INSIGHT  </a:t>
            </a:r>
            <a:pPr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iOS 사용자는 2024년에 +1% 성장, Android는 </a:t>
            </a:r>
            <a:pPr indent="0" marL="0">
              <a:buNone/>
            </a:pPr>
            <a:r>
              <a:rPr lang="en-US" sz="1000" b="1" dirty="0">
                <a:solidFill>
                  <a:srgbClr val="B850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2024년에 −42% 폭락 </a:t>
            </a:r>
            <a:pPr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두 플랫폼이 처음부터 다른 궤적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411480" y="4864608"/>
            <a:ext cx="8321040" cy="0"/>
          </a:xfrm>
          <a:prstGeom prst="line">
            <a:avLst/>
          </a:prstGeom>
          <a:noFill/>
          <a:ln w="6350">
            <a:solidFill>
              <a:srgbClr val="D6DEE9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11480" y="491947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3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HelloBot · APP 매출 하락 분해 · 2026-05-16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8321040" y="491947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63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4A0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 ·  ★★★  Android 폭락의 미스터리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Android 2023→2024 −42% — OR-FGEMF-20 이전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11480" y="1280160"/>
            <a:ext cx="8321040" cy="50292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128016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2023 → 2024 사이 한 해에 무슨 일이 있었나?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1480" y="1965960"/>
            <a:ext cx="4069080" cy="1097280"/>
          </a:xfrm>
          <a:prstGeom prst="rect">
            <a:avLst/>
          </a:prstGeom>
          <a:solidFill>
            <a:srgbClr val="E8EFFB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0574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iOS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33172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5F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+1%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48640" y="27889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137K → 139K  ·  사용자 안정 또는 소폭 성장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1965960"/>
            <a:ext cx="4069080" cy="1097280"/>
          </a:xfrm>
          <a:prstGeom prst="rect">
            <a:avLst/>
          </a:prstGeom>
          <a:solidFill>
            <a:srgbClr val="F7E5E2"/>
          </a:solidFill>
          <a:ln w="25400">
            <a:solidFill>
              <a:srgbClr val="B850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20574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Android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00600" y="233172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850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−42%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4800600" y="27889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139K → 81K  ·  한 해에 사용자의 절반이 사라짐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11480" y="324612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가설 (검증 필요)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1480" y="3566160"/>
            <a:ext cx="4096512" cy="365760"/>
          </a:xfrm>
          <a:prstGeom prst="rect">
            <a:avLst/>
          </a:prstGeom>
          <a:solidFill>
            <a:srgbClr val="E8EFFB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3639312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0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22960" y="356616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Android 앱 마켓 정책 변경 (Play Store 결제 정책 등)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36008" y="3566160"/>
            <a:ext cx="4096512" cy="365760"/>
          </a:xfrm>
          <a:prstGeom prst="rect">
            <a:avLst/>
          </a:prstGeom>
          <a:solidFill>
            <a:srgbClr val="E8EFFB"/>
          </a:solidFill>
          <a:ln/>
        </p:spPr>
      </p:sp>
      <p:sp>
        <p:nvSpPr>
          <p:cNvPr id="19" name="Text 17"/>
          <p:cNvSpPr/>
          <p:nvPr/>
        </p:nvSpPr>
        <p:spPr>
          <a:xfrm>
            <a:off x="4727448" y="3639312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0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47488" y="356616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Android 앱 출시·업데이트 이슈 (특정 버전 호환성 등)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11480" y="3986784"/>
            <a:ext cx="4096512" cy="365760"/>
          </a:xfrm>
          <a:prstGeom prst="rect">
            <a:avLst/>
          </a:prstGeom>
          <a:solidFill>
            <a:srgbClr val="E8EFFB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4059936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0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2960" y="3986784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Android 사용자가 WEB 등 다른 채널로 이탈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36008" y="3986784"/>
            <a:ext cx="4096512" cy="365760"/>
          </a:xfrm>
          <a:prstGeom prst="rect">
            <a:avLst/>
          </a:prstGeom>
          <a:solidFill>
            <a:srgbClr val="E8EFFB"/>
          </a:solidFill>
          <a:ln/>
        </p:spPr>
      </p:sp>
      <p:sp>
        <p:nvSpPr>
          <p:cNvPr id="25" name="Text 23"/>
          <p:cNvSpPr/>
          <p:nvPr/>
        </p:nvSpPr>
        <p:spPr>
          <a:xfrm>
            <a:off x="4727448" y="4059936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0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47488" y="3986784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마케팅 채널이 iOS에 편중되며 Android 신규 유입 감소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11480" y="4590288"/>
            <a:ext cx="8321040" cy="24688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8" name="Text 26"/>
          <p:cNvSpPr/>
          <p:nvPr/>
        </p:nvSpPr>
        <p:spPr>
          <a:xfrm>
            <a:off x="411480" y="4590288"/>
            <a:ext cx="8321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0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최우선 액션: </a:t>
            </a:r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OR-FGEMF-20은 2026년 이슈 — 이 폭락의 원인이 될 수 없음. 별도 추적 필요 (모든 패턴의 시작점)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11480" y="4864608"/>
            <a:ext cx="8321040" cy="0"/>
          </a:xfrm>
          <a:prstGeom prst="line">
            <a:avLst/>
          </a:prstGeom>
          <a:noFill/>
          <a:ln w="6350">
            <a:solidFill>
              <a:srgbClr val="D6DEE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491947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3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HelloBot · APP 매출 하락 분해 · 2026-05-16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8321040" y="491947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63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4A0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 ·  매출 분해 예시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26-30 iOS — 매출 −55%를 4개 동인으로 분해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11480" y="1280160"/>
            <a:ext cx="1993392" cy="182880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44752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사용자수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444752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318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 최대 동인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783080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850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−47%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48640" y="2331720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318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2023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05840" y="2313432"/>
            <a:ext cx="1261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18,915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606040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318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05840" y="2587752"/>
            <a:ext cx="1261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10,049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359152" y="18745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×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2514600" y="1280160"/>
            <a:ext cx="1993392" cy="1828800"/>
          </a:xfrm>
          <a:prstGeom prst="rect">
            <a:avLst/>
          </a:prstGeom>
          <a:solidFill>
            <a:srgbClr val="E8EFFB"/>
          </a:solidFill>
          <a:ln/>
        </p:spPr>
      </p:sp>
      <p:sp>
        <p:nvSpPr>
          <p:cNvPr id="14" name="Text 12"/>
          <p:cNvSpPr/>
          <p:nvPr/>
        </p:nvSpPr>
        <p:spPr>
          <a:xfrm>
            <a:off x="2651760" y="1444752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전환율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651760" y="1783080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850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−9%p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2651760" y="2331720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3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108960" y="2313432"/>
            <a:ext cx="1261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34.6%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651760" y="2606040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3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108960" y="2587752"/>
            <a:ext cx="1261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25.7%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462272" y="18745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×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4617720" y="1280160"/>
            <a:ext cx="1993392" cy="1828800"/>
          </a:xfrm>
          <a:prstGeom prst="rect">
            <a:avLst/>
          </a:prstGeom>
          <a:solidFill>
            <a:srgbClr val="E8EFFB"/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0" y="1444752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빈도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54880" y="1783080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850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−25%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4754880" y="2331720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3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2023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212080" y="2313432"/>
            <a:ext cx="1261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3.34회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54880" y="2606040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3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212080" y="2587752"/>
            <a:ext cx="1261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2.52회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565392" y="18745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×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6720840" y="1280160"/>
            <a:ext cx="1993392" cy="1828800"/>
          </a:xfrm>
          <a:prstGeom prst="rect">
            <a:avLst/>
          </a:prstGeom>
          <a:solidFill>
            <a:srgbClr val="E8EFFB"/>
          </a:solidFill>
          <a:ln/>
        </p:spPr>
      </p:sp>
      <p:sp>
        <p:nvSpPr>
          <p:cNvPr id="30" name="Text 28"/>
          <p:cNvSpPr/>
          <p:nvPr/>
        </p:nvSpPr>
        <p:spPr>
          <a:xfrm>
            <a:off x="6858000" y="1444752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단가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858000" y="1783080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5F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+52%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6858000" y="2331720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3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2023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315200" y="2313432"/>
            <a:ext cx="1261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5,533원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858000" y="2606040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3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315200" y="2587752"/>
            <a:ext cx="1261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8,422원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11480" y="3291840"/>
            <a:ext cx="832104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7" name="Text 35"/>
          <p:cNvSpPr/>
          <p:nvPr/>
        </p:nvSpPr>
        <p:spPr>
          <a:xfrm>
            <a:off x="411480" y="3291840"/>
            <a:ext cx="777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4A0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=</a:t>
            </a:r>
            <a:endParaRPr lang="en-US" sz="3600" dirty="0"/>
          </a:p>
        </p:txBody>
      </p:sp>
      <p:sp>
        <p:nvSpPr>
          <p:cNvPr id="38" name="Text 36"/>
          <p:cNvSpPr/>
          <p:nvPr/>
        </p:nvSpPr>
        <p:spPr>
          <a:xfrm>
            <a:off x="1097280" y="33375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0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매출  −55%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1097280" y="37490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120.9M  →  54.9M  KRW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349240" y="338328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4A0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해석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349240" y="363931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−47% 단독으로도 매출 −47% 설명 가능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결제력은 견고, 유입이 본질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11480" y="4864608"/>
            <a:ext cx="8321040" cy="0"/>
          </a:xfrm>
          <a:prstGeom prst="line">
            <a:avLst/>
          </a:prstGeom>
          <a:noFill/>
          <a:ln w="6350">
            <a:solidFill>
              <a:srgbClr val="D6DEE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11480" y="491947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3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HelloBot · APP 매출 하락 분해 · 2026-05-16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8321040" y="491947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63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4A0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 ·  결제 단가 vs 빈도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단가는 견고 (+15%), 결제 빈도는 감소 (−25%)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11480" y="128016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ARPPU (결제자당 매출, 원)</a:t>
            </a:r>
            <a:endParaRPr lang="en-US" sz="1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11480" y="1600200"/>
          <a:ext cx="416052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411480" y="4251960"/>
            <a:ext cx="4160520" cy="292608"/>
          </a:xfrm>
          <a:prstGeom prst="rect">
            <a:avLst/>
          </a:prstGeom>
          <a:solidFill>
            <a:srgbClr val="FBF0D4"/>
          </a:solidFill>
          <a:ln/>
        </p:spPr>
      </p:sp>
      <p:sp>
        <p:nvSpPr>
          <p:cNvPr id="7" name="Text 4"/>
          <p:cNvSpPr/>
          <p:nvPr/>
        </p:nvSpPr>
        <p:spPr>
          <a:xfrm>
            <a:off x="502920" y="4251960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4A0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 vs 2023: </a:t>
            </a:r>
            <a:pPr indent="0" marL="0">
              <a:buNone/>
            </a:pPr>
            <a:r>
              <a:rPr lang="en-US" sz="95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+15 ~ +20%  ·  결제 단가 상승 (오프셋 효과)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4754880" y="128016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인당 결제 횟수 (월)</a:t>
            </a:r>
            <a:endParaRPr lang="en-US" sz="1100" dirty="0"/>
          </a:p>
        </p:txBody>
      </p:sp>
      <p:graphicFrame>
        <p:nvGraphicFramePr>
          <p:cNvPr id="9" name="Chart 1" descr=""/>
          <p:cNvGraphicFramePr/>
          <p:nvPr/>
        </p:nvGraphicFramePr>
        <p:xfrm>
          <a:off x="4754880" y="1600200"/>
          <a:ext cx="397764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Shape 6"/>
          <p:cNvSpPr/>
          <p:nvPr/>
        </p:nvSpPr>
        <p:spPr>
          <a:xfrm>
            <a:off x="4754880" y="4251960"/>
            <a:ext cx="3977640" cy="292608"/>
          </a:xfrm>
          <a:prstGeom prst="rect">
            <a:avLst/>
          </a:prstGeom>
          <a:solidFill>
            <a:srgbClr val="F7E5E2"/>
          </a:solidFill>
          <a:ln/>
        </p:spPr>
      </p:sp>
      <p:sp>
        <p:nvSpPr>
          <p:cNvPr id="11" name="Text 7"/>
          <p:cNvSpPr/>
          <p:nvPr/>
        </p:nvSpPr>
        <p:spPr>
          <a:xfrm>
            <a:off x="4846320" y="4251960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850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 vs 2023: </a:t>
            </a:r>
            <a:pPr indent="0" marL="0">
              <a:buNone/>
            </a:pPr>
            <a:r>
              <a:rPr lang="en-US" sz="95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−15 ~ −25%  ·  결제 빈도 감소가 ARPPU 상승을 상쇄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411480" y="4617720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D4A0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TAKEAWAY  </a:t>
            </a:r>
            <a:pPr algn="ctr" indent="0" marL="0">
              <a:buNone/>
            </a:pPr>
            <a:r>
              <a:rPr lang="en-US" sz="95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사람이 결제할 때 쓰는 금액(ARPPU)은 오히려 늘었지만, 결제하는 횟수는 줄어듦 → </a:t>
            </a:r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구매자 충성도 약화 신호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411480" y="4864608"/>
            <a:ext cx="8321040" cy="0"/>
          </a:xfrm>
          <a:prstGeom prst="line">
            <a:avLst/>
          </a:prstGeom>
          <a:noFill/>
          <a:ln w="6350">
            <a:solidFill>
              <a:srgbClr val="D6DEE9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11480" y="491947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3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HelloBot · APP 매출 하락 분해 · 2026-05-16</a:t>
            </a:r>
            <a:endParaRPr lang="en-US" sz="850" dirty="0"/>
          </a:p>
        </p:txBody>
      </p:sp>
      <p:sp>
        <p:nvSpPr>
          <p:cNvPr id="15" name="Text 11"/>
          <p:cNvSpPr/>
          <p:nvPr/>
        </p:nvSpPr>
        <p:spPr>
          <a:xfrm>
            <a:off x="8321040" y="491947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63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4A0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 ·  ★  신규 vs 기존 구매자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−70% &gt; 기존 −60% — 신규 효율 약화가 본질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11480" y="123444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셀: 신규 vs 기존 구매자 감소율 (2023 → 2026)</a:t>
            </a:r>
            <a:endParaRPr lang="en-US" sz="1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11480" y="1554480"/>
          <a:ext cx="5349240" cy="2788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943600" y="1280160"/>
            <a:ext cx="2788920" cy="1600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4"/>
          <p:cNvSpPr/>
          <p:nvPr/>
        </p:nvSpPr>
        <p:spPr>
          <a:xfrm>
            <a:off x="6080760" y="137160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D4A0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26-30 iOS 신규 결제율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080760" y="166420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49% → 31%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080760" y="2139696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4년간 −18%p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080760" y="242316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세션에서 결제하는 비율이 절반에서 1/3로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943600" y="2971800"/>
            <a:ext cx="2788920" cy="1371600"/>
          </a:xfrm>
          <a:prstGeom prst="rect">
            <a:avLst/>
          </a:prstGeom>
          <a:solidFill>
            <a:srgbClr val="FBF0D4"/>
          </a:solidFill>
          <a:ln w="6350">
            <a:solidFill>
              <a:srgbClr val="D4A01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080760" y="306324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0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곱셈 효과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080760" y="3337560"/>
            <a:ext cx="2514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구매자 감소 = </a:t>
            </a:r>
            <a:endParaRPr lang="en-US" sz="1000" dirty="0"/>
          </a:p>
          <a:p>
            <a:pPr indent="0" marL="0">
              <a:buNone/>
            </a:pPr>
            <a:r>
              <a:rPr lang="en-US" sz="950" b="1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사용자 감소  ×  </a:t>
            </a:r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결제율 감소</a:t>
            </a:r>
            <a:endParaRPr lang="en-US" sz="10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950" b="1" i="1" dirty="0">
                <a:solidFill>
                  <a:srgbClr val="1318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−70%급 폭락의 본질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11480" y="4590288"/>
            <a:ext cx="8321040" cy="24688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5" name="Text 12"/>
          <p:cNvSpPr/>
          <p:nvPr/>
        </p:nvSpPr>
        <p:spPr>
          <a:xfrm>
            <a:off x="411480" y="4590288"/>
            <a:ext cx="8321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0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결론: </a:t>
            </a:r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온보딩·entry product 변경, 신규 가입 후 결제 유도 경로 점검이 매출 회복 핵심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11480" y="4864608"/>
            <a:ext cx="8321040" cy="0"/>
          </a:xfrm>
          <a:prstGeom prst="line">
            <a:avLst/>
          </a:prstGeom>
          <a:noFill/>
          <a:ln w="6350">
            <a:solidFill>
              <a:srgbClr val="D6DEE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11480" y="491947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3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HelloBot · APP 매출 하락 분해 · 2026-05-16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8321040" y="491947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63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4A0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 ·  매출 손실 책임 셀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TOP 6 셀이 매출 손실의 64% 책임</a:t>
            </a:r>
            <a:endParaRPr lang="en-US" sz="2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11480" y="1280160"/>
          <a:ext cx="534924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943600" y="1280160"/>
            <a:ext cx="2788920" cy="10972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3"/>
          <p:cNvSpPr/>
          <p:nvPr/>
        </p:nvSpPr>
        <p:spPr>
          <a:xfrm>
            <a:off x="6080760" y="137160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4A0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TOP 3 셀 합계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080760" y="1627632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44%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6080760" y="210312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−158.6M  ·  26-30 iOS + Android + 21-25 iOS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943600" y="2468880"/>
            <a:ext cx="2788920" cy="109728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10" name="Text 7"/>
          <p:cNvSpPr/>
          <p:nvPr/>
        </p:nvSpPr>
        <p:spPr>
          <a:xfrm>
            <a:off x="6080760" y="256032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318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TOP 5 셀 합계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080760" y="2816352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64%</a:t>
            </a:r>
            <a:endParaRPr lang="en-US" sz="3200" dirty="0"/>
          </a:p>
        </p:txBody>
      </p:sp>
      <p:sp>
        <p:nvSpPr>
          <p:cNvPr id="12" name="Text 9"/>
          <p:cNvSpPr/>
          <p:nvPr/>
        </p:nvSpPr>
        <p:spPr>
          <a:xfrm>
            <a:off x="6080760" y="329184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318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−229.6M  ·  21-35세 × iOS·Android 핵심 셀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943600" y="3657600"/>
            <a:ext cx="2788920" cy="868680"/>
          </a:xfrm>
          <a:prstGeom prst="rect">
            <a:avLst/>
          </a:prstGeom>
          <a:solidFill>
            <a:srgbClr val="E8EFFB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80760" y="3730752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연령대 비교</a:t>
            </a:r>
            <a:endParaRPr lang="en-US" sz="1000" dirty="0"/>
          </a:p>
          <a:p>
            <a:pPr indent="0" marL="0">
              <a:buNone/>
            </a:pPr>
            <a:r>
              <a:rPr lang="en-US" sz="95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Android &gt; iOS  ·  하락 폭</a:t>
            </a:r>
            <a:endParaRPr lang="en-US" sz="1000" dirty="0"/>
          </a:p>
          <a:p>
            <a:pPr indent="0" marL="0">
              <a:buNone/>
            </a:pPr>
            <a:r>
              <a:rPr lang="en-US" sz="3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900" i="1" dirty="0">
                <a:solidFill>
                  <a:srgbClr val="5A63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(예: 26-30 Android −65% vs iOS −55%)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11480" y="4864608"/>
            <a:ext cx="8321040" cy="0"/>
          </a:xfrm>
          <a:prstGeom prst="line">
            <a:avLst/>
          </a:prstGeom>
          <a:noFill/>
          <a:ln w="6350">
            <a:solidFill>
              <a:srgbClr val="D6DEE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11480" y="491947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3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HelloBot · APP 매출 하락 분해 · 2026-05-16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8321040" y="491947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63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4A0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 ·  Whale 역설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고액 결제자는 견고 — 0원·소액 사용자가 먼저 이탈</a:t>
            </a:r>
            <a:endParaRPr lang="en-US" sz="2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11480" y="1280160"/>
          <a:ext cx="534924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943600" y="1280160"/>
            <a:ext cx="2788920" cy="13716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3"/>
          <p:cNvSpPr/>
          <p:nvPr/>
        </p:nvSpPr>
        <p:spPr>
          <a:xfrm>
            <a:off x="6080760" y="137160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0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Whale (323K+) 사용자 수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080760" y="164592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4A0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+110%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6080760" y="214884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65 → 158 → 221 → 137  ·  21-25 iOS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080760" y="2395728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4년간 2배 증가 — 단 2026 첫 감소 시그널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943600" y="2788920"/>
            <a:ext cx="2788920" cy="1691640"/>
          </a:xfrm>
          <a:prstGeom prst="rect">
            <a:avLst/>
          </a:prstGeom>
          <a:solidFill>
            <a:srgbClr val="E8EFFB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80760" y="288036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정반대 추세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080760" y="318211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0원 사용자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452360" y="3182112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−55%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080760" y="356616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17K 미만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7452360" y="356616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−86%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080760" y="395020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Whale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7452360" y="3950208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4A0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+110%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411480" y="4590288"/>
            <a:ext cx="8321040" cy="246888"/>
          </a:xfrm>
          <a:prstGeom prst="rect">
            <a:avLst/>
          </a:prstGeom>
          <a:solidFill>
            <a:srgbClr val="FBF0D4"/>
          </a:solidFill>
          <a:ln/>
        </p:spPr>
      </p:sp>
      <p:sp>
        <p:nvSpPr>
          <p:cNvPr id="19" name="Text 16"/>
          <p:cNvSpPr/>
          <p:nvPr/>
        </p:nvSpPr>
        <p:spPr>
          <a:xfrm>
            <a:off x="411480" y="4590288"/>
            <a:ext cx="8321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0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INSIGHT: </a:t>
            </a:r>
            <a:pPr algn="ctr"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결제력 있는 사용자는 더 큰 결제 · 결제력 없는 사용자가 빠르게 이탈 — 사용자 풀의 '결제 농도'가 짙어지는 중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11480" y="4864608"/>
            <a:ext cx="8321040" cy="0"/>
          </a:xfrm>
          <a:prstGeom prst="line">
            <a:avLst/>
          </a:prstGeom>
          <a:noFill/>
          <a:ln w="6350">
            <a:solidFill>
              <a:srgbClr val="D6DEE9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11480" y="491947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3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HelloBot · APP 매출 하락 분해 · 2026-05-16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8321040" y="491947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63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4A0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 ·  월별 시계열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단일 폭락점 없는 단조 감소 — 구조적 추세</a:t>
            </a:r>
            <a:endParaRPr lang="en-US" sz="2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11480" y="1280160"/>
          <a:ext cx="832104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411480" y="4389120"/>
            <a:ext cx="2697480" cy="438912"/>
          </a:xfrm>
          <a:prstGeom prst="rect">
            <a:avLst/>
          </a:prstGeom>
          <a:solidFill>
            <a:srgbClr val="E8EFFB"/>
          </a:solidFill>
          <a:ln/>
        </p:spPr>
      </p:sp>
      <p:sp>
        <p:nvSpPr>
          <p:cNvPr id="6" name="Text 3"/>
          <p:cNvSpPr/>
          <p:nvPr/>
        </p:nvSpPr>
        <p:spPr>
          <a:xfrm>
            <a:off x="521208" y="4434840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0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2024년 1년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21208" y="4599432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iOS −23% · Android −18%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218688" y="4389120"/>
            <a:ext cx="2697480" cy="438912"/>
          </a:xfrm>
          <a:prstGeom prst="rect">
            <a:avLst/>
          </a:prstGeom>
          <a:solidFill>
            <a:srgbClr val="E8EFFB"/>
          </a:solidFill>
          <a:ln/>
        </p:spPr>
      </p:sp>
      <p:sp>
        <p:nvSpPr>
          <p:cNvPr id="9" name="Text 6"/>
          <p:cNvSpPr/>
          <p:nvPr/>
        </p:nvSpPr>
        <p:spPr>
          <a:xfrm>
            <a:off x="3328416" y="4434840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0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2025년 1년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3328416" y="4599432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iOS −36% · Android −33%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025896" y="4389120"/>
            <a:ext cx="2697480" cy="438912"/>
          </a:xfrm>
          <a:prstGeom prst="rect">
            <a:avLst/>
          </a:prstGeom>
          <a:solidFill>
            <a:srgbClr val="E8EFFB"/>
          </a:solidFill>
          <a:ln/>
        </p:spPr>
      </p:sp>
      <p:sp>
        <p:nvSpPr>
          <p:cNvPr id="12" name="Text 9"/>
          <p:cNvSpPr/>
          <p:nvPr/>
        </p:nvSpPr>
        <p:spPr>
          <a:xfrm>
            <a:off x="6135624" y="4434840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0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 첫 4개월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135624" y="4599432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iOS −6% · Android −5%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11480" y="4864608"/>
            <a:ext cx="8321040" cy="0"/>
          </a:xfrm>
          <a:prstGeom prst="line">
            <a:avLst/>
          </a:prstGeom>
          <a:noFill/>
          <a:ln w="6350">
            <a:solidFill>
              <a:srgbClr val="D6DEE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11480" y="491947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3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HelloBot · APP 매출 하락 분해 · 2026-05-16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8321040" y="491947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63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4A0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 ·  종합 정량 분해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 매출 −58%의 4개 동인 기여도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11480" y="118872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3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매출 −58% (616M → 258M)을 동인별로 분해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600200"/>
            <a:ext cx="8321040" cy="530352"/>
          </a:xfrm>
          <a:prstGeom prst="rect">
            <a:avLst/>
          </a:prstGeom>
          <a:solidFill>
            <a:srgbClr val="E8EFF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7335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사용자수 감소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651760" y="167335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50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 −55%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023360" y="1764792"/>
            <a:ext cx="3840480" cy="201168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9" name="Text 7"/>
          <p:cNvSpPr/>
          <p:nvPr/>
        </p:nvSpPr>
        <p:spPr>
          <a:xfrm>
            <a:off x="7955280" y="1673352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~80%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1480" y="2240280"/>
            <a:ext cx="8321040" cy="530352"/>
          </a:xfrm>
          <a:prstGeom prst="rect">
            <a:avLst/>
          </a:prstGeom>
          <a:solidFill>
            <a:srgbClr val="E8EFFB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31343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전환율 감소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651760" y="231343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50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−5~10%p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023360" y="2404872"/>
            <a:ext cx="720090" cy="201168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4" name="Text 12"/>
          <p:cNvSpPr/>
          <p:nvPr/>
        </p:nvSpPr>
        <p:spPr>
          <a:xfrm>
            <a:off x="7955280" y="2313432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~15%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1480" y="2880360"/>
            <a:ext cx="8321040" cy="530352"/>
          </a:xfrm>
          <a:prstGeom prst="rect">
            <a:avLst/>
          </a:prstGeom>
          <a:solidFill>
            <a:srgbClr val="E8EFFB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95351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인당 결제 빈도 감소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651760" y="295351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50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−15~25%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023360" y="3044952"/>
            <a:ext cx="480060" cy="201168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9" name="Text 17"/>
          <p:cNvSpPr/>
          <p:nvPr/>
        </p:nvSpPr>
        <p:spPr>
          <a:xfrm>
            <a:off x="7955280" y="2953512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~10%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11480" y="3520440"/>
            <a:ext cx="8321040" cy="530352"/>
          </a:xfrm>
          <a:prstGeom prst="rect">
            <a:avLst/>
          </a:prstGeom>
          <a:solidFill>
            <a:srgbClr val="E8EFFB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59359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ARPPU 증가 (오프셋)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651760" y="359359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+10~20%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023360" y="3685032"/>
            <a:ext cx="720090" cy="201168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4" name="Text 22"/>
          <p:cNvSpPr/>
          <p:nvPr/>
        </p:nvSpPr>
        <p:spPr>
          <a:xfrm>
            <a:off x="7955280" y="3593592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−15% (오프셋)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11480" y="4251960"/>
            <a:ext cx="8321040" cy="5669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431596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4A0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48640" y="4526280"/>
            <a:ext cx="8092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유입 감소가 80% 책임 · 결제 효율(전환율·빈도)이 추가 25% · ARPPU +상승이 일부 상쇄</a:t>
            </a:r>
            <a:endParaRPr lang="en-US" sz="105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매출 회복의 본질은 </a:t>
            </a:r>
            <a:pPr indent="0" marL="0">
              <a:buNone/>
            </a:pPr>
            <a:r>
              <a:rPr lang="en-US" sz="1000" b="1" dirty="0">
                <a:solidFill>
                  <a:srgbClr val="D4A0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유입 채널 강화 + 신규 결제 효율 회복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11480" y="4864608"/>
            <a:ext cx="8321040" cy="0"/>
          </a:xfrm>
          <a:prstGeom prst="line">
            <a:avLst/>
          </a:prstGeom>
          <a:noFill/>
          <a:ln w="6350">
            <a:solidFill>
              <a:srgbClr val="D6DEE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491947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3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HelloBot · APP 매출 하락 분해 · 2026-05-16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8321040" y="491947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63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4A0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 ·  ACTION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액션 후보 — 검증 가설 + 마케팅·제품 후속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11480" y="1234440"/>
            <a:ext cx="4096512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234440"/>
            <a:ext cx="91440" cy="96012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6" name="Text 4"/>
          <p:cNvSpPr/>
          <p:nvPr/>
        </p:nvSpPr>
        <p:spPr>
          <a:xfrm>
            <a:off x="612648" y="13441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850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24712" y="132588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 2023→2024 Android 폭락 원인 추적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124712" y="1655064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−42%, OR-FGEMF-20 이전. Play Store 정책·앱 출시 이슈·마케팅 채널 변경 검증 — 모든 패턴의 시작점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36008" y="1234440"/>
            <a:ext cx="4096512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36008" y="1234440"/>
            <a:ext cx="91440" cy="96012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1" name="Text 9"/>
          <p:cNvSpPr/>
          <p:nvPr/>
        </p:nvSpPr>
        <p:spPr>
          <a:xfrm>
            <a:off x="4837176" y="13441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850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349240" y="132588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사용자 결제 효율 약화 원인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349240" y="1655064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26-30 iOS 신규 결제율 49% → 31%. 온보딩 변화·entry product 변경·결제 유도 경로 점검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11480" y="2331720"/>
            <a:ext cx="4096512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" y="2331720"/>
            <a:ext cx="91440" cy="96012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" y="24414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4A0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P1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24712" y="242316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2025→2026 매출 가속 감소 원인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124712" y="2752344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iOS OR-FGEMF-20 영향 + 카카오 선물하기 채널 WEB 이전 효과 분리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636008" y="2331720"/>
            <a:ext cx="4096512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36008" y="2331720"/>
            <a:ext cx="91440" cy="96012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21" name="Text 19"/>
          <p:cNvSpPr/>
          <p:nvPr/>
        </p:nvSpPr>
        <p:spPr>
          <a:xfrm>
            <a:off x="4837176" y="24414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4A0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P1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349240" y="242316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WEB-APP 사용자 ID 매핑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349240" y="2752344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 사용자가 WEB으로 이전했는지 vs 완전 이탈인지 분리. 채널 코호트 추적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11480" y="3429000"/>
            <a:ext cx="4096512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11480" y="3429000"/>
            <a:ext cx="91440" cy="9601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612648" y="35387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P2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124712" y="352044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26-30 신규 결제율 A/B 테스트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124712" y="3849624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49% → 31% 하락의 어느 부분(첫 화면·가격·UI)이 영향인지 분리 검증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636008" y="3429000"/>
            <a:ext cx="4096512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36008" y="3429000"/>
            <a:ext cx="91440" cy="9601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1" name="Text 29"/>
          <p:cNvSpPr/>
          <p:nvPr/>
        </p:nvSpPr>
        <p:spPr>
          <a:xfrm>
            <a:off x="4837176" y="35387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P2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349240" y="352044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Whale 보호 캠페인 (2026 첫 흔들림)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349240" y="3849624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21-25 iOS whale 221 → 137 (2025→2026 −38%). 4년 만의 첫 감소 시그널 — 회복 캠페인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11480" y="4864608"/>
            <a:ext cx="8321040" cy="0"/>
          </a:xfrm>
          <a:prstGeom prst="line">
            <a:avLst/>
          </a:prstGeom>
          <a:noFill/>
          <a:ln w="6350">
            <a:solidFill>
              <a:srgbClr val="D6DEE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1480" y="491947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3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HelloBot · APP 매출 하락 분해 · 2026-05-16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8321040" y="491947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63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318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4A0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NEXT  ·  PART 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후속 데이터 분석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0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43000" y="158191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2023-2024 Android 사용자 풀 코호트 분석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143000" y="187452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2023 활성 → 2024 이탈한 Android 사용자의 결제 단계·연령·지역 추적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800600" y="160020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0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303520" y="158191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가입 → 첫 결제까지 일수 시계열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303520" y="187452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온보딩 효율 변화 정량 측정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0080" y="256032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0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43000" y="254203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WEB-APP 사용자 ID 매핑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143000" y="283464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 이탈자의 WEB 재유입 여부 분리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00600" y="256032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0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303520" y="254203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마케팅 채널별 신규 유입 시계열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303520" y="283464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광고비·채널 변경이 사용자 감소의 어느 비중을 설명하는지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40080" y="352044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0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43000" y="350215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iOS·Android 별 매출 정확 분리 쿼리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143000" y="379476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 분석은 §1-1 비율 추정값 — 정확 분리로 검증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00600" y="352044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0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303520" y="350215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고가 결제 (pay_for_package) 매출 패턴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303520" y="379476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 분석은 pay_for_contents 중심. 다른 결제 타입 변화 별도 추적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40080" y="4617720"/>
            <a:ext cx="8046720" cy="0"/>
          </a:xfrm>
          <a:prstGeom prst="line">
            <a:avLst/>
          </a:prstGeom>
          <a:noFill/>
          <a:ln w="6350">
            <a:solidFill>
              <a:srgbClr val="D4A01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47365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Q&amp;A  ·  Tony  ·  2026-05-16  ·  Part 3 of EDA series  ·  4 queries · ~3.5 GB scan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 매출·구매자 하락 분해</dc:title>
  <dc:subject>PptxGenJS Presentation</dc:subject>
  <dc:creator>Tony / DLT Partners</dc:creator>
  <cp:lastModifiedBy>Tony / DLT Partners</cp:lastModifiedBy>
  <cp:revision>1</cp:revision>
  <dcterms:created xsi:type="dcterms:W3CDTF">2026-05-16T13:09:37Z</dcterms:created>
  <dcterms:modified xsi:type="dcterms:W3CDTF">2026-05-16T13:09:37Z</dcterms:modified>
</cp:coreProperties>
</file>