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매출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60.6</c:v>
                </c:pt>
                <c:pt idx="1">
                  <c:v>60.2</c:v>
                </c:pt>
                <c:pt idx="2">
                  <c:v>62</c:v>
                </c:pt>
                <c:pt idx="3">
                  <c:v>38.6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 매출 %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39.4</c:v>
                </c:pt>
                <c:pt idx="1">
                  <c:v>39.8</c:v>
                </c:pt>
                <c:pt idx="2">
                  <c:v>38</c:v>
                </c:pt>
                <c:pt idx="3">
                  <c:v>61.4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연령대별 매출 — APP vs 전체 (백만원, 30일)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매출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1.3</c:v>
                </c:pt>
                <c:pt idx="1">
                  <c:v>15.2</c:v>
                </c:pt>
                <c:pt idx="2">
                  <c:v>47</c:v>
                </c:pt>
                <c:pt idx="3">
                  <c:v>81</c:v>
                </c:pt>
                <c:pt idx="4">
                  <c:v>63.8</c:v>
                </c:pt>
                <c:pt idx="5">
                  <c:v>29.4</c:v>
                </c:pt>
                <c:pt idx="6">
                  <c:v>12.7</c:v>
                </c:pt>
                <c:pt idx="7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 매출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3.1</c:v>
                </c:pt>
                <c:pt idx="1">
                  <c:v>43.2</c:v>
                </c:pt>
                <c:pt idx="2">
                  <c:v>129.6</c:v>
                </c:pt>
                <c:pt idx="3">
                  <c:v>204.9</c:v>
                </c:pt>
                <c:pt idx="4">
                  <c:v>155.1</c:v>
                </c:pt>
                <c:pt idx="5">
                  <c:v>66.5</c:v>
                </c:pt>
                <c:pt idx="6">
                  <c:v>26</c:v>
                </c:pt>
                <c:pt idx="7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사주 매출 비중 — APP vs 전체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사주 % (APP)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45.7</c:v>
                </c:pt>
                <c:pt idx="1">
                  <c:v>63.8</c:v>
                </c:pt>
                <c:pt idx="2">
                  <c:v>75</c:v>
                </c:pt>
                <c:pt idx="3">
                  <c:v>78.8</c:v>
                </c:pt>
                <c:pt idx="4">
                  <c:v>77.2</c:v>
                </c:pt>
                <c:pt idx="5">
                  <c:v>81.7</c:v>
                </c:pt>
                <c:pt idx="6">
                  <c:v>75.5</c:v>
                </c:pt>
                <c:pt idx="7">
                  <c:v>53.7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사주 % (전체)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72.4</c:v>
                </c:pt>
                <c:pt idx="1">
                  <c:v>84.4</c:v>
                </c:pt>
                <c:pt idx="2">
                  <c:v>88.9</c:v>
                </c:pt>
                <c:pt idx="3">
                  <c:v>89.5</c:v>
                </c:pt>
                <c:pt idx="4">
                  <c:v>87.3</c:v>
                </c:pt>
                <c:pt idx="5">
                  <c:v>88.3</c:v>
                </c:pt>
                <c:pt idx="6">
                  <c:v>85.4</c:v>
                </c:pt>
                <c:pt idx="7">
                  <c:v>70.5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카테고리 유입 비중 — APP vs 전체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카테고리 % (APP)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33.3</c:v>
                </c:pt>
                <c:pt idx="1">
                  <c:v>27.8</c:v>
                </c:pt>
                <c:pt idx="2">
                  <c:v>22.4</c:v>
                </c:pt>
                <c:pt idx="3">
                  <c:v>25</c:v>
                </c:pt>
                <c:pt idx="4">
                  <c:v>22.4</c:v>
                </c:pt>
                <c:pt idx="5">
                  <c:v>20</c:v>
                </c:pt>
                <c:pt idx="6">
                  <c:v>14.4</c:v>
                </c:pt>
                <c:pt idx="7">
                  <c:v>11.6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카테고리 % (전체)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24.9</c:v>
                </c:pt>
                <c:pt idx="1">
                  <c:v>18.6</c:v>
                </c:pt>
                <c:pt idx="2">
                  <c:v>13.9</c:v>
                </c:pt>
                <c:pt idx="3">
                  <c:v>15.5</c:v>
                </c:pt>
                <c:pt idx="4">
                  <c:v>15.1</c:v>
                </c:pt>
                <c:pt idx="5">
                  <c:v>13.9</c:v>
                </c:pt>
                <c:pt idx="6">
                  <c:v>11.3</c:v>
                </c:pt>
                <c:pt idx="7">
                  <c:v>10.6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950" b="0" i="0" u="none" strike="noStrike">
                <a:solidFill>
                  <a:srgbClr val="1E2761"/>
                </a:solidFill>
                <a:latin typeface="Arial"/>
              </a:rPr>
              <a:t>Champions 사용자 수 (어제 1일 기준)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26-30</c:v>
                  </c:pt>
                  <c:pt idx="1">
                    <c:v>31-35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197</c:v>
                </c:pt>
                <c:pt idx="1">
                  <c:v>238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26-30</c:v>
                  </c:pt>
                  <c:pt idx="1">
                    <c:v>31-35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218</c:v>
                </c:pt>
                <c:pt idx="1">
                  <c:v>270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950" b="0" i="0" u="none" strike="noStrike">
                <a:solidFill>
                  <a:srgbClr val="1E2761"/>
                </a:solidFill>
                <a:latin typeface="Arial"/>
              </a:rPr>
              <a:t>323K+ Whale 비중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323K+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26-30</c:v>
                  </c:pt>
                  <c:pt idx="1">
                    <c:v>31-35</c:v>
                  </c:pt>
                  <c:pt idx="2">
                    <c:v>36-40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4.6</c:v>
                </c:pt>
                <c:pt idx="2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 323K+ %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26-30</c:v>
                  </c:pt>
                  <c:pt idx="1">
                    <c:v>31-35</c:v>
                  </c:pt>
                  <c:pt idx="2">
                    <c:v>36-40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</c:v>
                </c:pt>
                <c:pt idx="1">
                  <c:v>4</c:v>
                </c:pt>
                <c:pt idx="2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신규 결제율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35.6</c:v>
                </c:pt>
                <c:pt idx="1">
                  <c:v>32.3</c:v>
                </c:pt>
                <c:pt idx="2">
                  <c:v>32.1</c:v>
                </c:pt>
                <c:pt idx="3">
                  <c:v>31</c:v>
                </c:pt>
                <c:pt idx="4">
                  <c:v>39.4</c:v>
                </c:pt>
                <c:pt idx="5">
                  <c:v>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 신규 결제율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25.1</c:v>
                </c:pt>
                <c:pt idx="1">
                  <c:v>20.1</c:v>
                </c:pt>
                <c:pt idx="2">
                  <c:v>29.8</c:v>
                </c:pt>
                <c:pt idx="3">
                  <c:v>36.8</c:v>
                </c:pt>
                <c:pt idx="4">
                  <c:v>40.4</c:v>
                </c:pt>
                <c:pt idx="5">
                  <c:v>42.1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4개년 매출 추이 — APP vs 전체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매출 (백만원)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616.5</c:v>
                </c:pt>
                <c:pt idx="1">
                  <c:v>696.2</c:v>
                </c:pt>
                <c:pt idx="2">
                  <c:v>470.4</c:v>
                </c:pt>
                <c:pt idx="3">
                  <c:v>258.3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전체 매출 (백만원)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1016.4</c:v>
                </c:pt>
                <c:pt idx="1">
                  <c:v>1156.6</c:v>
                </c:pt>
                <c:pt idx="2">
                  <c:v>758.5</c:v>
                </c:pt>
                <c:pt idx="3">
                  <c:v>669.2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26-30 신규(첫 세션) 결제율 4개년 추이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26-30 APP 신규 결제율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45.74</c:v>
                </c:pt>
                <c:pt idx="1">
                  <c:v>44.46</c:v>
                </c:pt>
                <c:pt idx="2">
                  <c:v>41.86</c:v>
                </c:pt>
                <c:pt idx="3">
                  <c:v>31.02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26-30 전체 신규 결제율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41.02</c:v>
                </c:pt>
                <c:pt idx="1">
                  <c:v>45.77</c:v>
                </c:pt>
                <c:pt idx="2">
                  <c:v>51.34</c:v>
                </c:pt>
                <c:pt idx="3">
                  <c:v>36.79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REPORT  ·  PART 2  ·  2026-05-16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한정 EDA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 × APP 한정 분석  ·  메인 EDA 결론은 WEB·anonymous 영향인가?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(KRW · 30일)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402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4개년 (vs 전체 −34%)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38.6%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APP 매출 비중 (역전)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Unique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쿼리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~2.3 GB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Tony  ·  뉴럴아케이드 / DLT Partners  ·  filter: platform_appweb = 'APP'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 · 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APP 한정 분석인가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7772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"메인 EDA 결론이 WEB · anonymous 사용자 때문에 희석된 것 아닌가?"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APP-only로 동일 분석을 재실행해서, 메인 EDA 결론을 채널 차원에서 검증·정정한다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26974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331720"/>
            <a:ext cx="2697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2496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28346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315468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platform_appweb = 'APP'  (iOS + Android)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" y="3703320"/>
            <a:ext cx="2368296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794760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기간: 30일 (2026-04-16 ~ 05-15)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범위: 2023·2024·2025·2026 동일 30일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2331720"/>
            <a:ext cx="26974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2331720"/>
            <a:ext cx="2697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496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6+1 차원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15468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EDA와 동일한 분석 차원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703320"/>
            <a:ext cx="2368296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94760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분포 · 콘텐츠 타입 · 유입 경로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RFM · whale · 신규/기존 + APP↔WEB 채널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2331720"/>
            <a:ext cx="26974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5896" y="2331720"/>
            <a:ext cx="26974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488" y="2496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0488" y="28346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315468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vs 전체 (= APP + WEB + anonymous)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0488" y="3703320"/>
            <a:ext cx="2368296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3794760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차트와 표에서 APP 수치를 메인 EDA 전체 수치와 병기 비교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결론 (메인 EDA 결론 정정 포함)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71600"/>
            <a:ext cx="91440" cy="1417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4개년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0" y="153619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전체 −34%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WEB이 매출 완충 역할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3716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371600"/>
            <a:ext cx="91440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 → 39%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37176" y="2212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 APP 매출 비중 역전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67728" y="153619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→ 2026 한 해에 발생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주축 APP→WEB 이전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97180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 &gt; 타로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" y="3813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— APP 감소 패턴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13639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APP은 사주가 더 빨리 감소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"타로 폭락"은 WEB 영향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2971800"/>
            <a:ext cx="4096512" cy="14173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297180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37176" y="3813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13-15 타로 비중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67728" y="313639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사주(45.7%) 추월 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데이터의 25.8%와 정반대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핵심: </a:t>
            </a:r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청소년 신규 결제율 35.6% (전체 25.1%) · APP whale 비중 약간 더 높음 · APP 신규 결제율 단조 감소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·  ★★★  채널 매출 주도권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매출 주축이 APP → WEB으로 이전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280160"/>
            <a:ext cx="320040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553212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→ 2026 (한 해 사이)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32120" y="1920240"/>
            <a:ext cx="320040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8" name="Text 5"/>
          <p:cNvSpPr/>
          <p:nvPr/>
        </p:nvSpPr>
        <p:spPr>
          <a:xfrm>
            <a:off x="5641848" y="19202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사용자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20840" y="192024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0" y="19202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140K → 109K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32120" y="2423160"/>
            <a:ext cx="320040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2" name="Text 9"/>
          <p:cNvSpPr/>
          <p:nvPr/>
        </p:nvSpPr>
        <p:spPr>
          <a:xfrm>
            <a:off x="5641848" y="2423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20840" y="24231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2423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470M → 258M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32120" y="2926080"/>
            <a:ext cx="320040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6" name="Text 13"/>
          <p:cNvSpPr/>
          <p:nvPr/>
        </p:nvSpPr>
        <p:spPr>
          <a:xfrm>
            <a:off x="5641848" y="2926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사용자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20840" y="29260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+42%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9520" y="2926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147K → 209K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32120" y="3429000"/>
            <a:ext cx="320040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0" name="Text 17"/>
          <p:cNvSpPr/>
          <p:nvPr/>
        </p:nvSpPr>
        <p:spPr>
          <a:xfrm>
            <a:off x="5641848" y="3429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매출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20840" y="34290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89520" y="3429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288M → 411M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매출 감소(−12%)의 본질은 APP 매출 절벽(−45%)을 WEB 매출 증가(+43%)가 일부 상쇄한 결과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·  APP 매출 분포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APP에서도 26-30 / 31-35가 매출 정점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280160"/>
            <a:ext cx="24688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비중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627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~ 44%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결제 세그먼트에서 전체 매출의 35-44%만 APP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2560320"/>
            <a:ext cx="2468880" cy="100584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6334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비중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54-76%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비중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35-44%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WEB 결제력이 더 높음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3657600"/>
            <a:ext cx="2468880" cy="868680"/>
          </a:xfrm>
          <a:prstGeom prst="rect">
            <a:avLst/>
          </a:prstGeom>
          <a:solidFill>
            <a:srgbClr val="FBF0D4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3730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16-20 WEB ARPU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4,000원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APP 1,390원  ·  </a:t>
            </a:r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2.9배 차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·  콘텐츠 타입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APP은 타로 친화적 — 청소년은 사주를 추월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40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97480" cy="1600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APP 13-15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16642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49.9%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72200" y="20848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 사주 45.7%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72200" y="23957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데이터의 청소년 타로 25.8%와 정반대 — APP 청소년 콘텐츠 전략의 핵심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3063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패턴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200" y="33375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사주 비중은 모든 연령대에서 전체 대비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 ~ −27%p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WEB 사용자는 사주 중심, APP 사용자는 타로 친화적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·  유입 경로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APP은 카테고리 의존도 ↑, funnel 추적 정확도 ↑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280160"/>
            <a:ext cx="265176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funnel 캐치율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792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 ~ 13%p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17920" y="20848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배너+카테고리 합산이 전체보다 10~13%p 더 잘 추적됨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80760" y="2651760"/>
            <a:ext cx="2651760" cy="841248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7249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직접/기타 (untracked)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57-65%  vs  전체 73-76%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3584448"/>
            <a:ext cx="2651760" cy="941832"/>
          </a:xfrm>
          <a:prstGeom prst="rect">
            <a:avLst/>
          </a:prstGeom>
          <a:solidFill>
            <a:srgbClr val="FBF0D4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6576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WEB은 SEO·UTM 외부 유입 비중이 커 funnel 컬럼이 캐치 못 함  ·  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funnel 데이터가 더 정확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  ·  RFM &amp; Whale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Champions와 Whale 모두 APP 중심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 Champions  ·  거의 모두 APP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600200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023360"/>
            <a:ext cx="416052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Champions  ·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90%가 APP</a:t>
            </a:r>
            <a:pPr algn="ctr"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/    31-35  ·  </a:t>
            </a:r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88%가 APP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0" y="1280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(323K+) — APP이 약간 더 높음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600200"/>
          <a:ext cx="3977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4023360"/>
            <a:ext cx="397764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0233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</a:t>
            </a:r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WEB은 단가 작은 단발 결제, APP에 </a:t>
            </a:r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 whale 약간 더 집중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·  신규 결제율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entry product 효과 — 청소년·청년에서 극단적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신규(첫 세션) 결제율 vs 전체 (=APP+WEB+anonymous) 신규 결제율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508760"/>
          <a:ext cx="8321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06240"/>
            <a:ext cx="409651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13-15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35.6%  vs  전체 25.1% 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(+10.5%p)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462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청소년 entry product 효과 — 첫 세션에서 결제하는 비율 매우 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36008" y="4206240"/>
            <a:ext cx="409651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727448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16-20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32.3%  vs  전체 20.1% 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(+12.2%p)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27448" y="4462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WEB에 같은 패턴 이식 가능성 — APP entry 디자인 분석 가치 큼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·  APP YoY 4개년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절벽: 2024 정점 → 2026 −63%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vs 전체 — 매출 감소율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80760" y="1627632"/>
            <a:ext cx="265176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7" name="Text 4"/>
          <p:cNvSpPr/>
          <p:nvPr/>
        </p:nvSpPr>
        <p:spPr>
          <a:xfrm>
            <a:off x="6190488" y="16642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 / '23 (4년 누적)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90488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3796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−58%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52360" y="18653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36408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−34%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2194560"/>
            <a:ext cx="265176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22311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 / '24 (정점 대비)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90488" y="2432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37960" y="2395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−63%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2432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36408" y="2395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−42%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80760" y="2761488"/>
            <a:ext cx="265176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9" name="Text 16"/>
          <p:cNvSpPr/>
          <p:nvPr/>
        </p:nvSpPr>
        <p:spPr>
          <a:xfrm>
            <a:off x="6190488" y="27980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 / '25 (직전 연도)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90488" y="2999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37960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−45%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52360" y="2999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36408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−12%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80760" y="3328416"/>
            <a:ext cx="2651760" cy="5029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5" name="Text 22"/>
          <p:cNvSpPr/>
          <p:nvPr/>
        </p:nvSpPr>
        <p:spPr>
          <a:xfrm>
            <a:off x="6190488" y="3364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결제자 4년 누적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90488" y="3566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37960" y="3529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−54%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52360" y="3566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36408" y="3529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−34%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11480" y="4434840"/>
            <a:ext cx="5486400" cy="38404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434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정점은 2024 (전체와 동일), 사용자 정점은 2023. 2025→2026 한 해에 매출 절반이 사라짐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·  ★★★  메인 EDA 결론 정정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APP은 사주가 타로보다 더 빨리 감소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4023360" cy="324612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 (메인 EDA 결론)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"타로 매출이 더 빨리 감소"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→ 2026 매출 감소율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3749040" cy="1417320"/>
        </p:xfrm>
        <a:graphic>
          <a:graphicData uri="http://schemas.openxmlformats.org/drawingml/2006/table">
            <a:tbl>
              <a:tblPr/>
              <a:tblGrid>
                <a:gridCol w="10972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21-25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−37%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26-30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−23%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31-35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36-40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−16%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타로 감소가 더 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280160"/>
            <a:ext cx="4023360" cy="3246120"/>
          </a:xfrm>
          <a:prstGeom prst="rect">
            <a:avLst/>
          </a:prstGeom>
          <a:solidFill>
            <a:srgbClr val="FBF0D4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한정 (정정된 결론)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"사주가 타로보다 더 빨리 감소"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6320" y="2194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→ 2026 매출 감소율 (APP)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468880"/>
          <a:ext cx="3749040" cy="1417320"/>
        </p:xfrm>
        <a:graphic>
          <a:graphicData uri="http://schemas.openxmlformats.org/drawingml/2006/table">
            <a:tbl>
              <a:tblPr/>
              <a:tblGrid>
                <a:gridCol w="10972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21-25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−58%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26-30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−53%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−37%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31-35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−51%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36-40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−35%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0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84632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사주 감소가 더 큼 (반대 패턴!)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가설: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EDA의 "타로 폭락"은 WEB·anonymous 영향 (2024 부스트가 WEB anonymous에 집중 → 사라진 효과)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·  APP 신규 결제 효율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신규 결제율은 단조 감소 — 2025 정점 없음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349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788920" cy="150876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패턴 (메인 EDA)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8076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정점 → 회귀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8076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→ 46 → 51 → 37%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성장분을 2026에 반납하는 패턴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926080"/>
            <a:ext cx="278892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패턴 (정정)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단조 감소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→ 44 → 42 → 31%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3913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3-5%p씩 일관 감소 — 신규 유입 효율 약화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4434840"/>
            <a:ext cx="5349240" cy="38404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44348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데이터의 신규 효율 정점(2025)은 WEB에서만 발생  ·  </a:t>
            </a:r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신규 효율은 매년 약화 중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EDA 결론에 대한 정정 4가지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71323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80160"/>
            <a:ext cx="91440" cy="7132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전략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3533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91640" y="153619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매출이 사주보다 빨리 감소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31720" y="1719072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APP에서는 사주가 더 빨리 감소 — "타로 폭락"은 WEB·anonymous 효과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8321040" cy="71323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21408"/>
            <a:ext cx="91440" cy="7132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05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분석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2194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37744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/ 31-35 사용자 정점이 2024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578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31720" y="256032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한정 모든 연령대 정점은 2023 — 2023→2024 사용자 증가는 WEB에서만 발생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962656"/>
            <a:ext cx="8321040" cy="71323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62656"/>
            <a:ext cx="91440" cy="7132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72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정정 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Entry product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035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91640" y="32186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 효율 정점은 2025년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34198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31720" y="3401568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신규 결제율은 단조 감소 (2025 정점 없음) — 2025 정점도 WEB 현상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803904"/>
            <a:ext cx="8321040" cy="71323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3803904"/>
            <a:ext cx="91440" cy="7132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187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전략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91640" y="3877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91640" y="40599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매출 −34% (4년 누적)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42611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31720" y="4242816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−58%, 그러나 2026에 WEB 매출 비중 60%로 역전 — 채널 주축 이전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한정 액션 후보 — 매출 영향 우선순위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절벽 원인 추적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2025→2026 -45% 추락의 본질. 월별 시계열 + iOS/Android 분리 + 신규/기존 분리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전환 (APP→WEB) 의도성 확인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매출 비중 60% 역전이 의도된 것인지 부수적인지. WEB 신규 유입 채널 분석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entry product 강화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13-25 신규 결제율 32-36%로 매우 높음. APP 첫 방문 결제 디자인 효과 확인 후 WEB 이식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OR-FGEMF-20 영향 분리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APP 매출 절벽의 한 동인 가능성. Android만 따로 본 매출 추이 추적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청소년 타로 카테고리 큐레이션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13-15 APP에서 타로 49.9%가 사주(45.7%) 추월. 타로 추천·노출 강화로 청소년 매출 증분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6008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신규 유입 채널 분석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선물하기·SEO·UTM 추적. 2025→2026 WEB 사용자 +42% 동인 규명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age_group_5yr × APP EDA · 2026-05-16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 ·  PART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분석 — 검증 필요 과업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APP/WEB 매출 시계열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Q4 ~ 2026 Q1 사이에 무슨 일이 있었는지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가입자 첫 플랫폼 추이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WEB-first acquisition으로 전환되는 시점 추적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/ Android 별 APP 매출 분리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OR-FGEMF-20 시기 Android 영향 검증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신규 유입 채널 분석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선물하기·SEO·UTM 등 외부 유입 분해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2023→2024 anonymous 사주 매출 단서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EDA의 −93% 절벽 사건과 결합 검증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청소년 타로 콘텐츠 시계열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타로 노출·결제 흐름 시계열 (mart_use_skill_se)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804672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 ·  Tony  ·  2026-05-16  ·  filter: platform_appweb='APP'  ·  Part 2 of EDA series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— age_group_5yr × APP 한정</dc:title>
  <dc:subject>PptxGenJS Presentation</dc:subject>
  <dc:creator>Tony / DLT Partners</dc:creator>
  <cp:lastModifiedBy>Tony / DLT Partners</cp:lastModifiedBy>
  <cp:revision>1</cp:revision>
  <dcterms:created xsi:type="dcterms:W3CDTF">2026-05-16T12:29:09Z</dcterms:created>
  <dcterms:modified xsi:type="dcterms:W3CDTF">2026-05-16T12:29:09Z</dcterms:modified>
</cp:coreProperties>
</file>