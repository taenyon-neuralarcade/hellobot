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연령대별 총 매출 (백만원, 30일)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(백만원)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  <c:pt idx="11">
                    <c:v>66+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43.2</c:v>
                </c:pt>
                <c:pt idx="2">
                  <c:v>129.6</c:v>
                </c:pt>
                <c:pt idx="3">
                  <c:v>204.9</c:v>
                </c:pt>
                <c:pt idx="4">
                  <c:v>155.1</c:v>
                </c:pt>
                <c:pt idx="5">
                  <c:v>66.5</c:v>
                </c:pt>
                <c:pt idx="6">
                  <c:v>26</c:v>
                </c:pt>
                <c:pt idx="7">
                  <c:v>8.5</c:v>
                </c:pt>
                <c:pt idx="8">
                  <c:v>2.8</c:v>
                </c:pt>
                <c:pt idx="9">
                  <c:v>0.9</c:v>
                </c:pt>
                <c:pt idx="10">
                  <c:v>0.3</c:v>
                </c:pt>
                <c:pt idx="11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ARPU (사용자당 매출)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937</c:v>
                </c:pt>
                <c:pt idx="1">
                  <c:v>2411</c:v>
                </c:pt>
                <c:pt idx="2">
                  <c:v>5589</c:v>
                </c:pt>
                <c:pt idx="3">
                  <c:v>7467</c:v>
                </c:pt>
                <c:pt idx="4">
                  <c:v>8057</c:v>
                </c:pt>
                <c:pt idx="5">
                  <c:v>7705</c:v>
                </c:pt>
                <c:pt idx="6">
                  <c:v>7031</c:v>
                </c:pt>
                <c:pt idx="7">
                  <c:v>6026</c:v>
                </c:pt>
                <c:pt idx="8">
                  <c:v>4276</c:v>
                </c:pt>
                <c:pt idx="9">
                  <c:v>3876</c:v>
                </c:pt>
                <c:pt idx="10">
                  <c:v>2875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ARPPU (결제자당 매출)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5201</c:v>
                </c:pt>
                <c:pt idx="1">
                  <c:v>14209</c:v>
                </c:pt>
                <c:pt idx="2">
                  <c:v>20337</c:v>
                </c:pt>
                <c:pt idx="3">
                  <c:v>22048</c:v>
                </c:pt>
                <c:pt idx="4">
                  <c:v>23050</c:v>
                </c:pt>
                <c:pt idx="5">
                  <c:v>22883</c:v>
                </c:pt>
                <c:pt idx="6">
                  <c:v>22717</c:v>
                </c:pt>
                <c:pt idx="7">
                  <c:v>22238</c:v>
                </c:pt>
                <c:pt idx="8">
                  <c:v>19901</c:v>
                </c:pt>
                <c:pt idx="9">
                  <c:v>20121</c:v>
                </c:pt>
                <c:pt idx="10">
                  <c:v>14533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사주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  <c:pt idx="11">
                    <c:v>66+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72.4</c:v>
                </c:pt>
                <c:pt idx="1">
                  <c:v>84.4</c:v>
                </c:pt>
                <c:pt idx="2">
                  <c:v>88.9</c:v>
                </c:pt>
                <c:pt idx="3">
                  <c:v>89.5</c:v>
                </c:pt>
                <c:pt idx="4">
                  <c:v>87.3</c:v>
                </c:pt>
                <c:pt idx="5">
                  <c:v>88.3</c:v>
                </c:pt>
                <c:pt idx="6">
                  <c:v>85.4</c:v>
                </c:pt>
                <c:pt idx="7">
                  <c:v>70.5</c:v>
                </c:pt>
                <c:pt idx="8">
                  <c:v>87.3</c:v>
                </c:pt>
                <c:pt idx="9">
                  <c:v>76.6</c:v>
                </c:pt>
                <c:pt idx="10">
                  <c:v>72.6</c:v>
                </c:pt>
                <c:pt idx="11">
                  <c:v>98.7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타로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  <c:pt idx="11">
                    <c:v>66+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25.8</c:v>
                </c:pt>
                <c:pt idx="1">
                  <c:v>13.8</c:v>
                </c:pt>
                <c:pt idx="2">
                  <c:v>9.4</c:v>
                </c:pt>
                <c:pt idx="3">
                  <c:v>9</c:v>
                </c:pt>
                <c:pt idx="4">
                  <c:v>10</c:v>
                </c:pt>
                <c:pt idx="5">
                  <c:v>9.4</c:v>
                </c:pt>
                <c:pt idx="6">
                  <c:v>9.8</c:v>
                </c:pt>
                <c:pt idx="7">
                  <c:v>21.2</c:v>
                </c:pt>
                <c:pt idx="8">
                  <c:v>8.8</c:v>
                </c:pt>
                <c:pt idx="9">
                  <c:v>14.7</c:v>
                </c:pt>
                <c:pt idx="10">
                  <c:v>16.3</c:v>
                </c:pt>
                <c:pt idx="11">
                  <c:v>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  <c:pt idx="11">
                    <c:v>66+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1.8</c:v>
                </c:pt>
                <c:pt idx="1">
                  <c:v>1.8</c:v>
                </c:pt>
                <c:pt idx="2">
                  <c:v>1.7</c:v>
                </c:pt>
                <c:pt idx="3">
                  <c:v>1.5</c:v>
                </c:pt>
                <c:pt idx="4">
                  <c:v>2.7</c:v>
                </c:pt>
                <c:pt idx="5">
                  <c:v>2.3</c:v>
                </c:pt>
                <c:pt idx="6">
                  <c:v>4.8</c:v>
                </c:pt>
                <c:pt idx="7">
                  <c:v>8.3</c:v>
                </c:pt>
                <c:pt idx="8">
                  <c:v>3.9</c:v>
                </c:pt>
                <c:pt idx="9">
                  <c:v>8.7</c:v>
                </c:pt>
                <c:pt idx="10">
                  <c:v>11.1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유입 경로별 결제 이벤트 비중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카테고리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24.9</c:v>
                </c:pt>
                <c:pt idx="1">
                  <c:v>18.6</c:v>
                </c:pt>
                <c:pt idx="2">
                  <c:v>13.9</c:v>
                </c:pt>
                <c:pt idx="3">
                  <c:v>15.5</c:v>
                </c:pt>
                <c:pt idx="4">
                  <c:v>15.1</c:v>
                </c:pt>
                <c:pt idx="5">
                  <c:v>13.9</c:v>
                </c:pt>
                <c:pt idx="6">
                  <c:v>11.3</c:v>
                </c:pt>
                <c:pt idx="7">
                  <c:v>10.6</c:v>
                </c:pt>
                <c:pt idx="8">
                  <c:v>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배너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1.2</c:v>
                </c:pt>
                <c:pt idx="1">
                  <c:v>4.1</c:v>
                </c:pt>
                <c:pt idx="2">
                  <c:v>6.3</c:v>
                </c:pt>
                <c:pt idx="3">
                  <c:v>6.3</c:v>
                </c:pt>
                <c:pt idx="4">
                  <c:v>5.5</c:v>
                </c:pt>
                <c:pt idx="5">
                  <c:v>5.2</c:v>
                </c:pt>
                <c:pt idx="6">
                  <c:v>3.1</c:v>
                </c:pt>
                <c:pt idx="7">
                  <c:v>1.5</c:v>
                </c:pt>
                <c:pt idx="8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검색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4.6</c:v>
                </c:pt>
                <c:pt idx="1">
                  <c:v>4.4</c:v>
                </c:pt>
                <c:pt idx="2">
                  <c:v>3.9</c:v>
                </c:pt>
                <c:pt idx="3">
                  <c:v>4.8</c:v>
                </c:pt>
                <c:pt idx="4">
                  <c:v>4.9</c:v>
                </c:pt>
                <c:pt idx="5">
                  <c:v>3.8</c:v>
                </c:pt>
                <c:pt idx="6">
                  <c:v>3.9</c:v>
                </c:pt>
                <c:pt idx="7">
                  <c:v>3.7</c:v>
                </c:pt>
                <c:pt idx="8">
                  <c:v>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누적 결제 구간별 비중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323K+ (%)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0.3</c:v>
                </c:pt>
                <c:pt idx="2">
                  <c:v>1.5</c:v>
                </c:pt>
                <c:pt idx="3">
                  <c:v>3.2</c:v>
                </c:pt>
                <c:pt idx="4">
                  <c:v>4</c:v>
                </c:pt>
                <c:pt idx="5">
                  <c:v>4.9</c:v>
                </c:pt>
                <c:pt idx="6">
                  <c:v>2.7</c:v>
                </c:pt>
                <c:pt idx="7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68K+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</c:v>
                </c:pt>
                <c:pt idx="1">
                  <c:v>0.7</c:v>
                </c:pt>
                <c:pt idx="2">
                  <c:v>2</c:v>
                </c:pt>
                <c:pt idx="3">
                  <c:v>2.4</c:v>
                </c:pt>
                <c:pt idx="4">
                  <c:v>1.5</c:v>
                </c:pt>
                <c:pt idx="5">
                  <c:v>0.8</c:v>
                </c:pt>
                <c:pt idx="6">
                  <c:v>1.4</c:v>
                </c:pt>
                <c:pt idx="7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4개년 매출 추이 (백만원)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매출 (백만원)</c:v>
                </c:pt>
              </c:strCache>
            </c:strRef>
          </c:tx>
          <c:spPr>
            <a:solidFill>
              <a:srgbClr val="D4A017"/>
            </a:solidFill>
            <a:ln w="508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1016</c:v>
                </c:pt>
                <c:pt idx="1">
                  <c:v>1157</c:v>
                </c:pt>
                <c:pt idx="2">
                  <c:v>758</c:v>
                </c:pt>
                <c:pt idx="3">
                  <c:v>669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타로 매출 4개년 (백만원)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21-25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19.3</c:v>
                </c:pt>
                <c:pt idx="1">
                  <c:v>49.5</c:v>
                </c:pt>
                <c:pt idx="2">
                  <c:v>37.2</c:v>
                </c:pt>
                <c:pt idx="3">
                  <c:v>12.14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26-30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23.95</c:v>
                </c:pt>
                <c:pt idx="1">
                  <c:v>64.3</c:v>
                </c:pt>
                <c:pt idx="2">
                  <c:v>48.9</c:v>
                </c:pt>
                <c:pt idx="3">
                  <c:v>18.41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31-35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14.4</c:v>
                </c:pt>
                <c:pt idx="1">
                  <c:v>38.7</c:v>
                </c:pt>
                <c:pt idx="2">
                  <c:v>38.6</c:v>
                </c:pt>
                <c:pt idx="3">
                  <c:v>15.47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→ 2026 사용자 증감률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B850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  <c:pt idx="10">
                    <c:v>61-65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-52</c:v>
                </c:pt>
                <c:pt idx="1">
                  <c:v>-37</c:v>
                </c:pt>
                <c:pt idx="2">
                  <c:v>-30</c:v>
                </c:pt>
                <c:pt idx="3">
                  <c:v>-26</c:v>
                </c:pt>
                <c:pt idx="4">
                  <c:v>-22</c:v>
                </c:pt>
                <c:pt idx="5">
                  <c:v>-32</c:v>
                </c:pt>
                <c:pt idx="6">
                  <c:v>-51</c:v>
                </c:pt>
                <c:pt idx="7">
                  <c:v>-66</c:v>
                </c:pt>
                <c:pt idx="8">
                  <c:v>-75</c:v>
                </c:pt>
                <c:pt idx="9">
                  <c:v>-76</c:v>
                </c:pt>
                <c:pt idx="10">
                  <c:v>-78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0" i="0" strike="noStrike" sz="900" u="none">
                  <a:solidFill>
                    <a:srgbClr val="B850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REPORT  ·  2026-05-16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연령대(5세) 세그먼트 EDA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최근 30일 매출·행동·콘텐츠 + 4개년 YoY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626M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(KRW · 30일)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311K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33472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Unique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26864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 버킷 (+정보없음)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0256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20256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비교 (2023→26)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Tony  ·  뉴럴아케이드 / DLT Partners  ·  source: union_mart_user_key_actions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분석했나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추가된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age_group_5yr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컬럼(5세 균일 버킷)으로 세그먼트별 매출·행동·콘텐츠 선호·유입 경로·RFM 분포를 파악, 마케팅·기획 의사결정에 활용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분석 차원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29184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분포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329184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믹스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타입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7947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94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 경로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0" y="37947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94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RFM 세그먼트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37947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794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 분포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3886200" cy="3337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4920" y="2103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hellobot-f445c.hlb_mart_integrated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.union_mart_user_key_actions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532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기간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27614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 (2026-04-16 ~ 05-15)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191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범위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34198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2023·2024·2025·2026 동일 30일 (§9)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8496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쿼리·스캔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74920" y="4078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쿼리  ·  누적 ~1.7 GB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TL;DR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결론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22128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집중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24328" y="153619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21–40세 4개 버킷에 매출 집중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26-30이 절대 1위(2.05억) · 31-35가 ARPPU·고액결제자 1위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6008" y="13716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137160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70~98%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37176" y="22128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 우세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48856" y="153619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연령대에서 사주가 매출의 70~98%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13-15와 46-50에서 타로 비중 hump(21~26%)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971800"/>
            <a:ext cx="91440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+9~13%p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" y="3813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신규 결제율 우위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24328" y="313639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연령에서 신규(첫 세션) 결제율 &gt; 기존(재방문)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세션 결제 디자인이 LTV의 결정 요인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29718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6008" y="2971800"/>
            <a:ext cx="91440" cy="1417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37176" y="3813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정보없음(anonymous)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48856" y="313639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방문자의 84%(206K/246K)가 비로그인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기여는 4.5%에 불과 — 가입이 첫 게이트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 YoY 핵심: </a:t>
            </a:r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정점=2023 · 매출 정점=2024 · 효율 정점=2025 · 2026 양적 회복 + 질적 후퇴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·  매출 분포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매출의 88.8%가 21-40세에 집중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669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280160"/>
            <a:ext cx="246888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결제 세그먼트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627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· 31-35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1위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(2.05억)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ARPPU 1위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 (23,050원)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2788920"/>
            <a:ext cx="2468880" cy="841248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86207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ARPU 곡선 = Hump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 정점 8,057원 → 청소년 937원과 8배 차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2468880" cy="841248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377647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전환율 최고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  ·  35.0%   (26-40 구간 33~35%)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·  결제력 곡선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결제력은 청소년 → 30대까지 단조 증가 후 감소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8321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480560"/>
            <a:ext cx="8321040" cy="384048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 </a:t>
            </a:r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 ARPU 937원 vs 30대 8천원 →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8배 차. </a:t>
            </a:r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ARPPU는 4배 차에 그침 =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청소년은 결제율이 낮아 ARPU에서 더 큰 차이를 만듦.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·  콘텐츠 타입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사주가 모든 연령대 매출의 70~98%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280160"/>
            <a:ext cx="2377440" cy="15087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비중 hump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691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13-15  ·  25.8%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92240" y="2103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46-50  ·  21.2%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9224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청소년·중년에서 사주 외 대안 선호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55080" y="2926080"/>
            <a:ext cx="2377440" cy="160020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30175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 정점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 ·  89.5%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매출 견인 콘텐츠와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결제 세그먼트가 정렬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·  유입 경로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카테고리가 결제 직전 funnel의 최대 채널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280160"/>
            <a:ext cx="2651760" cy="1417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funnel 미캐치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이벤트의 70-90%가 funnel 컬럼에서 추적되지 않음 → 마케팅 ROI 측정 부정확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80760" y="2788920"/>
            <a:ext cx="2651760" cy="77724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862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 카테고리 의존 </a:t>
            </a:r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</a:t>
            </a:r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24.9%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청소년 카테고리 UX 개선이 매출 증분에 효과적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3657600"/>
            <a:ext cx="2651760" cy="86868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730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배너 효과 21-30대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 · 26-30 </a:t>
            </a:r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6.3%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어느 연령대에서도 5% 미만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·  RFM 세그먼트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31-35는 Champions가 1순위가 되는 유일한 구간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760720" cy="3108960"/>
        </p:xfrm>
        <a:graphic>
          <a:graphicData uri="http://schemas.openxmlformats.org/drawingml/2006/table">
            <a:tbl>
              <a:tblPr/>
              <a:tblGrid>
                <a:gridCol w="868680"/>
                <a:gridCol w="1691640"/>
                <a:gridCol w="1691640"/>
                <a:gridCol w="1508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1순위 (수)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2순위 (수)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3순위 (수)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13-15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(199)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(미정) (25)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Customers (22)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16-20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(623)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(미정) (136)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Customers (125)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21-25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(434)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Customers (176)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Loyal Customers (157)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26-30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(402)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Loyal Customers (248)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Champions (218)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31-35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Champions (270)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(268)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Promising (227)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36-40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(153)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Champions (145)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Promising (129)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41-45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(91)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Champions (86)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Promising (81)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46-50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Hibernating (63)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Champions (38)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Promising (34)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280160"/>
            <a:ext cx="2377440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922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Champions 1순위 유일 구간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20848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활성·고가치 사용자 밀집 — 이탈 방지 우선순위 최상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2788920"/>
            <a:ext cx="2377440" cy="804672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862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13-25 Hibernating 압도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80%↑ — 활성화·리텐션 캠페인 후보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55080" y="3675888"/>
            <a:ext cx="2377440" cy="86868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7490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Cannot Lose / At Risk 위험군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26-35 구간 절대값 최대(28~31명)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보호 캠페인 우선 타겟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·  Whale 분포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최고가 Whale(323K+) 정점은 36-40세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280160"/>
            <a:ext cx="2560320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33679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후보군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36792" y="1719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36-40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336792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323K+ 비중 4.9% (전 연령 최고)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36792" y="2514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LTV 관점 핵심 코호트 — VIP 프로그램·맞춤 패키지 후보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3063240"/>
            <a:ext cx="2560320" cy="146304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Mature 패턴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345643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41-50대: 결제율↓ but 한 번 결제하면 323K+ 비중 3% 전후</a:t>
            </a:r>
            <a:endParaRPr lang="en-US" sz="9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결제력↑ + 결제 참여율↓ 의 전형적인 mature 사용자 패턴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·  신규 vs 기존  ·  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세션 결제가 LTV를 결정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연령대에서 신규(방문 당일) 결제율 &gt; 기존(재방문) 결제율  ·  격차 9~13%p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993392" cy="16916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결제율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11.7%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+13.4%p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93392" cy="16916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691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0116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36.8%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514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결제율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31.6%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0175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+5.2%p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600200"/>
            <a:ext cx="1993392" cy="16916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91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40.4%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결제율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7889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32.4%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0175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+8.0%p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1600200"/>
            <a:ext cx="1993392" cy="1691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691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36-40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1691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최고 효율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20116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42.1%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2514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결제율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27889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30.9%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30175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+11.2%p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520440"/>
            <a:ext cx="8321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584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36-40 신규  ·  결제율 42.1%  +  ARPU 8,771원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38953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모든 세그먼트 중 최고 효율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 광고비 추가 투입 정당화 (LTV/CAC 검증 권장)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매출의 25%(156M / 626M)가 첫 세션에서 발생  ·  첫 세션 결제 디자인이 매출 동인 결정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·  YoY 4개년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사용자·매출·효율 — 4단계 페이즈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993392" cy="18745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80160"/>
            <a:ext cx="199339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635K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Unique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993392" cy="18745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280160"/>
            <a:ext cx="1993392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813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18470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정점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1,156M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26974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Revenue (KRW)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280160"/>
            <a:ext cx="1993392" cy="18745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280160"/>
            <a:ext cx="199339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813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18470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정점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2,678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26974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ARPU (KRW)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1280160"/>
            <a:ext cx="1993392" cy="18745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1280160"/>
            <a:ext cx="1993392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4813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8470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양적 회복+질적 후퇴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311K · 669M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58000" y="26974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+10% / Rev −12%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11480" y="3291840"/>
          <a:ext cx="83210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·  ★★★  핵심 발견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→ 2024 사이 정책/제품 변화 의심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시그널이 동시 발생 — 우연이 아니다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974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anonymous 사주 매출 절벽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204M → 13.5M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(2023 → 2024)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828800"/>
            <a:ext cx="26974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21608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+30~40%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가능 ARPU 점프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5848" y="27614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 +69%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+40%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 +35%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828800"/>
            <a:ext cx="26974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8816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+130~169%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63056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매출 부스트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63056" y="276148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+169%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 +169%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핵심 세그먼트 2~3배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8321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결제 차단 / 회원가입 강제 + 타로 마케팅 캠페인 시점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검증 필요 (deploy 로그·결제 정책 변경·캠페인 일정)  ·  매출 회복 전략의 핵심 단서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·  타로 매출 재해석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본질은 "2024 부스트 → 2026 회귀"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440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280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데이터, 두 가지 해석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89320" y="1600200"/>
            <a:ext cx="2743200" cy="1188720"/>
          </a:xfrm>
          <a:prstGeom prst="rect">
            <a:avLst/>
          </a:prstGeom>
          <a:solidFill>
            <a:srgbClr val="E8EFF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9048" y="1673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2024 정점 기준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99048" y="1938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−60 ~ −75%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99048" y="23408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"타로 매출 폭락" 해석 — 비정상 정점을 기준으로 한 오해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2880360"/>
            <a:ext cx="2743200" cy="1417320"/>
          </a:xfrm>
          <a:prstGeom prst="rect">
            <a:avLst/>
          </a:prstGeom>
          <a:solidFill>
            <a:srgbClr val="FBF0D4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9048" y="2953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2023 baseline 기준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99048" y="3218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−23 ~ −37%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99048" y="36210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사주(±10%)와 비교해 큰 폭은 아님 — 2024 부스트(마케팅·노출 강화 추정)가 사라진 것이 본질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TAKEAWAY  </a:t>
            </a:r>
            <a:pPr algn="ctr"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정점(2024)이 아니라 정상 baseline(2023)을 기준으로 본질을 본다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·  연령대별 사용자 변화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40+ 사용자는 4년간 50-78% 감소 (회복 없음)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83210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114800"/>
            <a:ext cx="2697480" cy="59436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187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30대 이하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600200" y="4187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−22 ~ 37%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18688" y="4114800"/>
            <a:ext cx="2697480" cy="59436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5848" y="4187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40대 이상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07408" y="4187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−50 ~ 78%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25896" y="4114800"/>
            <a:ext cx="2697480" cy="59436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63056" y="4187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 속도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14616" y="4187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2배 이상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·  데이터 품질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결론 해석 시 반드시 고려할 4가지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096512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정보없음 84%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방문자 246K 중 207K(83.9%) 비로그인. 트래픽/방문 분석은 anonymous 비중 함께 고려 필요. 단, 결제자 분류율은 86.8%로 결제 분석은 신뢰 가능.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6008" y="1325880"/>
            <a:ext cx="4096512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04688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user_age는 만 나이 아님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04688" y="18745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연도차(EXTRACT YEAR FROM event_date − birth_year). 생일 미반영으로 0~1세 위로 측정 가능. 5세 버킷 경계 일부 사용자 이동.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53512"/>
            <a:ext cx="4096512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90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user_gender 99% NULL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021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EDA에서 성별 차원은 활용 가치 없음. 연령 × 성별 분석은 서버 user 테이블 직접 조회 또는 가입 플로우 보강 필요.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6008" y="2953512"/>
            <a:ext cx="4096512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3090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04688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RFM은 1일 스냅샷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04688" y="35021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어제(2026-05-15) 시점 1개 스냅샷이 모든 행에 동일 조인. 시계열 RFM 변화 비교 불가.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후보 — 매출 영향 우선순위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91440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세션 결제 트리거 강화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712" y="1655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직후 결제 유도 (하트 충전·사주 1회 무료→유료). 신규 결제율 우위 활용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6008" y="123444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234440"/>
            <a:ext cx="91440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 2023→2024 정책 변화 추적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655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 로그·결제 정책·캠페인 일정 검증. 매출 회복 전략의 핵심 단서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31720"/>
            <a:ext cx="91440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26-40 retention·재결제 캠페인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ARPPU 22-23K · 결제 전환율 34-35% 핵심 세그먼트. 매출 영향 최대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233172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331720"/>
            <a:ext cx="91440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36-40 VIP 프로그램·맞춤 패키지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323K+ whale 비중 4.9% (전 연령 최고). LTV 관점 핵심 코호트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2900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" y="3538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 타로 진입 + 저단가 패키지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 신규 타로 34.8% 진입 → 재방문 시 사주 정착. 청소년 ARPU 끌어올림 후보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36008" y="342900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42900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3538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funnel 추적 보강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이벤트 70-90%가 funnel 미캐치. 스킬 직접 진입·푸시·외부 링크 이벤트 보강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EDA · 2026-05-16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분석 후보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2023→2024 정책 변화 추적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anonymous 사주 −93% + ARPU +30~40% + 타로 부스트 동시 발생. deploy 로그·PM 결정 추적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매출 시계열 (월별·스킬별)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부스트 단서 + 2025-2026 회귀 검증. mart_use_skill_se × 타로 + mart_v2_skill_funnel_fb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코호트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→ 2025 −48% 이탈한 사용자의 정체. 40+ 회복 불가 추세 원인 규명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추이 (drift) cohort matrix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month-start 시점 분류로 재계산. 본 EDA는 event_date 시점 분류만 사용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연령대 × 스킬별 매출 (Top 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menu_seq × age_group_5yr 매출 매트릭스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반응성 연령대 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hellobot_braze.* 조인 필요 (본 마트 밖)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804672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 ·  Tony  ·  2026-05-16  ·  union_mart_user_key_actions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— age_group_5yr 세그먼트 분석</dc:title>
  <dc:subject>PptxGenJS Presentation</dc:subject>
  <dc:creator>Tony / DLT Partners</dc:creator>
  <cp:lastModifiedBy>Tony / DLT Partners</cp:lastModifiedBy>
  <cp:revision>1</cp:revision>
  <dcterms:created xsi:type="dcterms:W3CDTF">2026-05-16T11:58:33Z</dcterms:created>
  <dcterms:modified xsi:type="dcterms:W3CDTF">2026-05-16T11:58:33Z</dcterms:modified>
</cp:coreProperties>
</file>