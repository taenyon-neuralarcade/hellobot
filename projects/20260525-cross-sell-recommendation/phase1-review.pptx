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960120"/>
            <a:ext cx="146304" cy="146304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960120"/>
            <a:ext cx="146304" cy="146304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" y="960120"/>
            <a:ext cx="146304" cy="146304"/>
          </a:xfrm>
          <a:prstGeom prst="ellipse">
            <a:avLst/>
          </a:prstGeom>
          <a:solidFill>
            <a:srgbClr val="7A849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280160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데이터 분석 (/dev-data)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11057839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1회 구매자 추가 구매 유도 분석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66928" y="2743200"/>
            <a:ext cx="1105783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Baseline &amp; 첫구매 채널 분리 결과 검토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66928" y="4160520"/>
            <a:ext cx="3503066" cy="1234440"/>
          </a:xfrm>
          <a:prstGeom prst="roundRect">
            <a:avLst>
              <a:gd name="adj" fmla="val 5926"/>
            </a:avLst>
          </a:prstGeom>
          <a:solidFill>
            <a:srgbClr val="1C2547"/>
          </a:solidFill>
          <a:ln w="12700">
            <a:solidFill>
              <a:srgbClr val="2E3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4343400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1,230,978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68096" y="4910328"/>
            <a:ext cx="31007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구매자 (분석 모집단)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4314" y="4160520"/>
            <a:ext cx="3503066" cy="1234440"/>
          </a:xfrm>
          <a:prstGeom prst="roundRect">
            <a:avLst>
              <a:gd name="adj" fmla="val 5926"/>
            </a:avLst>
          </a:prstGeom>
          <a:solidFill>
            <a:srgbClr val="1C2547"/>
          </a:solidFill>
          <a:ln w="12700">
            <a:solidFill>
              <a:srgbClr val="2E3A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5482" y="4343400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8C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3채널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45482" y="4910328"/>
            <a:ext cx="31007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앱퍼스트 / B 웹→앱 / C 웹온리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1701" y="4160520"/>
            <a:ext cx="3503066" cy="1234440"/>
          </a:xfrm>
          <a:prstGeom prst="roundRect">
            <a:avLst>
              <a:gd name="adj" fmla="val 5926"/>
            </a:avLst>
          </a:prstGeom>
          <a:solidFill>
            <a:srgbClr val="1C2547"/>
          </a:solidFill>
          <a:ln w="12700">
            <a:solidFill>
              <a:srgbClr val="2E3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2869" y="4343400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β 정밀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322869" y="4910328"/>
            <a:ext cx="31007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단일소스 재계산 (X_anomaly 제거)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598932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 시점: 2026-05-31  ·  projects/20260525-cross-sell-recommendation  ·  상태: Phase 1.0(α)+1.1(β) 완료 → 1.2 코호트 대기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목적과 접근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무엇을, 어떻게 알아내려 하는가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029200" cy="3657600"/>
          </a:xfrm>
          <a:prstGeom prst="roundRect">
            <a:avLst>
              <a:gd name="adj" fmla="val 1500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1031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앱에서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 결제한 사용자가 2회차 결제로 이어지지 않는 갭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데이터로 해부한다.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971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어떤 세그먼트에게 어떤 SKU를 추천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해야 2회차 구매로 전환되는지에 대한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가설·실행 후보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도출한다.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KPI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427939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재구매율 — 30/60/90일 병행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동일일 2회차(인세션 업셀) vs 재방문 2회차(리텐션) 분리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2회차까지 median 일수 · 추천 lift · 세그먼트 커버리지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0" y="1627632"/>
            <a:ext cx="55714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 분석 프레임워크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0" y="2148840"/>
            <a:ext cx="6138367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2350008"/>
            <a:ext cx="457200" cy="457200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66560" y="227685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66560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의미있는 사용자 세그먼트 분류 (데이터 기반 축 탐색 우선)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63640" y="30266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3200400"/>
            <a:ext cx="6138367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401568"/>
            <a:ext cx="457200" cy="457200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66560" y="332841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66560" y="3657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세그먼트별 행동 특성·재구매 패턴 분석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63640" y="407822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4251960"/>
            <a:ext cx="6138367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4453128"/>
            <a:ext cx="457200" cy="457200"/>
          </a:xfrm>
          <a:prstGeom prst="ellipse">
            <a:avLst/>
          </a:prstGeom>
          <a:solidFill>
            <a:srgbClr val="C8841A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66560" y="437997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Next-Best-Offer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66560" y="4709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특성 근거로 추천 SKU 도출 → 실행/검증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Cross-Sell 분석 · Phase 1 결과 검토 (2026-05-31)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최상위 분리축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왜 '첫구매 채널'을 먼저 쪼개는가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057839" cy="841248"/>
          </a:xfrm>
          <a:prstGeom prst="roundRect">
            <a:avLst>
              <a:gd name="adj" fmla="val 6522"/>
            </a:avLst>
          </a:prstGeom>
          <a:solidFill>
            <a:srgbClr val="FBEFD8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572768"/>
            <a:ext cx="1050919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웹/앱 유입 동기와 사용 방식이 다르다.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채널을 통합 집계하면 ① 채널 이동자를 신규 첫구매자로 오분류하고 ② 두 모집단 평균이 무의미해진다.  →  첫구매 채널을 최상위 분리축으로 둔다.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542032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542032"/>
            <a:ext cx="3503066" cy="640080"/>
          </a:xfrm>
          <a:prstGeom prst="roundRect">
            <a:avLst>
              <a:gd name="adj" fmla="val 8571"/>
            </a:avLst>
          </a:prstGeom>
          <a:solidFill>
            <a:srgbClr val="23408F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862072"/>
            <a:ext cx="3503066" cy="320040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2542032"/>
            <a:ext cx="31373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앱-퍼스트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95528" y="3364992"/>
            <a:ext cx="30458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판별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95528" y="3575304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콘텐츠 결제가 APP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5528" y="4142232"/>
            <a:ext cx="30458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정체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95528" y="4352544"/>
            <a:ext cx="30458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앱 첫 구매자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" y="5010912"/>
            <a:ext cx="3045866" cy="566928"/>
          </a:xfrm>
          <a:prstGeom prst="roundRect">
            <a:avLst>
              <a:gd name="adj" fmla="val 8065"/>
            </a:avLst>
          </a:prstGeom>
          <a:solidFill>
            <a:srgbClr val="E8EDF8"/>
          </a:solidFill>
          <a:ln/>
        </p:spPr>
      </p:sp>
      <p:sp>
        <p:nvSpPr>
          <p:cNvPr id="15" name="Text 13"/>
          <p:cNvSpPr/>
          <p:nvPr/>
        </p:nvSpPr>
        <p:spPr>
          <a:xfrm>
            <a:off x="886968" y="5010912"/>
            <a:ext cx="2862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1순위 — 메인 풀분석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4314" y="2542032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4314" y="2542032"/>
            <a:ext cx="3503066" cy="640080"/>
          </a:xfrm>
          <a:prstGeom prst="roundRect">
            <a:avLst>
              <a:gd name="adj" fmla="val 8571"/>
            </a:avLst>
          </a:prstGeom>
          <a:solidFill>
            <a:srgbClr val="0E8C77"/>
          </a:solidFill>
          <a:ln/>
        </p:spPr>
      </p:sp>
      <p:sp>
        <p:nvSpPr>
          <p:cNvPr id="18" name="Shape 16"/>
          <p:cNvSpPr/>
          <p:nvPr/>
        </p:nvSpPr>
        <p:spPr>
          <a:xfrm>
            <a:off x="4344314" y="2862072"/>
            <a:ext cx="3503066" cy="320040"/>
          </a:xfrm>
          <a:prstGeom prst="rect">
            <a:avLst/>
          </a:prstGeom>
          <a:solidFill>
            <a:srgbClr val="0E8C77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914" y="2542032"/>
            <a:ext cx="31373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웹 → 앱 이동자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914" y="3364992"/>
            <a:ext cx="30458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판별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914" y="3575304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먼저 → 이후 APP 결제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914" y="4142232"/>
            <a:ext cx="30458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정체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914" y="4352544"/>
            <a:ext cx="30458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이동 = 강한 리텐션 신호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914" y="5010912"/>
            <a:ext cx="3045866" cy="566928"/>
          </a:xfrm>
          <a:prstGeom prst="roundRect">
            <a:avLst>
              <a:gd name="adj" fmla="val 8065"/>
            </a:avLst>
          </a:prstGeom>
          <a:solidFill>
            <a:srgbClr val="E1F4EF"/>
          </a:solidFill>
          <a:ln/>
        </p:spPr>
      </p:sp>
      <p:sp>
        <p:nvSpPr>
          <p:cNvPr id="25" name="Text 23"/>
          <p:cNvSpPr/>
          <p:nvPr/>
        </p:nvSpPr>
        <p:spPr>
          <a:xfrm>
            <a:off x="4664354" y="5010912"/>
            <a:ext cx="2862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2순위 — 격리 코호트 분석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21701" y="2542032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21701" y="2542032"/>
            <a:ext cx="3503066" cy="640080"/>
          </a:xfrm>
          <a:prstGeom prst="roundRect">
            <a:avLst>
              <a:gd name="adj" fmla="val 8571"/>
            </a:avLst>
          </a:prstGeom>
          <a:solidFill>
            <a:srgbClr val="7A8499"/>
          </a:solidFill>
          <a:ln/>
        </p:spPr>
      </p:sp>
      <p:sp>
        <p:nvSpPr>
          <p:cNvPr id="28" name="Shape 26"/>
          <p:cNvSpPr/>
          <p:nvPr/>
        </p:nvSpPr>
        <p:spPr>
          <a:xfrm>
            <a:off x="8121701" y="2862072"/>
            <a:ext cx="3503066" cy="320040"/>
          </a:xfrm>
          <a:prstGeom prst="rect">
            <a:avLst/>
          </a:prstGeom>
          <a:solidFill>
            <a:srgbClr val="7A8499"/>
          </a:solidFill>
          <a:ln/>
        </p:spPr>
      </p:sp>
      <p:sp>
        <p:nvSpPr>
          <p:cNvPr id="29" name="Text 27"/>
          <p:cNvSpPr/>
          <p:nvPr/>
        </p:nvSpPr>
        <p:spPr>
          <a:xfrm>
            <a:off x="8350301" y="2542032"/>
            <a:ext cx="31373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웹-온리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350301" y="3364992"/>
            <a:ext cx="30458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판별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350301" y="3575304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콘텐츠 결제가 WEB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50301" y="4142232"/>
            <a:ext cx="30458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정체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350301" y="4352544"/>
            <a:ext cx="30458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마케팅 1회성 전환 모집단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350301" y="5010912"/>
            <a:ext cx="3045866" cy="566928"/>
          </a:xfrm>
          <a:prstGeom prst="roundRect">
            <a:avLst>
              <a:gd name="adj" fmla="val 8065"/>
            </a:avLst>
          </a:prstGeom>
          <a:solidFill>
            <a:srgbClr val="EEF0F4"/>
          </a:solidFill>
          <a:ln/>
        </p:spPr>
      </p:sp>
      <p:sp>
        <p:nvSpPr>
          <p:cNvPr id="35" name="Text 33"/>
          <p:cNvSpPr/>
          <p:nvPr/>
        </p:nvSpPr>
        <p:spPr>
          <a:xfrm>
            <a:off x="8441741" y="5010912"/>
            <a:ext cx="2862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후속 트랙 — 본 분석 제외(규모만)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Cross-Sell 분석 · Phase 1 결과 검토 (2026-05-31)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방법론 진화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마트컬럼(α) → 정밀 재계산(β)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1057839" cy="896112"/>
          </a:xfrm>
          <a:prstGeom prst="roundRect">
            <a:avLst>
              <a:gd name="adj" fmla="val 5102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1801368"/>
            <a:ext cx="493776" cy="493776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013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81328" y="17190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마트컬럼 사이징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04688" y="1691640"/>
            <a:ext cx="5937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마트의 first_paid / first_app_paid 두 컬럼 비교로 채널 4그룹 분류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11057839" cy="896112"/>
          </a:xfrm>
          <a:prstGeom prst="roundRect">
            <a:avLst>
              <a:gd name="adj" fmla="val 5102"/>
            </a:avLst>
          </a:prstGeom>
          <a:solidFill>
            <a:srgbClr val="FBEFD8"/>
          </a:solidFill>
          <a:ln/>
        </p:spPr>
      </p:sp>
      <p:sp>
        <p:nvSpPr>
          <p:cNvPr id="10" name="Shape 8"/>
          <p:cNvSpPr/>
          <p:nvPr/>
        </p:nvSpPr>
        <p:spPr>
          <a:xfrm>
            <a:off x="768096" y="2816352"/>
            <a:ext cx="493776" cy="493776"/>
          </a:xfrm>
          <a:prstGeom prst="ellipse">
            <a:avLst/>
          </a:prstGeom>
          <a:solidFill>
            <a:srgbClr val="C8841A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8163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81328" y="27340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X_anomaly 1.6% 발견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04688" y="2706624"/>
            <a:ext cx="5937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&gt; fap 모순 케이스 19,789명 — 컬럼 비교로 분류 불가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630168"/>
            <a:ext cx="11057839" cy="896112"/>
          </a:xfrm>
          <a:prstGeom prst="roundRect">
            <a:avLst>
              <a:gd name="adj" fmla="val 5102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68096" y="3831336"/>
            <a:ext cx="493776" cy="49377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3831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81328" y="37490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규명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04688" y="3721608"/>
            <a:ext cx="5937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컬럼의 소스·모집단 정의가 다름 (다음 장)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645152"/>
            <a:ext cx="11057839" cy="896112"/>
          </a:xfrm>
          <a:prstGeom prst="roundRect">
            <a:avLst>
              <a:gd name="adj" fmla="val 5102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68096" y="4846320"/>
            <a:ext cx="493776" cy="493776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48463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β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81328" y="47640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단일소스 재계산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04688" y="4736592"/>
            <a:ext cx="5937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mart_use_skill_se 결제이벤트에서 첫결제 플랫폼 기준 재분류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660136"/>
            <a:ext cx="11057839" cy="896112"/>
          </a:xfrm>
          <a:prstGeom prst="roundRect">
            <a:avLst>
              <a:gd name="adj" fmla="val 5102"/>
            </a:avLst>
          </a:prstGeom>
          <a:solidFill>
            <a:srgbClr val="E1F4EF"/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" y="5861304"/>
            <a:ext cx="493776" cy="493776"/>
          </a:xfrm>
          <a:prstGeom prst="ellipse">
            <a:avLst/>
          </a:prstGeom>
          <a:solidFill>
            <a:srgbClr val="0E9E84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58613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481328" y="57790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X_anomaly 제거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504688" y="5751576"/>
            <a:ext cx="5937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단일소스라 정의 불일치 없음 · 총계 1,230,978 α와 정확히 일치 → 정합성 확인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Cross-Sell 분석 · Phase 1 결과 검토 (2026-05-31)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발견 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채널 판별 컬럼의 함정 — 소스 정의가 다르다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57839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617720"/>
                <a:gridCol w="4617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user_first_paid_date  (통합)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user_first_app_paid_date  (앱)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소스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union_user_actions · MIN(결제일)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app_pay_for_skill · order=1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포함 결제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pay_for_* + 인앱구매(하트충전 등)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pay_for_* (스킬결제)만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플랫폼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 플랫폼 (웹 + 앱)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 / ANDROID 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3977640"/>
            <a:ext cx="7589520" cy="1554480"/>
          </a:xfrm>
          <a:prstGeom prst="roundRect">
            <a:avLst>
              <a:gd name="adj" fmla="val 3529"/>
            </a:avLst>
          </a:prstGeom>
          <a:solidFill>
            <a:srgbClr val="FBEFD8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" y="411480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"통합 ⊇ 앱" 포함관계가 성립하지 않는다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41248" y="452628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통합은 인앱구매(하트충전)를 포함, 앱은 스킬결제만 포함 →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first_paid_date &gt; first_app_paid_date 인 모순(X_anomaly) 발생.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따라서 마트 컬럼 비교 기반 채널 판별은 근사치 — 정밀 분류는 raw 결제이벤트로 재계산해야 함.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412480" y="3977640"/>
            <a:ext cx="3212287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8412480" y="3977640"/>
            <a:ext cx="82296" cy="1554480"/>
          </a:xfrm>
          <a:prstGeom prst="roundRect">
            <a:avLst>
              <a:gd name="adj" fmla="val 44444"/>
            </a:avLst>
          </a:prstGeom>
          <a:solidFill>
            <a:srgbClr val="C8841A"/>
          </a:solidFill>
          <a:ln/>
        </p:spPr>
      </p:sp>
      <p:sp>
        <p:nvSpPr>
          <p:cNvPr id="10" name="Text 7"/>
          <p:cNvSpPr/>
          <p:nvPr/>
        </p:nvSpPr>
        <p:spPr>
          <a:xfrm>
            <a:off x="8577072" y="4087368"/>
            <a:ext cx="293796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8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1.6%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595360" y="4754880"/>
            <a:ext cx="29196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X_anomaly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595360" y="5029200"/>
            <a:ext cx="291967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&gt; fap 모순 19,789명</a:t>
            </a:r>
            <a:endParaRPr lang="en-US" sz="9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β로 제거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412480" y="3977640"/>
            <a:ext cx="3212287" cy="1554480"/>
          </a:xfrm>
          <a:prstGeom prst="roundRect">
            <a:avLst>
              <a:gd name="adj" fmla="val 3529"/>
            </a:avLst>
          </a:prstGeom>
          <a:ln w="15875">
            <a:solidFill>
              <a:srgbClr val="C8841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Cross-Sell 분석 · Phase 1 결과 검토 (2026-05-31)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결과 (Β)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정밀 채널 재분류 — 콘텐츠 구매자 1,230,978명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57839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40280"/>
                <a:gridCol w="1508760"/>
                <a:gridCol w="914400"/>
                <a:gridCol w="1627632"/>
                <a:gridCol w="178308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채널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구매자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재구매(any)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재방문 재구매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동일일만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34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앱퍼스트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첫 결제 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458,291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웹→앱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먼저→APP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45,526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A84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웹온리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모든 결제 WEB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727,159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7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8DE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1,230,978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7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4526280"/>
            <a:ext cx="11057839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 B의 재구매(any) 100%는 정의상 자명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(WEB 첫결제 + APP결제 = 최소 2건). B의 의미있는 지표는 </a:t>
            </a:r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 재구매 94.6% — 다른 날 다시 와서 또 산다.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66928" y="5074920"/>
            <a:ext cx="3503066" cy="1143000"/>
          </a:xfrm>
          <a:prstGeom prst="roundRect">
            <a:avLst>
              <a:gd name="adj" fmla="val 4000"/>
            </a:avLst>
          </a:prstGeom>
          <a:solidFill>
            <a:srgbClr val="E8EDF8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5239512"/>
            <a:ext cx="384048" cy="384048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25296" y="5202936"/>
            <a:ext cx="26801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 62.1% + 동일일 17.3% — 리텐션·인세션 둘 다 활발한 메인 타겟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344314" y="5074920"/>
            <a:ext cx="3503066" cy="1143000"/>
          </a:xfrm>
          <a:prstGeom prst="roundRect">
            <a:avLst>
              <a:gd name="adj" fmla="val 4000"/>
            </a:avLst>
          </a:prstGeom>
          <a:solidFill>
            <a:srgbClr val="E1F4EF"/>
          </a:solidFill>
          <a:ln/>
        </p:spPr>
      </p:sp>
      <p:sp>
        <p:nvSpPr>
          <p:cNvPr id="11" name="Shape 8"/>
          <p:cNvSpPr/>
          <p:nvPr/>
        </p:nvSpPr>
        <p:spPr>
          <a:xfrm>
            <a:off x="4508906" y="5239512"/>
            <a:ext cx="384048" cy="384048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12" name="Text 9"/>
          <p:cNvSpPr/>
          <p:nvPr/>
        </p:nvSpPr>
        <p:spPr>
          <a:xfrm>
            <a:off x="4508906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02682" y="5202936"/>
            <a:ext cx="26801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 94.6% — 채널 이동 자체가 최강 리텐션 신호 (H7 검증)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121701" y="5074920"/>
            <a:ext cx="3503066" cy="1143000"/>
          </a:xfrm>
          <a:prstGeom prst="roundRect">
            <a:avLst>
              <a:gd name="adj" fmla="val 4000"/>
            </a:avLst>
          </a:prstGeom>
          <a:solidFill>
            <a:srgbClr val="EEF0F4"/>
          </a:solidFill>
          <a:ln/>
        </p:spPr>
      </p:sp>
      <p:sp>
        <p:nvSpPr>
          <p:cNvPr id="15" name="Shape 12"/>
          <p:cNvSpPr/>
          <p:nvPr/>
        </p:nvSpPr>
        <p:spPr>
          <a:xfrm>
            <a:off x="8286293" y="5239512"/>
            <a:ext cx="384048" cy="384048"/>
          </a:xfrm>
          <a:prstGeom prst="ellipse">
            <a:avLst/>
          </a:prstGeom>
          <a:solidFill>
            <a:srgbClr val="7A8499"/>
          </a:solidFill>
          <a:ln/>
        </p:spPr>
      </p:sp>
      <p:sp>
        <p:nvSpPr>
          <p:cNvPr id="16" name="Text 13"/>
          <p:cNvSpPr/>
          <p:nvPr/>
        </p:nvSpPr>
        <p:spPr>
          <a:xfrm>
            <a:off x="8286293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780069" y="5202936"/>
            <a:ext cx="26801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23.3% (A의 1/3) — 인앱 추천 레버 밖, 후속 마케팅 트랙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Cross-Sell 분석 · Phase 1 결과 검토 (2026-05-31)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왜 재계산(β)이 옳았나 — α vs β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57839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45920"/>
                <a:gridCol w="2194560"/>
                <a:gridCol w="1645920"/>
                <a:gridCol w="2194560"/>
                <a:gridCol w="149047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채널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비중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재구매(any)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 비중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 재구매(any)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 재방문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34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앱퍼스트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60.5%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37.2%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79.3%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62.1%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E8C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웹→앱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100%*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94.6%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7A84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웹온리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59.8%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59.1%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E9E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297680"/>
            <a:ext cx="5760720" cy="1874520"/>
          </a:xfrm>
          <a:prstGeom prst="roundRect">
            <a:avLst>
              <a:gd name="adj" fmla="val 2927"/>
            </a:avLst>
          </a:prstGeom>
          <a:solidFill>
            <a:srgbClr val="E1F4EF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" y="4434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재구매율 착시 교정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41248" y="47548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9E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14.7% → 23.3%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41248" y="530352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α는 second_app_paid_date(앱 2회차)만 봐서 C의 웹 재구매를 통째로 누락한 착시. β는 웹 재구매까지 포착해 교정.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583680" y="4297680"/>
            <a:ext cx="5041087" cy="1874520"/>
          </a:xfrm>
          <a:prstGeom prst="roundRect">
            <a:avLst>
              <a:gd name="adj" fmla="val 2927"/>
            </a:avLst>
          </a:prstGeom>
          <a:solidFill>
            <a:srgbClr val="F4F6FB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0" y="4434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 자체는 견고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0" y="48006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비중은 양 방식 거의 동일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35→37% · B 3.6→3.7% · C 59.8→59.1%)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차이는 분류가 아니라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재구매 측정 방식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에서 발생.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Cross-Sell 분석 · Phase 1 결과 검토 (2026-05-31)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발견 (해석)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채널이 곧 다른 추천 전략을 요구한다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472586" cy="4343400"/>
          </a:xfrm>
          <a:prstGeom prst="roundRect">
            <a:avLst>
              <a:gd name="adj" fmla="val 1843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92808"/>
            <a:ext cx="548640" cy="548640"/>
          </a:xfrm>
          <a:prstGeom prst="ellipse">
            <a:avLst/>
          </a:prstGeom>
          <a:solidFill>
            <a:srgbClr val="23408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27048" y="1911096"/>
            <a:ext cx="23295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앱-퍼스트 · 메인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651760"/>
            <a:ext cx="29239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340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79.3%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59536" y="3429000"/>
            <a:ext cx="29239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재구매(any)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9536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02154" y="3886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62.1%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9536" y="41970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02154" y="41970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9536" y="4636008"/>
            <a:ext cx="2887370" cy="0"/>
          </a:xfrm>
          <a:prstGeom prst="line">
            <a:avLst/>
          </a:prstGeom>
          <a:noFill/>
          <a:ln w="12700">
            <a:solidFill>
              <a:srgbClr val="2B3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4754880"/>
            <a:ext cx="28873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깨끗한 인앱 cross-sell 타겟. 재방문 리텐션과 인세션 업셀이 모두 활발.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59554" y="1600200"/>
            <a:ext cx="3472586" cy="4343400"/>
          </a:xfrm>
          <a:prstGeom prst="roundRect">
            <a:avLst>
              <a:gd name="adj" fmla="val 1843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33874" y="1892808"/>
            <a:ext cx="548640" cy="548640"/>
          </a:xfrm>
          <a:prstGeom prst="ellipse">
            <a:avLst/>
          </a:prstGeom>
          <a:solidFill>
            <a:srgbClr val="0E8C77"/>
          </a:solidFill>
          <a:ln/>
        </p:spPr>
      </p:sp>
      <p:sp>
        <p:nvSpPr>
          <p:cNvPr id="18" name="Text 16"/>
          <p:cNvSpPr/>
          <p:nvPr/>
        </p:nvSpPr>
        <p:spPr>
          <a:xfrm>
            <a:off x="4633874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319674" y="1911096"/>
            <a:ext cx="23295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웹→앱 · 최강 리텐션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633874" y="2651760"/>
            <a:ext cx="29239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E8C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94.6%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4652162" y="3429000"/>
            <a:ext cx="29239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 재구매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52162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94781" y="3886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45,526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52162" y="41970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94781" y="41970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52162" y="4636008"/>
            <a:ext cx="2887370" cy="0"/>
          </a:xfrm>
          <a:prstGeom prst="line">
            <a:avLst/>
          </a:prstGeom>
          <a:noFill/>
          <a:ln w="12700">
            <a:solidFill>
              <a:srgbClr val="2B3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52162" y="4754880"/>
            <a:ext cx="28873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웹에서 한번 사고 앱으로 넘어오면 거의 다 또 산다. 채널 이동 = 강한 리텐션 신호 (H7).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52181" y="1600200"/>
            <a:ext cx="3472586" cy="4343400"/>
          </a:xfrm>
          <a:prstGeom prst="roundRect">
            <a:avLst>
              <a:gd name="adj" fmla="val 1843"/>
            </a:avLst>
          </a:prstGeom>
          <a:solidFill>
            <a:srgbClr val="1B2342"/>
          </a:solidFill>
          <a:ln w="12700">
            <a:solidFill>
              <a:srgbClr val="2B35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26501" y="1892808"/>
            <a:ext cx="548640" cy="548640"/>
          </a:xfrm>
          <a:prstGeom prst="ellipse">
            <a:avLst/>
          </a:prstGeom>
          <a:solidFill>
            <a:srgbClr val="7A8499"/>
          </a:solidFill>
          <a:ln/>
        </p:spPr>
      </p:sp>
      <p:sp>
        <p:nvSpPr>
          <p:cNvPr id="30" name="Text 28"/>
          <p:cNvSpPr/>
          <p:nvPr/>
        </p:nvSpPr>
        <p:spPr>
          <a:xfrm>
            <a:off x="8426501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112301" y="1911096"/>
            <a:ext cx="23295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웹온리 · 후속 트랙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426501" y="2651760"/>
            <a:ext cx="29239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7A84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23.3%</a:t>
            </a:r>
            <a:endParaRPr lang="en-US" sz="4600" dirty="0"/>
          </a:p>
        </p:txBody>
      </p:sp>
      <p:sp>
        <p:nvSpPr>
          <p:cNvPr id="33" name="Text 31"/>
          <p:cNvSpPr/>
          <p:nvPr/>
        </p:nvSpPr>
        <p:spPr>
          <a:xfrm>
            <a:off x="8444789" y="3429000"/>
            <a:ext cx="29239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재구매(any)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44789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887407" y="3886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727,159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44789" y="41970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비중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887407" y="41970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59.1%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444789" y="4636008"/>
            <a:ext cx="2887370" cy="0"/>
          </a:xfrm>
          <a:prstGeom prst="line">
            <a:avLst/>
          </a:prstGeom>
          <a:noFill/>
          <a:ln w="12700">
            <a:solidFill>
              <a:srgbClr val="2B35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44789" y="4754880"/>
            <a:ext cx="28873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구매자 과반이나 재구매율 A의 1/3. 인앱 추천 레버 밖 → 마케팅 트랙 분리.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Cross-Sell 분석 · Phase 1 결과 검토 (2026-05-31)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스코프 확정 (Β 기준)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어디에 분석을 집중하는가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4113516" cy="640080"/>
          </a:xfrm>
          <a:prstGeom prst="rect">
            <a:avLst/>
          </a:prstGeom>
          <a:solidFill>
            <a:srgbClr val="2340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00200"/>
            <a:ext cx="4113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37.2%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80444" y="1600200"/>
            <a:ext cx="6535183" cy="640080"/>
          </a:xfrm>
          <a:prstGeom prst="rect">
            <a:avLst/>
          </a:prstGeom>
          <a:solidFill>
            <a:srgbClr val="7A84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80444" y="1600200"/>
            <a:ext cx="65351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59.1%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215627" y="1600200"/>
            <a:ext cx="409140" cy="640080"/>
          </a:xfrm>
          <a:prstGeom prst="rect">
            <a:avLst/>
          </a:prstGeom>
          <a:solidFill>
            <a:srgbClr val="0E8C7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15627" y="1600200"/>
            <a:ext cx="409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3.7%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66928" y="2313432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콘텐츠 구매자 1,230,978명 기준 채널 비중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2697480"/>
            <a:ext cx="2558720" cy="3200400"/>
          </a:xfrm>
          <a:prstGeom prst="roundRect">
            <a:avLst>
              <a:gd name="adj" fmla="val 2144"/>
            </a:avLst>
          </a:prstGeom>
          <a:solidFill>
            <a:srgbClr val="E8ED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697480"/>
            <a:ext cx="2558720" cy="64008"/>
          </a:xfrm>
          <a:prstGeom prst="roundRect">
            <a:avLst>
              <a:gd name="adj" fmla="val 42857"/>
            </a:avLst>
          </a:prstGeom>
          <a:solidFill>
            <a:srgbClr val="23408F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2926080"/>
            <a:ext cx="219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앱퍼스트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8096" y="3355848"/>
            <a:ext cx="219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458,291명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68096" y="3995928"/>
            <a:ext cx="2156384" cy="457200"/>
          </a:xfrm>
          <a:prstGeom prst="roundRect">
            <a:avLst>
              <a:gd name="adj" fmla="val 8000"/>
            </a:avLst>
          </a:prstGeom>
          <a:solidFill>
            <a:srgbClr val="23408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995928"/>
            <a:ext cx="201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— 풀 분석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68096" y="4572000"/>
            <a:ext cx="2174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 분류 · 재구매 패턴 · 추천 SKU 매트릭스의 핵심 대상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99968" y="2697480"/>
            <a:ext cx="2558720" cy="3200400"/>
          </a:xfrm>
          <a:prstGeom prst="roundRect">
            <a:avLst>
              <a:gd name="adj" fmla="val 2144"/>
            </a:avLst>
          </a:prstGeom>
          <a:solidFill>
            <a:srgbClr val="E1F4EF"/>
          </a:solidFill>
          <a:ln/>
        </p:spPr>
      </p:sp>
      <p:sp>
        <p:nvSpPr>
          <p:cNvPr id="19" name="Shape 17"/>
          <p:cNvSpPr/>
          <p:nvPr/>
        </p:nvSpPr>
        <p:spPr>
          <a:xfrm>
            <a:off x="3399968" y="2697480"/>
            <a:ext cx="2558720" cy="64008"/>
          </a:xfrm>
          <a:prstGeom prst="roundRect">
            <a:avLst>
              <a:gd name="adj" fmla="val 42857"/>
            </a:avLst>
          </a:prstGeom>
          <a:solidFill>
            <a:srgbClr val="0E8C77"/>
          </a:solidFill>
          <a:ln/>
        </p:spPr>
      </p:sp>
      <p:sp>
        <p:nvSpPr>
          <p:cNvPr id="20" name="Text 18"/>
          <p:cNvSpPr/>
          <p:nvPr/>
        </p:nvSpPr>
        <p:spPr>
          <a:xfrm>
            <a:off x="3601136" y="2926080"/>
            <a:ext cx="219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웹→앱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01136" y="3355848"/>
            <a:ext cx="219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45,526명</a:t>
            </a:r>
            <a:endParaRPr lang="en-US" sz="2300" dirty="0"/>
          </a:p>
        </p:txBody>
      </p:sp>
      <p:sp>
        <p:nvSpPr>
          <p:cNvPr id="22" name="Shape 20"/>
          <p:cNvSpPr/>
          <p:nvPr/>
        </p:nvSpPr>
        <p:spPr>
          <a:xfrm>
            <a:off x="3601136" y="3995928"/>
            <a:ext cx="2156384" cy="457200"/>
          </a:xfrm>
          <a:prstGeom prst="roundRect">
            <a:avLst>
              <a:gd name="adj" fmla="val 8000"/>
            </a:avLst>
          </a:prstGeom>
          <a:solidFill>
            <a:srgbClr val="0E8C77"/>
          </a:solidFill>
          <a:ln/>
        </p:spPr>
      </p:sp>
      <p:sp>
        <p:nvSpPr>
          <p:cNvPr id="23" name="Text 21"/>
          <p:cNvSpPr/>
          <p:nvPr/>
        </p:nvSpPr>
        <p:spPr>
          <a:xfrm>
            <a:off x="3674288" y="3995928"/>
            <a:ext cx="201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 코호트 분석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01136" y="4572000"/>
            <a:ext cx="2174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최강 재방문 리텐션(94.6%). N 제약 내에서 별도 세분화 분석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33008" y="2697480"/>
            <a:ext cx="2558720" cy="3200400"/>
          </a:xfrm>
          <a:prstGeom prst="roundRect">
            <a:avLst>
              <a:gd name="adj" fmla="val 2144"/>
            </a:avLst>
          </a:prstGeom>
          <a:solidFill>
            <a:srgbClr val="EEF0F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33008" y="2697480"/>
            <a:ext cx="2558720" cy="64008"/>
          </a:xfrm>
          <a:prstGeom prst="roundRect">
            <a:avLst>
              <a:gd name="adj" fmla="val 42857"/>
            </a:avLst>
          </a:prstGeom>
          <a:solidFill>
            <a:srgbClr val="7A8499"/>
          </a:solidFill>
          <a:ln/>
        </p:spPr>
      </p:sp>
      <p:sp>
        <p:nvSpPr>
          <p:cNvPr id="27" name="Text 25"/>
          <p:cNvSpPr/>
          <p:nvPr/>
        </p:nvSpPr>
        <p:spPr>
          <a:xfrm>
            <a:off x="6434176" y="2926080"/>
            <a:ext cx="219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웹온리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34176" y="3355848"/>
            <a:ext cx="219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727,159명</a:t>
            </a:r>
            <a:endParaRPr lang="en-US" sz="2300" dirty="0"/>
          </a:p>
        </p:txBody>
      </p:sp>
      <p:sp>
        <p:nvSpPr>
          <p:cNvPr id="29" name="Shape 27"/>
          <p:cNvSpPr/>
          <p:nvPr/>
        </p:nvSpPr>
        <p:spPr>
          <a:xfrm>
            <a:off x="6434176" y="3995928"/>
            <a:ext cx="2156384" cy="457200"/>
          </a:xfrm>
          <a:prstGeom prst="roundRect">
            <a:avLst>
              <a:gd name="adj" fmla="val 8000"/>
            </a:avLst>
          </a:prstGeom>
          <a:solidFill>
            <a:srgbClr val="7A8499"/>
          </a:solidFill>
          <a:ln/>
        </p:spPr>
      </p:sp>
      <p:sp>
        <p:nvSpPr>
          <p:cNvPr id="30" name="Text 28"/>
          <p:cNvSpPr/>
          <p:nvPr/>
        </p:nvSpPr>
        <p:spPr>
          <a:xfrm>
            <a:off x="6507328" y="3995928"/>
            <a:ext cx="201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후속 마케팅 트랙 (제외)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34176" y="4572000"/>
            <a:ext cx="2174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인앱 추천 분석 레버 밖. 규모만 기록, 마케팅 스킬 선정으로 분리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66047" y="2697480"/>
            <a:ext cx="2558720" cy="3200400"/>
          </a:xfrm>
          <a:prstGeom prst="roundRect">
            <a:avLst>
              <a:gd name="adj" fmla="val 2144"/>
            </a:avLst>
          </a:prstGeom>
          <a:solidFill>
            <a:srgbClr val="F1F3F6"/>
          </a:solidFill>
          <a:ln/>
        </p:spPr>
      </p:sp>
      <p:sp>
        <p:nvSpPr>
          <p:cNvPr id="33" name="Shape 31"/>
          <p:cNvSpPr/>
          <p:nvPr/>
        </p:nvSpPr>
        <p:spPr>
          <a:xfrm>
            <a:off x="9066047" y="2697480"/>
            <a:ext cx="2558720" cy="64008"/>
          </a:xfrm>
          <a:prstGeom prst="roundRect">
            <a:avLst>
              <a:gd name="adj" fmla="val 42857"/>
            </a:avLst>
          </a:prstGeom>
          <a:solidFill>
            <a:srgbClr val="B0B7C3"/>
          </a:solidFill>
          <a:ln/>
        </p:spPr>
      </p:sp>
      <p:sp>
        <p:nvSpPr>
          <p:cNvPr id="34" name="Text 32"/>
          <p:cNvSpPr/>
          <p:nvPr/>
        </p:nvSpPr>
        <p:spPr>
          <a:xfrm>
            <a:off x="9267215" y="2926080"/>
            <a:ext cx="219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미상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267215" y="3355848"/>
            <a:ext cx="219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2명</a:t>
            </a:r>
            <a:endParaRPr lang="en-US" sz="2300" dirty="0"/>
          </a:p>
        </p:txBody>
      </p:sp>
      <p:sp>
        <p:nvSpPr>
          <p:cNvPr id="36" name="Shape 34"/>
          <p:cNvSpPr/>
          <p:nvPr/>
        </p:nvSpPr>
        <p:spPr>
          <a:xfrm>
            <a:off x="9267215" y="3995928"/>
            <a:ext cx="2156384" cy="457200"/>
          </a:xfrm>
          <a:prstGeom prst="roundRect">
            <a:avLst>
              <a:gd name="adj" fmla="val 8000"/>
            </a:avLst>
          </a:prstGeom>
          <a:solidFill>
            <a:srgbClr val="B0B7C3"/>
          </a:solidFill>
          <a:ln/>
        </p:spPr>
      </p:sp>
      <p:sp>
        <p:nvSpPr>
          <p:cNvPr id="37" name="Text 35"/>
          <p:cNvSpPr/>
          <p:nvPr/>
        </p:nvSpPr>
        <p:spPr>
          <a:xfrm>
            <a:off x="9340367" y="3995928"/>
            <a:ext cx="201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제외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267215" y="4572000"/>
            <a:ext cx="2174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NULL — 무시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Cross-Sell 분석 · Phase 1 결과 검토 (2026-05-31)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1.2 ~ 5 로드맵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943600" cy="4526280"/>
          </a:xfrm>
          <a:prstGeom prst="roundRect">
            <a:avLst>
              <a:gd name="adj" fmla="val 1212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바로 다음 — Phase 1.2 (코호트 + Baseline)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9536" y="2295144"/>
            <a:ext cx="118872" cy="1188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220370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신규 vs 기존 결제자 분리 — 윈도우 경계 데이터로 확정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59536" y="2935224"/>
            <a:ext cx="118872" cy="1188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284378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재구매율 — A/B × 30/60/90일 × 신규/기존 × (동일일/재방문)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59536" y="3575304"/>
            <a:ext cx="118872" cy="1188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348386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채널별 매출 비중 — revenue_krw 합산 (신뢰 소스)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59536" y="4215384"/>
            <a:ext cx="118872" cy="1188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13" name="Text 11"/>
          <p:cNvSpPr/>
          <p:nvPr/>
        </p:nvSpPr>
        <p:spPr>
          <a:xfrm>
            <a:off x="1115568" y="412394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2회차까지 시간 분포 — median · p25/p75 (재방문 중심)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59536" y="4855464"/>
            <a:ext cx="118872" cy="1188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476402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결제 카테고리(content_type)/가격대별 raw 재구매율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59536" y="5495544"/>
            <a:ext cx="118872" cy="118872"/>
          </a:xfrm>
          <a:prstGeom prst="rect">
            <a:avLst/>
          </a:prstGeom>
          <a:solidFill>
            <a:srgbClr val="23408F"/>
          </a:solidFill>
          <a:ln/>
        </p:spPr>
      </p:sp>
      <p:sp>
        <p:nvSpPr>
          <p:cNvPr id="17" name="Text 15"/>
          <p:cNvSpPr/>
          <p:nvPr/>
        </p:nvSpPr>
        <p:spPr>
          <a:xfrm>
            <a:off x="1115568" y="540410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인구통계 채움률 — age_group_5yr / user_gender NULL 비중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0" y="16276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로드맵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0" y="2103120"/>
            <a:ext cx="4766767" cy="749808"/>
          </a:xfrm>
          <a:prstGeom prst="roundRect">
            <a:avLst>
              <a:gd name="adj" fmla="val 6098"/>
            </a:avLst>
          </a:prstGeom>
          <a:solidFill>
            <a:srgbClr val="E1F4EF"/>
          </a:solidFill>
          <a:ln w="12700">
            <a:solidFill>
              <a:srgbClr val="0E9E8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2592" y="21945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E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83880" y="21762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· 채널 분리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83880" y="24871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1.0(α)+1.1(β) 완료 · 1.2 대기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10664647" y="21945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진행중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58000" y="2944368"/>
            <a:ext cx="4766767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22592" y="303580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0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83880" y="30175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 분류 + Profiling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83880" y="332841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 스크리닝 · 통계검정 · 우선 셀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10664647" y="303580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858000" y="3785616"/>
            <a:ext cx="4766767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22592" y="387705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0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183880" y="38587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재구매 패턴 분석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83880" y="41696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임계점 · 카테고리 transition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10664647" y="387705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858000" y="4626864"/>
            <a:ext cx="4766767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22592" y="471830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0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183880" y="47000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SKU 매트릭스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183880" y="50109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 · lift · TOP K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10664647" y="471830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58000" y="5468112"/>
            <a:ext cx="4766767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EE4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22592" y="555955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0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183880" y="55412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 액션 + A/B 설계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183880" y="58521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후보 · holdout · 공유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10664647" y="555955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Cross-Sell 분석 · Phase 1 결과 검토 (2026-05-31)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로그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데이터 정합성 · BigQuery 비용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943600" cy="4526280"/>
          </a:xfrm>
          <a:prstGeom prst="roundRect">
            <a:avLst>
              <a:gd name="adj" fmla="val 1212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정합성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103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정합성 사고 3건 — 전부 디스크 저장 전 차단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59536" y="24871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4688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만료 중 빈 스키마로 컬럼 '없음' 오판 → 재인증 후 실재 확인·정정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" y="3200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318211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쿼리 실행 전 placeholder 수치 산출물 선작성 시도 2회 → 저장 전 발견·삭제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1248" y="4069080"/>
            <a:ext cx="5394960" cy="914400"/>
          </a:xfrm>
          <a:prstGeom prst="roundRect">
            <a:avLst>
              <a:gd name="adj" fmla="val 5000"/>
            </a:avLst>
          </a:prstGeom>
          <a:solidFill>
            <a:srgbClr val="E1F4EF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416052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무결성: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수치는 실제 실행된 쿼리 CSV 값. 가짜 수치 0건.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 적용: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"쿼리 실행 → 결과 확인 → 파일 작성" 순서 엄수.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512064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총계 검증: β 합계 1,230,978 = α 합계 (동일 모집단, 분류만 상이) → 정합성 확인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0" y="16276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비용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0" y="2011680"/>
            <a:ext cx="4766767" cy="1143000"/>
          </a:xfrm>
          <a:prstGeom prst="roundRect">
            <a:avLst>
              <a:gd name="adj" fmla="val 6400"/>
            </a:avLst>
          </a:prstGeom>
          <a:solidFill>
            <a:srgbClr val="E8ED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2011680"/>
            <a:ext cx="82296" cy="1143000"/>
          </a:xfrm>
          <a:prstGeom prst="roundRect">
            <a:avLst>
              <a:gd name="adj" fmla="val 44444"/>
            </a:avLst>
          </a:prstGeom>
          <a:solidFill>
            <a:srgbClr val="23408F"/>
          </a:solidFill>
          <a:ln/>
        </p:spPr>
      </p:sp>
      <p:sp>
        <p:nvSpPr>
          <p:cNvPr id="17" name="Text 15"/>
          <p:cNvSpPr/>
          <p:nvPr/>
        </p:nvSpPr>
        <p:spPr>
          <a:xfrm>
            <a:off x="7022592" y="2121408"/>
            <a:ext cx="4492447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40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35.2 GB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040880" y="2583180"/>
            <a:ext cx="4474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누계 스캔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40880" y="2857500"/>
            <a:ext cx="4474159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100GB 자체 가드의 35% — 여유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0" y="3383280"/>
            <a:ext cx="4766767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1" name="Text 19"/>
          <p:cNvSpPr/>
          <p:nvPr/>
        </p:nvSpPr>
        <p:spPr>
          <a:xfrm>
            <a:off x="7022592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사이징 (α)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933127" y="3383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6.09 GB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3840480"/>
            <a:ext cx="4766767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022592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X_anomaly 진단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933127" y="3840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10.39 GB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4297680"/>
            <a:ext cx="4766767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7" name="Text 25"/>
          <p:cNvSpPr/>
          <p:nvPr/>
        </p:nvSpPr>
        <p:spPr>
          <a:xfrm>
            <a:off x="7022592" y="4297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분포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33127" y="4297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7.74 GB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0" y="4754880"/>
            <a:ext cx="4766767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022592" y="4754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 재분류 (β)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933127" y="47548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10.98 GB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0" y="5440680"/>
            <a:ext cx="4766767" cy="658368"/>
          </a:xfrm>
          <a:prstGeom prst="roundRect">
            <a:avLst>
              <a:gd name="adj" fmla="val 6944"/>
            </a:avLst>
          </a:prstGeom>
          <a:solidFill>
            <a:srgbClr val="FBEFD8"/>
          </a:solidFill>
          <a:ln/>
        </p:spPr>
      </p:sp>
      <p:sp>
        <p:nvSpPr>
          <p:cNvPr id="33" name="Text 31"/>
          <p:cNvSpPr/>
          <p:nvPr/>
        </p:nvSpPr>
        <p:spPr>
          <a:xfrm>
            <a:off x="7022592" y="5504688"/>
            <a:ext cx="44741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후속 과제: </a:t>
            </a:r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카탈로그 §주의사항 보강 (컬럼 소스 정의 차이·X_anomaly·매출컬럼 신뢰성, 사용자 승인 후)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HelloBot · Cross-Sell 분석 · Phase 1 결과 검토 (2026-05-31)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076127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HelloBot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Cross-Sell Recommendation — Phase 1 Review</dc:title>
  <dc:subject>PptxGenJS Presentation</dc:subject>
  <dc:creator>HelloBot Data</dc:creator>
  <cp:lastModifiedBy>HelloBot Data</cp:lastModifiedBy>
  <cp:revision>1</cp:revision>
  <dcterms:created xsi:type="dcterms:W3CDTF">2026-05-31T09:52:53Z</dcterms:created>
  <dcterms:modified xsi:type="dcterms:W3CDTF">2026-05-31T09:52:53Z</dcterms:modified>
</cp:coreProperties>
</file>