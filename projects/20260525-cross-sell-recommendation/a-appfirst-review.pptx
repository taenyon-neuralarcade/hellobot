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914400"/>
            <a:ext cx="146304" cy="146304"/>
          </a:xfrm>
          <a:prstGeom prst="ellipse">
            <a:avLst/>
          </a:prstGeom>
          <a:solidFill>
            <a:srgbClr val="23408F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914400"/>
            <a:ext cx="146304" cy="146304"/>
          </a:xfrm>
          <a:prstGeom prst="ellipse">
            <a:avLst/>
          </a:prstGeom>
          <a:solidFill>
            <a:srgbClr val="0E8C77"/>
          </a:solidFill>
          <a:ln/>
        </p:spPr>
      </p:sp>
      <p:sp>
        <p:nvSpPr>
          <p:cNvPr id="4" name="Shape 2"/>
          <p:cNvSpPr/>
          <p:nvPr/>
        </p:nvSpPr>
        <p:spPr>
          <a:xfrm>
            <a:off x="1078992" y="914400"/>
            <a:ext cx="146304" cy="146304"/>
          </a:xfrm>
          <a:prstGeom prst="ellipse">
            <a:avLst/>
          </a:prstGeom>
          <a:solidFill>
            <a:srgbClr val="B05A3C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234440"/>
            <a:ext cx="1105783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HELLOBOT · 데이터 분석 (/dev-data)  ·  REVISION 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1691640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앱 1회 구매자 → 재구매 유도 분석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66928" y="260604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앱퍼스트 심층 리뷰  ·  10-에이전트 비판 검증 + BQ 검증 반영판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66928" y="4023360"/>
            <a:ext cx="3503066" cy="1234440"/>
          </a:xfrm>
          <a:prstGeom prst="roundRect">
            <a:avLst>
              <a:gd name="adj" fmla="val 5926"/>
            </a:avLst>
          </a:prstGeom>
          <a:solidFill>
            <a:srgbClr val="1C2547"/>
          </a:solidFill>
          <a:ln w="12700">
            <a:solidFill>
              <a:srgbClr val="2E3A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4206240"/>
            <a:ext cx="31007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98,392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68096" y="4846320"/>
            <a:ext cx="31007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앱퍼스트 신규 코호트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44314" y="4023360"/>
            <a:ext cx="3503066" cy="1234440"/>
          </a:xfrm>
          <a:prstGeom prst="roundRect">
            <a:avLst>
              <a:gd name="adj" fmla="val 5926"/>
            </a:avLst>
          </a:prstGeom>
          <a:solidFill>
            <a:srgbClr val="1C2547"/>
          </a:solidFill>
          <a:ln w="12700">
            <a:solidFill>
              <a:srgbClr val="2E3A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45482" y="4206240"/>
            <a:ext cx="31007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8C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rev90 38.4%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545482" y="4846320"/>
            <a:ext cx="31007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재방문 재구매 = 결정 KPI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21701" y="4023360"/>
            <a:ext cx="3503066" cy="1234440"/>
          </a:xfrm>
          <a:prstGeom prst="roundRect">
            <a:avLst>
              <a:gd name="adj" fmla="val 5926"/>
            </a:avLst>
          </a:prstGeom>
          <a:solidFill>
            <a:srgbClr val="1C2547"/>
          </a:solidFill>
          <a:ln w="12700">
            <a:solidFill>
              <a:srgbClr val="2E3A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2869" y="4206240"/>
            <a:ext cx="31007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9E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당일 ≠ 재방문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322869" y="4846320"/>
            <a:ext cx="31007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레버 분리가 분석의 축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66928" y="580644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E8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구매 정의 pay_for_% only · 첫구매 2024-03-02~2026-03-02(90일 성숙, BQ 확인) · 재export(r_* 진짜재방문 SKU) · 재계산 rev3_recompute.py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3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10-에이전트 리뷰가 바꾼 것</a:t>
            </a:r>
            <a:endParaRPr lang="en-US" sz="2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17320"/>
          <a:ext cx="6492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237744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항목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rev2 (전)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REVISION 3 (정정)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재방문 모집단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23,049 (상한 없음)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b="1" dirty="0">
                          <a:solidFill>
                            <a:srgbClr val="0E8C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rev90 37,735 (90일내)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NBO 추천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연애 = 보편 디폴트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b="1" dirty="0">
                          <a:solidFill>
                            <a:srgbClr val="0E8C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lift 기준 + 생활운 클러스터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반복성 본질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콘텐츠 특성(타로)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b="1" dirty="0">
                          <a:solidFill>
                            <a:srgbClr val="0E8C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당일=타로 / 재방문=사주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사주→타로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lift 0.69 (오류 base)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lift 0.72 (진짜재방문)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불확실성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n·CI 없음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+ Wilson CI 부기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4251960"/>
            <a:ext cx="6492240" cy="1371600"/>
          </a:xfrm>
          <a:prstGeom prst="roundRect">
            <a:avLst>
              <a:gd name="adj" fmla="val 4000"/>
            </a:avLst>
          </a:prstGeom>
          <a:solidFill>
            <a:srgbClr val="E1F4EF"/>
          </a:solidFill>
          <a:ln/>
        </p:spPr>
      </p:sp>
      <p:sp>
        <p:nvSpPr>
          <p:cNvPr id="6" name="Text 3"/>
          <p:cNvSpPr/>
          <p:nvPr/>
        </p:nvSpPr>
        <p:spPr>
          <a:xfrm>
            <a:off x="795528" y="4251960"/>
            <a:ext cx="6035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E9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BQ 검증으로 기반은 견고 확인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maturity(2026-06-01 적재) · 좌측절단 없음(2021-03 시작) · sameday 이벤트 중복 0 · web 최대 유지 · B누수 85명.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269480" y="1417320"/>
            <a:ext cx="4355287" cy="4206240"/>
          </a:xfrm>
          <a:prstGeom prst="roundRect">
            <a:avLst>
              <a:gd name="adj" fmla="val 1304"/>
            </a:avLst>
          </a:prstGeom>
          <a:solidFill>
            <a:srgbClr val="FBEFD8"/>
          </a:solidFill>
          <a:ln/>
        </p:spPr>
      </p:sp>
      <p:sp>
        <p:nvSpPr>
          <p:cNvPr id="8" name="Text 5"/>
          <p:cNvSpPr/>
          <p:nvPr/>
        </p:nvSpPr>
        <p:spPr>
          <a:xfrm>
            <a:off x="7498080" y="155448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바뀌었나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498080" y="1920240"/>
            <a:ext cx="4016959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"재방문"이 두 숫자(38.4% / 23.4%)를 동시에 가리켜 </a:t>
            </a:r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전이·추천 매트릭스가 잘못된 모집단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위에 있었음.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"타로=반복형"은 </a:t>
            </a:r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rev90이 당일 업셀로 오염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된 결과 — 순수 재방문에선 사주가 우위.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"연애 디폴트"는 </a:t>
            </a:r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연애가 72% prior라 자명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타겟팅 신호 아님.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66928" y="647395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HelloBot · A 앱퍼스트 Cross-Sell · REVISION 3 (10-에이전트 리뷰 + BQ 검증 반영) · 2026-06-02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3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지표 프레임 (분석의 축)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"재구매"는 하나의 숫자가 아니다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508760"/>
            <a:ext cx="1968295" cy="822960"/>
          </a:xfrm>
          <a:prstGeom prst="rect">
            <a:avLst/>
          </a:prstGeom>
          <a:solidFill>
            <a:srgbClr val="0E8C7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563624"/>
            <a:ext cx="196829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17.8%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66928" y="1965960"/>
            <a:ext cx="1968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재방문 only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35223" y="1508760"/>
            <a:ext cx="2266857" cy="822960"/>
          </a:xfrm>
          <a:prstGeom prst="rect">
            <a:avLst/>
          </a:prstGeom>
          <a:solidFill>
            <a:srgbClr val="23408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35223" y="1563624"/>
            <a:ext cx="226685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20.5%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535223" y="1965960"/>
            <a:ext cx="22668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당일+재방문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02080" y="1508760"/>
            <a:ext cx="3262063" cy="822960"/>
          </a:xfrm>
          <a:prstGeom prst="rect">
            <a:avLst/>
          </a:prstGeom>
          <a:solidFill>
            <a:srgbClr val="C8841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2080" y="1563624"/>
            <a:ext cx="326206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29.5%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02080" y="1965960"/>
            <a:ext cx="326206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당일 only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64143" y="1508760"/>
            <a:ext cx="3549566" cy="822960"/>
          </a:xfrm>
          <a:prstGeom prst="rect">
            <a:avLst/>
          </a:prstGeom>
          <a:solidFill>
            <a:srgbClr val="C9CED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64143" y="1563624"/>
            <a:ext cx="354956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32.1%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064143" y="1965960"/>
            <a:ext cx="354956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2회차 없음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66928" y="24414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A 코호트 98,392명을 첫 결제 후 행동으로 4분할 (중복 없음). 재방문(rev90)=재방문only+당일+재방문=37,735(38.4%).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200400"/>
          <a:ext cx="67665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377440"/>
                <a:gridCol w="1097280"/>
                <a:gridCol w="192024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지표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정의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값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역할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b="1" dirty="0">
                          <a:solidFill>
                            <a:srgbClr val="0E8C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rev90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90일내 다른날 구매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b="1" dirty="0">
                          <a:solidFill>
                            <a:srgbClr val="0E8C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38.4%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b="1" dirty="0">
                          <a:solidFill>
                            <a:srgbClr val="0E8C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결정 KPI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b="1" dirty="0">
                          <a:solidFill>
                            <a:srgbClr val="C884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sameday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첫날 추가 구매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50.0%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별도 레버(in-session)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any90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rev90 + sameday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67.9%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맥락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평생 2회+ (상한X)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73.5%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천장 · 비교 금지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7589520" y="3200400"/>
            <a:ext cx="4035247" cy="2286000"/>
          </a:xfrm>
          <a:prstGeom prst="roundRect">
            <a:avLst>
              <a:gd name="adj" fmla="val 2400"/>
            </a:avLst>
          </a:prstGeom>
          <a:solidFill>
            <a:srgbClr val="F4F6FB"/>
          </a:solidFill>
          <a:ln/>
        </p:spPr>
      </p:sp>
      <p:sp>
        <p:nvSpPr>
          <p:cNvPr id="19" name="Text 16"/>
          <p:cNvSpPr/>
          <p:nvPr/>
        </p:nvSpPr>
        <p:spPr>
          <a:xfrm>
            <a:off x="7818120" y="332841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rev90인가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818120" y="3657600"/>
            <a:ext cx="3742639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레버 분리 —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당일 50%는 자연발생. 추천이 키울 건 재방문.
</a:t>
            </a:r>
            <a:pPr indent="0" marL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비교 가능 —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고정 90일창 → 코호트 성숙도 통제.
</a:t>
            </a:r>
            <a:pPr indent="0" marL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귀속 가능 —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90일내 복귀 = 캠페인 현실 타깃. (ever는 관측기간 편향)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66928" y="647395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HelloBot · A 앱퍼스트 Cross-Sell · REVISION 3 (10-에이전트 리뷰 + BQ 검증 반영) · 2026-06-02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3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(REV3)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기준선 — n=98,392, 95% CI 부기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2558720" cy="1371600"/>
          </a:xfrm>
          <a:prstGeom prst="roundRect">
            <a:avLst>
              <a:gd name="adj" fmla="val 4667"/>
            </a:avLst>
          </a:prstGeom>
          <a:solidFill>
            <a:srgbClr val="E1F4EF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371600"/>
            <a:ext cx="73152" cy="1371600"/>
          </a:xfrm>
          <a:prstGeom prst="roundRect">
            <a:avLst>
              <a:gd name="adj" fmla="val 37500"/>
            </a:avLst>
          </a:prstGeom>
          <a:solidFill>
            <a:srgbClr val="0E8C77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463040"/>
            <a:ext cx="230268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8C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38.4%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2057400"/>
            <a:ext cx="228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rev90 재방문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31520" y="2313432"/>
            <a:ext cx="2284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결정 KPI · CI ±0.3</a:t>
            </a:r>
            <a:endParaRPr lang="en-US" sz="9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리텐션 0점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99968" y="1371600"/>
            <a:ext cx="2558720" cy="1371600"/>
          </a:xfrm>
          <a:prstGeom prst="roundRect">
            <a:avLst>
              <a:gd name="adj" fmla="val 4667"/>
            </a:avLst>
          </a:prstGeom>
          <a:solidFill>
            <a:srgbClr val="FBEFD8"/>
          </a:solidFill>
          <a:ln/>
        </p:spPr>
      </p:sp>
      <p:sp>
        <p:nvSpPr>
          <p:cNvPr id="10" name="Shape 8"/>
          <p:cNvSpPr/>
          <p:nvPr/>
        </p:nvSpPr>
        <p:spPr>
          <a:xfrm>
            <a:off x="3399968" y="1371600"/>
            <a:ext cx="73152" cy="1371600"/>
          </a:xfrm>
          <a:prstGeom prst="roundRect">
            <a:avLst>
              <a:gd name="adj" fmla="val 37500"/>
            </a:avLst>
          </a:prstGeom>
          <a:solidFill>
            <a:srgbClr val="C8841A"/>
          </a:solidFill>
          <a:ln/>
        </p:spPr>
      </p:sp>
      <p:sp>
        <p:nvSpPr>
          <p:cNvPr id="11" name="Text 9"/>
          <p:cNvSpPr/>
          <p:nvPr/>
        </p:nvSpPr>
        <p:spPr>
          <a:xfrm>
            <a:off x="3546272" y="1463040"/>
            <a:ext cx="230268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8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50.0%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564560" y="2057400"/>
            <a:ext cx="228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sameday 당일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564560" y="2313432"/>
            <a:ext cx="2284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in-session 레버</a:t>
            </a:r>
            <a:endParaRPr lang="en-US" sz="9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별도 트랙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33008" y="1371600"/>
            <a:ext cx="2558720" cy="1371600"/>
          </a:xfrm>
          <a:prstGeom prst="roundRect">
            <a:avLst>
              <a:gd name="adj" fmla="val 4667"/>
            </a:avLst>
          </a:prstGeom>
          <a:solidFill>
            <a:srgbClr val="E8EDF8"/>
          </a:solidFill>
          <a:ln/>
        </p:spPr>
      </p:sp>
      <p:sp>
        <p:nvSpPr>
          <p:cNvPr id="15" name="Shape 13"/>
          <p:cNvSpPr/>
          <p:nvPr/>
        </p:nvSpPr>
        <p:spPr>
          <a:xfrm>
            <a:off x="6233008" y="1371600"/>
            <a:ext cx="73152" cy="1371600"/>
          </a:xfrm>
          <a:prstGeom prst="roundRect">
            <a:avLst>
              <a:gd name="adj" fmla="val 37500"/>
            </a:avLst>
          </a:prstGeom>
          <a:solidFill>
            <a:srgbClr val="23408F"/>
          </a:solidFill>
          <a:ln/>
        </p:spPr>
      </p:sp>
      <p:sp>
        <p:nvSpPr>
          <p:cNvPr id="16" name="Text 14"/>
          <p:cNvSpPr/>
          <p:nvPr/>
        </p:nvSpPr>
        <p:spPr>
          <a:xfrm>
            <a:off x="6379312" y="1463040"/>
            <a:ext cx="230268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40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67.9%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397600" y="2057400"/>
            <a:ext cx="228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any90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397600" y="2313432"/>
            <a:ext cx="2284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당일+재방문</a:t>
            </a:r>
            <a:endParaRPr lang="en-US" sz="9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30·60·90: 64.3/66.5/67.9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066047" y="1371600"/>
            <a:ext cx="2558720" cy="1371600"/>
          </a:xfrm>
          <a:prstGeom prst="roundRect">
            <a:avLst>
              <a:gd name="adj" fmla="val 4667"/>
            </a:avLst>
          </a:prstGeom>
          <a:solidFill>
            <a:srgbClr val="F4F6FB"/>
          </a:solidFill>
          <a:ln/>
        </p:spPr>
      </p:sp>
      <p:sp>
        <p:nvSpPr>
          <p:cNvPr id="20" name="Shape 18"/>
          <p:cNvSpPr/>
          <p:nvPr/>
        </p:nvSpPr>
        <p:spPr>
          <a:xfrm>
            <a:off x="9066047" y="1371600"/>
            <a:ext cx="73152" cy="1371600"/>
          </a:xfrm>
          <a:prstGeom prst="roundRect">
            <a:avLst>
              <a:gd name="adj" fmla="val 37500"/>
            </a:avLst>
          </a:prstGeom>
          <a:solidFill>
            <a:srgbClr val="6B7280"/>
          </a:solidFill>
          <a:ln/>
        </p:spPr>
      </p:sp>
      <p:sp>
        <p:nvSpPr>
          <p:cNvPr id="21" name="Text 19"/>
          <p:cNvSpPr/>
          <p:nvPr/>
        </p:nvSpPr>
        <p:spPr>
          <a:xfrm>
            <a:off x="9212351" y="1463040"/>
            <a:ext cx="230268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73.5%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230639" y="2057400"/>
            <a:ext cx="228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 2회+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230639" y="2313432"/>
            <a:ext cx="2284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천장(관측편향)</a:t>
            </a:r>
            <a:endParaRPr lang="en-US" sz="9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비교지표 아님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66928" y="3017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연도 코호트 (성숙도)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337560"/>
          <a:ext cx="54864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371600"/>
                <a:gridCol w="1097280"/>
                <a:gridCol w="109728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첫구매연도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any90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rev90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52,789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E8C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40,488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 (경계)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5,115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6" name="Text 23"/>
          <p:cNvSpPr/>
          <p:nvPr/>
        </p:nvSpPr>
        <p:spPr>
          <a:xfrm>
            <a:off x="566928" y="507492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경계 코호트는 부분성숙. 2024→2025 −5.5%p는 성숙도 아닌 실제 하락(비교성 주의).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6492240" y="3017520"/>
            <a:ext cx="5132527" cy="2606040"/>
          </a:xfrm>
          <a:prstGeom prst="roundRect">
            <a:avLst>
              <a:gd name="adj" fmla="val 2105"/>
            </a:avLst>
          </a:prstGeom>
          <a:solidFill>
            <a:srgbClr val="F4F6FB"/>
          </a:solidFill>
          <a:ln/>
        </p:spPr>
      </p:sp>
      <p:sp>
        <p:nvSpPr>
          <p:cNvPr id="28" name="Text 25"/>
          <p:cNvSpPr/>
          <p:nvPr/>
        </p:nvSpPr>
        <p:spPr>
          <a:xfrm>
            <a:off x="6720840" y="315468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기준선이 말하는 것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6720840" y="3474720"/>
            <a:ext cx="489204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재구매는 빠르다 —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rev30 31.1 → rev90 38.4. 첫 30일이 승부.
</a:t>
            </a:r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당일/재방문 분리 —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sameday 50%는 이미 발생. 추천은 rev90 38.4 공략.
</a:t>
            </a:r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성별 폐기 —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채움 3.3%. 연령(14-90 클린)·topic·형식으로 세그먼트.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566928" y="647395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HelloBot · A 앱퍼스트 Cross-Sell · REVISION 3 (10-에이전트 리뷰 + BQ 검증 반영) · 2026-06-02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3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지형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연애가 시장 그 자체 — 재물·가족은 1회성</a:t>
            </a:r>
            <a:endParaRPr lang="en-US" sz="2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71600"/>
          <a:ext cx="61264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097280"/>
                <a:gridCol w="1005840"/>
                <a:gridCol w="1005840"/>
                <a:gridCol w="100584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any90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rev90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sameday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E8C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연애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71,129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E8C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결혼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6,897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총운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5,075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일반운세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5,429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학업직업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3,984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재물금전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2,421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가족자녀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2,058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4754880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rev90 = 38.4% · 초록=상회 / 주황=최저권 · n에 foot(미태깅·기타 생략)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6903720" y="1371600"/>
            <a:ext cx="4721047" cy="1828800"/>
          </a:xfrm>
          <a:prstGeom prst="roundRect">
            <a:avLst>
              <a:gd name="adj" fmla="val 3000"/>
            </a:avLst>
          </a:prstGeom>
          <a:solidFill>
            <a:srgbClr val="E1F4EF"/>
          </a:solidFill>
          <a:ln/>
        </p:spPr>
      </p:sp>
      <p:sp>
        <p:nvSpPr>
          <p:cNvPr id="7" name="Text 4"/>
          <p:cNvSpPr/>
          <p:nvPr/>
        </p:nvSpPr>
        <p:spPr>
          <a:xfrm>
            <a:off x="7114032" y="148132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연애 = 진입 72% + 재구매 유일 상회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114032" y="1965960"/>
            <a:ext cx="46177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코호트의 72%(71,129명)가 연애 첫구매. rev90 40.8로 주요 topic 중 유일하게 평균(38.4) 상회. cross-sell 주전장이자 NBO의 prior.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903720" y="3337560"/>
            <a:ext cx="4721047" cy="1828800"/>
          </a:xfrm>
          <a:prstGeom prst="roundRect">
            <a:avLst>
              <a:gd name="adj" fmla="val 3000"/>
            </a:avLst>
          </a:prstGeom>
          <a:solidFill>
            <a:srgbClr val="FBEFD8"/>
          </a:solidFill>
          <a:ln/>
        </p:spPr>
      </p:sp>
      <p:sp>
        <p:nvSpPr>
          <p:cNvPr id="10" name="Text 7"/>
          <p:cNvSpPr/>
          <p:nvPr/>
        </p:nvSpPr>
        <p:spPr>
          <a:xfrm>
            <a:off x="7114032" y="344728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재물·가족 = 1회성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114032" y="3767328"/>
            <a:ext cx="46177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재물 rev90 28.3 · 가족 21.6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최저권. 동일계열 반복/시즌 재방문 대상이지 연애로의 cross-sell 대상 아님.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66928" y="647395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HelloBot · A 앱퍼스트 Cross-Sell · REVISION 3 (10-에이전트 리뷰 + BQ 검증 반영) · 2026-06-02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3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콘텐츠 형식 (정정)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타로 = 당일 업셀형 · 사주 = 재방문 retention형</a:t>
            </a:r>
            <a:endParaRPr lang="en-US" sz="2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17320"/>
          <a:ext cx="64008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371600"/>
                <a:gridCol w="1371600"/>
                <a:gridCol w="128016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지표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타로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사주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격차(타−사)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sameday 당일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884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884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+14.8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any90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+10.7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rev90 재방문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순수재방문(당일0)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05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05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6D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37490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타로 30,601명 / 사주 58,707명 · 가격 중앙값 타로 1,500원 vs 사주 18,000원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66928" y="4114800"/>
            <a:ext cx="6400800" cy="1508760"/>
          </a:xfrm>
          <a:prstGeom prst="roundRect">
            <a:avLst>
              <a:gd name="adj" fmla="val 3636"/>
            </a:avLst>
          </a:prstGeom>
          <a:solidFill>
            <a:srgbClr val="1A1F36"/>
          </a:solidFill>
          <a:ln/>
        </p:spPr>
      </p:sp>
      <p:sp>
        <p:nvSpPr>
          <p:cNvPr id="7" name="Text 4"/>
          <p:cNvSpPr/>
          <p:nvPr/>
        </p:nvSpPr>
        <p:spPr>
          <a:xfrm>
            <a:off x="795528" y="4114800"/>
            <a:ext cx="59893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E9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정정 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타로의 '반복'은 한 자리에서 여러 장 뽑는 </a:t>
            </a:r>
            <a:pPr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FF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당일 업셀 행동(+14.8)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이지 retention이 아님. 당일을 떼낸 순수 재방문에선 </a:t>
            </a:r>
            <a:pPr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F0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사주가 +4.0 우위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→ "사주 진입자에 타로 추천"은 retention 기준 근거 약함(가설로 강등).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178040" y="1417320"/>
            <a:ext cx="4446727" cy="1371600"/>
          </a:xfrm>
          <a:prstGeom prst="roundRect">
            <a:avLst>
              <a:gd name="adj" fmla="val 4667"/>
            </a:avLst>
          </a:prstGeom>
          <a:solidFill>
            <a:srgbClr val="FBEFD8"/>
          </a:solidFill>
          <a:ln/>
        </p:spPr>
      </p:sp>
      <p:sp>
        <p:nvSpPr>
          <p:cNvPr id="9" name="Shape 6"/>
          <p:cNvSpPr/>
          <p:nvPr/>
        </p:nvSpPr>
        <p:spPr>
          <a:xfrm>
            <a:off x="7178040" y="1417320"/>
            <a:ext cx="73152" cy="1371600"/>
          </a:xfrm>
          <a:prstGeom prst="roundRect">
            <a:avLst>
              <a:gd name="adj" fmla="val 37500"/>
            </a:avLst>
          </a:prstGeom>
          <a:solidFill>
            <a:srgbClr val="C8841A"/>
          </a:solidFill>
          <a:ln/>
        </p:spPr>
      </p:sp>
      <p:sp>
        <p:nvSpPr>
          <p:cNvPr id="10" name="Text 7"/>
          <p:cNvSpPr/>
          <p:nvPr/>
        </p:nvSpPr>
        <p:spPr>
          <a:xfrm>
            <a:off x="7324344" y="1508760"/>
            <a:ext cx="4190695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8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+14.8%p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7342632" y="2103120"/>
            <a:ext cx="417240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타로 = 당일 강점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342632" y="2359152"/>
            <a:ext cx="4172407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sameday 60.6 vs 45.8</a:t>
            </a:r>
            <a:endParaRPr lang="en-US" sz="9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인세션 다건 소비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7178040" y="2926080"/>
            <a:ext cx="4446727" cy="1371600"/>
          </a:xfrm>
          <a:prstGeom prst="roundRect">
            <a:avLst>
              <a:gd name="adj" fmla="val 4667"/>
            </a:avLst>
          </a:prstGeom>
          <a:solidFill>
            <a:srgbClr val="F6E6DE"/>
          </a:solidFill>
          <a:ln/>
        </p:spPr>
      </p:sp>
      <p:sp>
        <p:nvSpPr>
          <p:cNvPr id="14" name="Shape 11"/>
          <p:cNvSpPr/>
          <p:nvPr/>
        </p:nvSpPr>
        <p:spPr>
          <a:xfrm>
            <a:off x="7178040" y="2926080"/>
            <a:ext cx="73152" cy="1371600"/>
          </a:xfrm>
          <a:prstGeom prst="roundRect">
            <a:avLst>
              <a:gd name="adj" fmla="val 37500"/>
            </a:avLst>
          </a:prstGeom>
          <a:solidFill>
            <a:srgbClr val="B05A3C"/>
          </a:solidFill>
          <a:ln/>
        </p:spPr>
      </p:sp>
      <p:sp>
        <p:nvSpPr>
          <p:cNvPr id="15" name="Text 12"/>
          <p:cNvSpPr/>
          <p:nvPr/>
        </p:nvSpPr>
        <p:spPr>
          <a:xfrm>
            <a:off x="7324344" y="3017520"/>
            <a:ext cx="4190695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05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+4.0%p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7342632" y="3611880"/>
            <a:ext cx="417240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사주 = 재방문 강점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7342632" y="3867912"/>
            <a:ext cx="4172407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순수재방문 19.1 vs 15.1</a:t>
            </a:r>
            <a:endParaRPr lang="en-US" sz="9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고가·진성 retention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7178040" y="4434840"/>
            <a:ext cx="4446727" cy="118872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/>
        </p:spPr>
      </p:sp>
      <p:sp>
        <p:nvSpPr>
          <p:cNvPr id="19" name="Text 16"/>
          <p:cNvSpPr/>
          <p:nvPr/>
        </p:nvSpPr>
        <p:spPr>
          <a:xfrm>
            <a:off x="7360920" y="4434840"/>
            <a:ext cx="4108399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3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함의 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타로=결제직후 업셀 레버 / 사주=재방문 retention 레버로 다르게 운용.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66928" y="647395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HelloBot · A 앱퍼스트 Cross-Sell · REVISION 3 (10-에이전트 리뷰 + BQ 검증 반영) · 2026-06-02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3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가격 × 콘텐츠 (정정)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"콘텐츠가 가격을 이긴다"는 단정은 약하다</a:t>
            </a:r>
            <a:endParaRPr lang="en-US" sz="2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17320"/>
          <a:ext cx="65836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371600"/>
                <a:gridCol w="1188720"/>
                <a:gridCol w="1371600"/>
                <a:gridCol w="128016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가격tier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타로 rev90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타로 n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사주 rev90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사주 n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 ≤4천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b="1" dirty="0">
                          <a:solidFill>
                            <a:srgbClr val="2340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38.0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19,955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b="1" dirty="0">
                          <a:solidFill>
                            <a:srgbClr val="B05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27.1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3,364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 4–8천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b="1" dirty="0">
                          <a:solidFill>
                            <a:srgbClr val="2340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41.7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1,610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b="1" dirty="0">
                          <a:solidFill>
                            <a:srgbClr val="B05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32.2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491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 8–12천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b="1" dirty="0">
                          <a:solidFill>
                            <a:srgbClr val="2340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46.4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4,068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b="1" dirty="0">
                          <a:solidFill>
                            <a:srgbClr val="B05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34.8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2,834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T4 &gt;12천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b="1" dirty="0">
                          <a:solidFill>
                            <a:srgbClr val="2340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45.7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4,968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b="1" dirty="0">
                          <a:solidFill>
                            <a:srgbClr val="B05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38.5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52,018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6D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374904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사주의 88.6%가 T4(&gt;1.2만)에 집중 · 타로의 65%가 T1 — 가격분포가 거의 분리됨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66928" y="4114800"/>
            <a:ext cx="6583680" cy="502920"/>
          </a:xfrm>
          <a:prstGeom prst="roundRect">
            <a:avLst>
              <a:gd name="adj" fmla="val 9091"/>
            </a:avLst>
          </a:prstGeom>
          <a:solidFill>
            <a:srgbClr val="E1F4EF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114800"/>
            <a:ext cx="6263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0E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티어 내 방향은 유지  —  </a:t>
            </a:r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가격대에서 타로≥사주 (rev90). 단 양쪽이 대표성 있는 티어가 없음(타로 T4 16% vs 사주 T1 6% 꼬리끼리 비교).</a:t>
            </a:r>
            <a:endParaRPr lang="en-US" sz="980" dirty="0"/>
          </a:p>
        </p:txBody>
      </p:sp>
      <p:sp>
        <p:nvSpPr>
          <p:cNvPr id="8" name="Shape 5"/>
          <p:cNvSpPr/>
          <p:nvPr/>
        </p:nvSpPr>
        <p:spPr>
          <a:xfrm>
            <a:off x="566928" y="4681728"/>
            <a:ext cx="6583680" cy="502920"/>
          </a:xfrm>
          <a:prstGeom prst="roundRect">
            <a:avLst>
              <a:gd name="adj" fmla="val 9091"/>
            </a:avLst>
          </a:prstGeom>
          <a:solidFill>
            <a:srgbClr val="FBEFD8"/>
          </a:solidFill>
          <a:ln/>
        </p:spPr>
      </p:sp>
      <p:sp>
        <p:nvSpPr>
          <p:cNvPr id="9" name="Text 6"/>
          <p:cNvSpPr/>
          <p:nvPr/>
        </p:nvSpPr>
        <p:spPr>
          <a:xfrm>
            <a:off x="749808" y="4681728"/>
            <a:ext cx="6263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C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Simpson 역전  —  </a:t>
            </a:r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티어 내 타로≥사주지만 집계 retention(순수재방문)은 사주 우위 — 사주 T4 집중 때문.</a:t>
            </a:r>
            <a:endParaRPr lang="en-US" sz="980" dirty="0"/>
          </a:p>
        </p:txBody>
      </p:sp>
      <p:sp>
        <p:nvSpPr>
          <p:cNvPr id="10" name="Shape 7"/>
          <p:cNvSpPr/>
          <p:nvPr/>
        </p:nvSpPr>
        <p:spPr>
          <a:xfrm>
            <a:off x="566928" y="5248656"/>
            <a:ext cx="6583680" cy="502920"/>
          </a:xfrm>
          <a:prstGeom prst="roundRect">
            <a:avLst>
              <a:gd name="adj" fmla="val 9091"/>
            </a:avLst>
          </a:prstGeom>
          <a:solidFill>
            <a:srgbClr val="E8EDF8"/>
          </a:solidFill>
          <a:ln/>
        </p:spPr>
      </p:sp>
      <p:sp>
        <p:nvSpPr>
          <p:cNvPr id="11" name="Text 8"/>
          <p:cNvSpPr/>
          <p:nvPr/>
        </p:nvSpPr>
        <p:spPr>
          <a:xfrm>
            <a:off x="749808" y="5248656"/>
            <a:ext cx="6263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23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가격·콘텐츠 near-collinear  —  </a:t>
            </a:r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중앙값 1,500 vs 18,000. 콘텐츠 내 가격 gradient(타로 38→46, 사주 27→39)가 콘텐츠 격차(±2~3)보다 큼.</a:t>
            </a:r>
            <a:endParaRPr lang="en-US" sz="980" dirty="0"/>
          </a:p>
        </p:txBody>
      </p:sp>
      <p:sp>
        <p:nvSpPr>
          <p:cNvPr id="12" name="Shape 9"/>
          <p:cNvSpPr/>
          <p:nvPr/>
        </p:nvSpPr>
        <p:spPr>
          <a:xfrm>
            <a:off x="7360920" y="1417320"/>
            <a:ext cx="4263847" cy="4206240"/>
          </a:xfrm>
          <a:prstGeom prst="roundRect">
            <a:avLst>
              <a:gd name="adj" fmla="val 1304"/>
            </a:avLst>
          </a:prstGeom>
          <a:solidFill>
            <a:srgbClr val="F4F6FB"/>
          </a:solidFill>
          <a:ln/>
        </p:spPr>
      </p:sp>
      <p:sp>
        <p:nvSpPr>
          <p:cNvPr id="13" name="Text 10"/>
          <p:cNvSpPr/>
          <p:nvPr/>
        </p:nvSpPr>
        <p:spPr>
          <a:xfrm>
            <a:off x="7589520" y="155448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정정된 결론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589520" y="1920240"/>
            <a:ext cx="3834079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"반복=콘텐츠 특성, 가격 아님"은 </a:t>
            </a:r>
            <a:pPr indent="0" marL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과한 단정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
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가격과 콘텐츠는 거의 붙어있어(near-collinear) 깨끗이 분리 불가. retention 지표에선 가격 gradient가 더 크고 사주가 앞선다.
</a:t>
            </a:r>
            <a:pPr indent="0" marL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인과 표현은 강등 — 관찰된 연관일 뿐, A/B 전 단정 금지.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66928" y="647395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HelloBot · A 앱퍼스트 Cross-Sell · REVISION 3 (10-에이전트 리뷰 + BQ 검증 반영) · 2026-06-02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3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생애주기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연령 × topic — 무엇을 사는지는 나이가 가른다</a:t>
            </a:r>
            <a:endParaRPr lang="en-US" sz="2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63040"/>
          <a:ext cx="49377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737360"/>
                <a:gridCol w="173736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연령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연애 rev90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 CI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[38.3, 39.3]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25–34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[41.8, 42.9]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35–44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8C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[45.8, 48.6]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8C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[45.7, 51.5]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37490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연애 진입자의 rev90 — 고연령일수록 단조 상승 (CI 비중첩, 클린 age 14-90)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806440" y="1463040"/>
            <a:ext cx="5818327" cy="96012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5806440" y="1463040"/>
            <a:ext cx="73152" cy="960120"/>
          </a:xfrm>
          <a:prstGeom prst="roundRect">
            <a:avLst>
              <a:gd name="adj" fmla="val 37500"/>
            </a:avLst>
          </a:prstGeom>
          <a:solidFill>
            <a:srgbClr val="23408F"/>
          </a:solidFill>
          <a:ln/>
        </p:spPr>
      </p:sp>
      <p:sp>
        <p:nvSpPr>
          <p:cNvPr id="8" name="Text 5"/>
          <p:cNvSpPr/>
          <p:nvPr/>
        </p:nvSpPr>
        <p:spPr>
          <a:xfrm>
            <a:off x="5989320" y="1554480"/>
            <a:ext cx="55714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10–20대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989320" y="1847088"/>
            <a:ext cx="555315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연애 압도 (진입 비중 최고). 썸·짝사랑 집중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806440" y="2523744"/>
            <a:ext cx="5818327" cy="96012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/>
        </p:spPr>
      </p:sp>
      <p:sp>
        <p:nvSpPr>
          <p:cNvPr id="11" name="Shape 8"/>
          <p:cNvSpPr/>
          <p:nvPr/>
        </p:nvSpPr>
        <p:spPr>
          <a:xfrm>
            <a:off x="5806440" y="2523744"/>
            <a:ext cx="73152" cy="960120"/>
          </a:xfrm>
          <a:prstGeom prst="roundRect">
            <a:avLst>
              <a:gd name="adj" fmla="val 37500"/>
            </a:avLst>
          </a:prstGeom>
          <a:solidFill>
            <a:srgbClr val="0E8C77"/>
          </a:solidFill>
          <a:ln/>
        </p:spPr>
      </p:sp>
      <p:sp>
        <p:nvSpPr>
          <p:cNvPr id="12" name="Text 9"/>
          <p:cNvSpPr/>
          <p:nvPr/>
        </p:nvSpPr>
        <p:spPr>
          <a:xfrm>
            <a:off x="5989320" y="2615184"/>
            <a:ext cx="55714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30대 초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989320" y="2907792"/>
            <a:ext cx="555315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결혼 피크 — 사주 진입자 결혼 lift↑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806440" y="3584448"/>
            <a:ext cx="5818327" cy="96012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/>
        </p:spPr>
      </p:sp>
      <p:sp>
        <p:nvSpPr>
          <p:cNvPr id="15" name="Shape 12"/>
          <p:cNvSpPr/>
          <p:nvPr/>
        </p:nvSpPr>
        <p:spPr>
          <a:xfrm>
            <a:off x="5806440" y="3584448"/>
            <a:ext cx="73152" cy="960120"/>
          </a:xfrm>
          <a:prstGeom prst="roundRect">
            <a:avLst>
              <a:gd name="adj" fmla="val 37500"/>
            </a:avLst>
          </a:prstGeom>
          <a:solidFill>
            <a:srgbClr val="B05A3C"/>
          </a:solidFill>
          <a:ln/>
        </p:spPr>
      </p:sp>
      <p:sp>
        <p:nvSpPr>
          <p:cNvPr id="16" name="Text 13"/>
          <p:cNvSpPr/>
          <p:nvPr/>
        </p:nvSpPr>
        <p:spPr>
          <a:xfrm>
            <a:off x="5989320" y="3675888"/>
            <a:ext cx="55714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0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40대+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989320" y="3968496"/>
            <a:ext cx="555315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재물 급등. 사주 진입자 재물 cross-sell 신호 강함(lift 3.4~6.0)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806440" y="4645152"/>
            <a:ext cx="5818327" cy="96012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/>
        </p:spPr>
      </p:sp>
      <p:sp>
        <p:nvSpPr>
          <p:cNvPr id="19" name="Shape 16"/>
          <p:cNvSpPr/>
          <p:nvPr/>
        </p:nvSpPr>
        <p:spPr>
          <a:xfrm>
            <a:off x="5806440" y="4645152"/>
            <a:ext cx="73152" cy="960120"/>
          </a:xfrm>
          <a:prstGeom prst="roundRect">
            <a:avLst>
              <a:gd name="adj" fmla="val 37500"/>
            </a:avLst>
          </a:prstGeom>
          <a:solidFill>
            <a:srgbClr val="6B7280"/>
          </a:solidFill>
          <a:ln/>
        </p:spPr>
      </p:sp>
      <p:sp>
        <p:nvSpPr>
          <p:cNvPr id="20" name="Text 17"/>
          <p:cNvSpPr/>
          <p:nvPr/>
        </p:nvSpPr>
        <p:spPr>
          <a:xfrm>
            <a:off x="5989320" y="4736592"/>
            <a:ext cx="55714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주의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5989320" y="5029200"/>
            <a:ext cx="555315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'무엇을 사는가'는 연령이 가르나 '재구매율' 자체는 연령차 작음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66928" y="647395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HelloBot · A 앱퍼스트 Cross-Sell · REVISION 3 (10-에이전트 리뷰 + BQ 검증 반영) · 2026-06-02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3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NBO 주제 매트릭스 (정정)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연애 디폴트가 아니라 lift가 신호다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20700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ever-2nd 72,300 풀링 (당일·재방문 주제연관 동일, TV거리 0.025) · lift = conf / topic-prior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54480"/>
          <a:ext cx="68580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97280"/>
                <a:gridCol w="2194560"/>
                <a:gridCol w="210312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1차 topic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→자기주제 conf(lift)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최고 lift cross 후보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연애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54,242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연애 83% (1.15)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prior 자체, 신호 미미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일반운세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3,764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23% (3.60)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8C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재물금전 lift 3.45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학업직업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39% (9.52)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8C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재물금전 lift 3.33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총운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12% (3.88)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8C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재물금전 lift 2.65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재물금전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23% (9.04)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8C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일반운세 lift 3.31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가족자녀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54% (43.0)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일반운세 lift 2.00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" y="44348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prior: 연애 72.4% — 모든 셀 1순위가 연애인 건 자명(base-rate)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635240" y="1554480"/>
            <a:ext cx="3989527" cy="1828800"/>
          </a:xfrm>
          <a:prstGeom prst="roundRect">
            <a:avLst>
              <a:gd name="adj" fmla="val 3000"/>
            </a:avLst>
          </a:prstGeom>
          <a:solidFill>
            <a:srgbClr val="FBEFD8"/>
          </a:solidFill>
          <a:ln/>
        </p:spPr>
      </p:sp>
      <p:sp>
        <p:nvSpPr>
          <p:cNvPr id="8" name="Text 5"/>
          <p:cNvSpPr/>
          <p:nvPr/>
        </p:nvSpPr>
        <p:spPr>
          <a:xfrm>
            <a:off x="7845552" y="166420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연애 디폴트 ≠ 신호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845552" y="1993392"/>
            <a:ext cx="3559759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연애→연애 lift 1.15 — prior(72.4%) 대비 거의 증분 없음. "안전빵"은 어차피 살 것을 추천하는 것.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7635240" y="3520440"/>
            <a:ext cx="3989527" cy="2103120"/>
          </a:xfrm>
          <a:prstGeom prst="roundRect">
            <a:avLst>
              <a:gd name="adj" fmla="val 2609"/>
            </a:avLst>
          </a:prstGeom>
          <a:solidFill>
            <a:srgbClr val="E1F4EF"/>
          </a:solidFill>
          <a:ln/>
        </p:spPr>
      </p:sp>
      <p:sp>
        <p:nvSpPr>
          <p:cNvPr id="11" name="Text 8"/>
          <p:cNvSpPr/>
          <p:nvPr/>
        </p:nvSpPr>
        <p:spPr>
          <a:xfrm>
            <a:off x="7845552" y="3630168"/>
            <a:ext cx="355975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실전 cross-sell = 생활운 클러스터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845552" y="4114800"/>
            <a:ext cx="3559759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8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재물금전·일반운세·학업직업·총운이 서로 lift 2.6~3.5로 교차. 동일계열 고착(가족·자기탐구)도 강함. 여기가 진짜 추천 기회.</a:t>
            </a:r>
            <a:endParaRPr lang="en-US" sz="1080" dirty="0"/>
          </a:p>
        </p:txBody>
      </p:sp>
      <p:sp>
        <p:nvSpPr>
          <p:cNvPr id="13" name="Text 10"/>
          <p:cNvSpPr/>
          <p:nvPr/>
        </p:nvSpPr>
        <p:spPr>
          <a:xfrm>
            <a:off x="566928" y="647395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HelloBot · A 앱퍼스트 Cross-Sell · REVISION 3 (10-에이전트 리뷰 + BQ 검증 반영) · 2026-06-02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형식 전이 · 진짜 재방문 기준 (정정)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사주 → 타로 전이는 자연발생하지 않는다</a:t>
            </a:r>
            <a:endParaRPr lang="en-US" sz="2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63040"/>
          <a:ext cx="5943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01168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1차 → 재방문 2번째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5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타로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5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사주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56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타로 진입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71.8%  (lift 1.50)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26.1%  (0.52)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4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E8B7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사주 진입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34.4%  (lift 0.72)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63.5%  (1.27)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4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315468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진짜 재방문(90일내 첫 다른날, r_ctype) base: 2nd=타로 48.0% · 사주 49.9% · n=34,965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66928" y="361188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형식 모두 자기고착.  </a:t>
            </a:r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사주 진입자가 재방문 시 타로로 가는 비율 34.4% — base(48%)보다 낮다(lift 0.72).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812280" y="1463040"/>
            <a:ext cx="4812487" cy="4069080"/>
          </a:xfrm>
          <a:prstGeom prst="roundRect">
            <a:avLst>
              <a:gd name="adj" fmla="val 1573"/>
            </a:avLst>
          </a:prstGeom>
          <a:solidFill>
            <a:srgbClr val="1B2342"/>
          </a:solidFill>
          <a:ln w="12700">
            <a:solidFill>
              <a:srgbClr val="2B356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40880" y="1627632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9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lift&lt;1 = 낮은 친화도 (가설)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040880" y="201168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0.72는 표면상 </a:t>
            </a:r>
            <a:pPr indent="0" marL="0">
              <a:lnSpc>
                <a:spcPct val="118000"/>
              </a:lnSpc>
              <a:buNone/>
            </a:pPr>
            <a:r>
              <a:rPr lang="en-US" sz="11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"사주 유저는 타로를 덜 산다"</a:t>
            </a:r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는 신호 — 미개척이라 단정 불가.
</a:t>
            </a:r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당일 데이터로 보면 고착이 더 세 보임(0.59) → 진짜재방문 기준이 정확(0.72).
</a:t>
            </a:r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채널 무관 — C 웹온리도 사주→타로 lift 0.72로 동일.
</a:t>
            </a:r>
            <a:pPr indent="0" marL="0">
              <a:lnSpc>
                <a:spcPct val="118000"/>
              </a:lnSpc>
              <a:buNone/>
            </a:pPr>
            <a:r>
              <a:rPr lang="en-US" sz="1180" b="1" dirty="0">
                <a:solidFill>
                  <a:srgbClr val="0E9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미개척이냐 고정선호냐는 A/B로만 판별. "기회"가 아니라 "가설".</a:t>
            </a:r>
            <a:endParaRPr lang="en-US" sz="1180" dirty="0"/>
          </a:p>
        </p:txBody>
      </p:sp>
      <p:sp>
        <p:nvSpPr>
          <p:cNvPr id="10" name="Text 7"/>
          <p:cNvSpPr/>
          <p:nvPr/>
        </p:nvSpPr>
        <p:spPr>
          <a:xfrm>
            <a:off x="566928" y="647395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HelloBot · A 앱퍼스트 Cross-Sell · REVISION 3 (10-에이전트 리뷰 + BQ 검증 반영) · 2026-06-02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3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세그먼트 매트릭스 (정정)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연령 × 형식 → 재방문 2번째 (lift + CI)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20700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진짜 재방문 모집단 n=37,583 · r_topic prior 연애 76.4% · n&lt;300 suppress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54480"/>
          <a:ext cx="69494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188720"/>
                <a:gridCol w="1280160"/>
                <a:gridCol w="1005840"/>
                <a:gridCol w="146304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연령 × 형식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연애 conf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최고 lift cross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&lt;25 × 타로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5,872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8C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25-34 × 타로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4,734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8C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가족자녀 1.53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25-34 × 사주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11,624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05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결혼 1.56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6D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35-44 × 사주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05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재물금전 3.44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6D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45+ × 사주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05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재물금전 6.04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6DE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" y="411480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연애는 전 셀 1순위지만 lift 0.59~1.18(prior 76.4% 대비 증분 미미, 사주·고연령은 &lt;1)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66928" y="4480560"/>
            <a:ext cx="6949440" cy="1097280"/>
          </a:xfrm>
          <a:prstGeom prst="roundRect">
            <a:avLst>
              <a:gd name="adj" fmla="val 5000"/>
            </a:avLst>
          </a:prstGeom>
          <a:solidFill>
            <a:srgbClr val="E1F4EF"/>
          </a:solidFill>
          <a:ln/>
        </p:spPr>
      </p:sp>
      <p:sp>
        <p:nvSpPr>
          <p:cNvPr id="8" name="Text 5"/>
          <p:cNvSpPr/>
          <p:nvPr/>
        </p:nvSpPr>
        <p:spPr>
          <a:xfrm>
            <a:off x="795528" y="4480560"/>
            <a:ext cx="6492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30" b="1" dirty="0">
                <a:solidFill>
                  <a:srgbClr val="0E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실전 신호  </a:t>
            </a:r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고연령·사주 진입자 → 재물금전 (45+ lift 6.04, 35-44 lift 3.44) · 25-34 사주 → 결혼(lift 1.56). 연령이 cross-sell 주제를 가른다.</a:t>
            </a:r>
            <a:endParaRPr lang="en-US" sz="1130" dirty="0"/>
          </a:p>
        </p:txBody>
      </p:sp>
      <p:sp>
        <p:nvSpPr>
          <p:cNvPr id="9" name="Shape 6"/>
          <p:cNvSpPr/>
          <p:nvPr/>
        </p:nvSpPr>
        <p:spPr>
          <a:xfrm>
            <a:off x="7680960" y="1554480"/>
            <a:ext cx="3943807" cy="4023360"/>
          </a:xfrm>
          <a:prstGeom prst="roundRect">
            <a:avLst>
              <a:gd name="adj" fmla="val 1391"/>
            </a:avLst>
          </a:prstGeom>
          <a:solidFill>
            <a:srgbClr val="F4F6FB"/>
          </a:solidFill>
          <a:ln/>
        </p:spPr>
      </p:sp>
      <p:sp>
        <p:nvSpPr>
          <p:cNvPr id="10" name="Text 7"/>
          <p:cNvSpPr/>
          <p:nvPr/>
        </p:nvSpPr>
        <p:spPr>
          <a:xfrm>
            <a:off x="7882128" y="168249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어떻게 읽나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882128" y="2011680"/>
            <a:ext cx="3559759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 = 그 셀의 2번째가 연애일 비율
</a:t>
            </a:r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lift = conf / prior(76.4%). </a:t>
            </a:r>
            <a:pPr indent="0" marL="0">
              <a:lnSpc>
                <a:spcPct val="120000"/>
              </a:lnSpc>
              <a:buNone/>
            </a:pPr>
            <a:r>
              <a:rPr lang="en-US" sz="108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&lt;1이면 연애 추천이 prior보다 못함
</a:t>
            </a:r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그래서 연애 대신 </a:t>
            </a:r>
            <a:pPr indent="0" marL="0">
              <a:lnSpc>
                <a:spcPct val="120000"/>
              </a:lnSpc>
              <a:buNone/>
            </a:pPr>
            <a:r>
              <a:rPr lang="en-US" sz="1080" b="1" dirty="0">
                <a:solidFill>
                  <a:srgbClr val="0E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셀의 고-lift cross 주제</a:t>
            </a:r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를 추천
</a:t>
            </a:r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45+ 타로 등 n&lt;300은 suppress</a:t>
            </a:r>
            <a:endParaRPr lang="en-US" sz="1080" dirty="0"/>
          </a:p>
        </p:txBody>
      </p:sp>
      <p:sp>
        <p:nvSpPr>
          <p:cNvPr id="12" name="Text 9"/>
          <p:cNvSpPr/>
          <p:nvPr/>
        </p:nvSpPr>
        <p:spPr>
          <a:xfrm>
            <a:off x="566928" y="647395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HelloBot · A 앱퍼스트 Cross-Sell · REVISION 3 (10-에이전트 리뷰 + BQ 검증 반영) · 2026-06-02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종합 (REVISION 3)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6가지 핵심 발견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5254600" cy="1280160"/>
          </a:xfrm>
          <a:prstGeom prst="roundRect">
            <a:avLst>
              <a:gd name="adj" fmla="val 5000"/>
            </a:avLst>
          </a:prstGeom>
          <a:solidFill>
            <a:srgbClr val="1B2342"/>
          </a:solidFill>
          <a:ln w="12700">
            <a:solidFill>
              <a:srgbClr val="2B35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" y="1719072"/>
            <a:ext cx="502920" cy="502920"/>
          </a:xfrm>
          <a:prstGeom prst="ellipse">
            <a:avLst/>
          </a:prstGeom>
          <a:solidFill>
            <a:srgbClr val="23408F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" y="1719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81328" y="1645920"/>
            <a:ext cx="415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재구매 = 두 레버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81328" y="2029968"/>
            <a:ext cx="415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C7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당일 업셀 50%(자연발생) vs 재방문 38.4%(rev90, 결정 KPI). 분리 필수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6370168" y="1463040"/>
            <a:ext cx="5254600" cy="1280160"/>
          </a:xfrm>
          <a:prstGeom prst="roundRect">
            <a:avLst>
              <a:gd name="adj" fmla="val 5000"/>
            </a:avLst>
          </a:prstGeom>
          <a:solidFill>
            <a:srgbClr val="1B2342"/>
          </a:solidFill>
          <a:ln w="12700">
            <a:solidFill>
              <a:srgbClr val="2B356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98768" y="1719072"/>
            <a:ext cx="502920" cy="502920"/>
          </a:xfrm>
          <a:prstGeom prst="ellipse">
            <a:avLst/>
          </a:prstGeom>
          <a:solidFill>
            <a:srgbClr val="0E8C77"/>
          </a:solidFill>
          <a:ln/>
        </p:spPr>
      </p:sp>
      <p:sp>
        <p:nvSpPr>
          <p:cNvPr id="11" name="Text 9"/>
          <p:cNvSpPr/>
          <p:nvPr/>
        </p:nvSpPr>
        <p:spPr>
          <a:xfrm>
            <a:off x="6598768" y="1719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284568" y="1645920"/>
            <a:ext cx="415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연애는 prior, 신호 아님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284568" y="2029968"/>
            <a:ext cx="415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C7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진입 72% + 2번째도 72% → 연애 추천 lift 1.15(증분 미미)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566928" y="2971800"/>
            <a:ext cx="5254600" cy="1280160"/>
          </a:xfrm>
          <a:prstGeom prst="roundRect">
            <a:avLst>
              <a:gd name="adj" fmla="val 5000"/>
            </a:avLst>
          </a:prstGeom>
          <a:solidFill>
            <a:srgbClr val="1B2342"/>
          </a:solidFill>
          <a:ln w="12700">
            <a:solidFill>
              <a:srgbClr val="2B35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5528" y="3227832"/>
            <a:ext cx="502920" cy="502920"/>
          </a:xfrm>
          <a:prstGeom prst="ellipse">
            <a:avLst/>
          </a:prstGeom>
          <a:solidFill>
            <a:srgbClr val="B05A3C"/>
          </a:solidFill>
          <a:ln/>
        </p:spPr>
      </p:sp>
      <p:sp>
        <p:nvSpPr>
          <p:cNvPr id="16" name="Text 14"/>
          <p:cNvSpPr/>
          <p:nvPr/>
        </p:nvSpPr>
        <p:spPr>
          <a:xfrm>
            <a:off x="795528" y="3227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81328" y="3154680"/>
            <a:ext cx="415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타로=당일 / 사주=재방문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81328" y="3538728"/>
            <a:ext cx="415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C7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순수 retention은 사주가 +4.0 우위. '타로 반복'은 당일 업셀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6370168" y="2971800"/>
            <a:ext cx="5254600" cy="1280160"/>
          </a:xfrm>
          <a:prstGeom prst="roundRect">
            <a:avLst>
              <a:gd name="adj" fmla="val 5000"/>
            </a:avLst>
          </a:prstGeom>
          <a:solidFill>
            <a:srgbClr val="1B2342"/>
          </a:solidFill>
          <a:ln w="12700">
            <a:solidFill>
              <a:srgbClr val="2B356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98768" y="3227832"/>
            <a:ext cx="502920" cy="502920"/>
          </a:xfrm>
          <a:prstGeom prst="ellipse">
            <a:avLst/>
          </a:prstGeom>
          <a:solidFill>
            <a:srgbClr val="0E9E84"/>
          </a:solidFill>
          <a:ln/>
        </p:spPr>
      </p:sp>
      <p:sp>
        <p:nvSpPr>
          <p:cNvPr id="21" name="Text 19"/>
          <p:cNvSpPr/>
          <p:nvPr/>
        </p:nvSpPr>
        <p:spPr>
          <a:xfrm>
            <a:off x="6598768" y="3227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284568" y="3154680"/>
            <a:ext cx="415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사주→타로 lift 0.72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284568" y="3538728"/>
            <a:ext cx="415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C7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진짜재방문 기준. 낮은 친화도(가설) — A/B로만 판별. 채널 무관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566928" y="4480560"/>
            <a:ext cx="5254600" cy="1280160"/>
          </a:xfrm>
          <a:prstGeom prst="roundRect">
            <a:avLst>
              <a:gd name="adj" fmla="val 5000"/>
            </a:avLst>
          </a:prstGeom>
          <a:solidFill>
            <a:srgbClr val="1B2342"/>
          </a:solidFill>
          <a:ln w="12700">
            <a:solidFill>
              <a:srgbClr val="2B356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5528" y="4736592"/>
            <a:ext cx="502920" cy="502920"/>
          </a:xfrm>
          <a:prstGeom prst="ellipse">
            <a:avLst/>
          </a:prstGeom>
          <a:solidFill>
            <a:srgbClr val="C8841A"/>
          </a:solidFill>
          <a:ln/>
        </p:spPr>
      </p:sp>
      <p:sp>
        <p:nvSpPr>
          <p:cNvPr id="26" name="Text 24"/>
          <p:cNvSpPr/>
          <p:nvPr/>
        </p:nvSpPr>
        <p:spPr>
          <a:xfrm>
            <a:off x="795528" y="4736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481328" y="4663440"/>
            <a:ext cx="415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생활운 클러스터 = 기회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481328" y="5047488"/>
            <a:ext cx="415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C7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재물·일반·학업·총운 교차 lift 2.6~3.5. 고연령 사주→재물 6.0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6370168" y="4480560"/>
            <a:ext cx="5254600" cy="1280160"/>
          </a:xfrm>
          <a:prstGeom prst="roundRect">
            <a:avLst>
              <a:gd name="adj" fmla="val 5000"/>
            </a:avLst>
          </a:prstGeom>
          <a:solidFill>
            <a:srgbClr val="1B2342"/>
          </a:solidFill>
          <a:ln w="12700">
            <a:solidFill>
              <a:srgbClr val="2B356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98768" y="4736592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1" name="Text 29"/>
          <p:cNvSpPr/>
          <p:nvPr/>
        </p:nvSpPr>
        <p:spPr>
          <a:xfrm>
            <a:off x="6598768" y="4736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284568" y="4663440"/>
            <a:ext cx="415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기반은 견고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284568" y="5047488"/>
            <a:ext cx="415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C7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maturity·좌측절단·dedup BQ 검증 통과. 헤드라인 rate 신뢰</a:t>
            </a:r>
            <a:endParaRPr lang="en-US" sz="1080" dirty="0"/>
          </a:p>
        </p:txBody>
      </p:sp>
      <p:sp>
        <p:nvSpPr>
          <p:cNvPr id="34" name="Text 32"/>
          <p:cNvSpPr/>
          <p:nvPr/>
        </p:nvSpPr>
        <p:spPr>
          <a:xfrm>
            <a:off x="566928" y="647395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HelloBot · A 앱퍼스트 Cross-Sell · REVISION 3 (10-에이전트 리뷰 + BQ 검증 반영) · 2026-06-02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3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 우선순위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lift 기준으로 재정렬한 추천 룰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3503066" cy="3931920"/>
          </a:xfrm>
          <a:prstGeom prst="roundRect">
            <a:avLst>
              <a:gd name="adj" fmla="val 1827"/>
            </a:avLst>
          </a:prstGeom>
          <a:solidFill>
            <a:srgbClr val="FFFFFF"/>
          </a:solidFill>
          <a:ln w="12700">
            <a:solidFill>
              <a:srgbClr val="DEE4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417320"/>
            <a:ext cx="3503066" cy="713232"/>
          </a:xfrm>
          <a:prstGeom prst="roundRect">
            <a:avLst>
              <a:gd name="adj" fmla="val 8974"/>
            </a:avLst>
          </a:prstGeom>
          <a:solidFill>
            <a:srgbClr val="0E8C77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783080"/>
            <a:ext cx="3503066" cy="347472"/>
          </a:xfrm>
          <a:prstGeom prst="rect">
            <a:avLst/>
          </a:prstGeom>
          <a:solidFill>
            <a:srgbClr val="0E8C77"/>
          </a:solidFill>
          <a:ln/>
        </p:spPr>
      </p:sp>
      <p:sp>
        <p:nvSpPr>
          <p:cNvPr id="7" name="Text 5"/>
          <p:cNvSpPr/>
          <p:nvPr/>
        </p:nvSpPr>
        <p:spPr>
          <a:xfrm>
            <a:off x="795528" y="1417320"/>
            <a:ext cx="313730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생활운 클러스터 (즉시)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95528" y="2286000"/>
            <a:ext cx="304586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고-lift cross 주제 추천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3035808"/>
            <a:ext cx="82296" cy="82296"/>
          </a:xfrm>
          <a:prstGeom prst="ellipse">
            <a:avLst/>
          </a:prstGeom>
          <a:solidFill>
            <a:srgbClr val="0E8C77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953512"/>
            <a:ext cx="28629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재물·일반운세·학업·총운 교차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822960" y="3584448"/>
            <a:ext cx="82296" cy="82296"/>
          </a:xfrm>
          <a:prstGeom prst="ellipse">
            <a:avLst/>
          </a:prstGeom>
          <a:solidFill>
            <a:srgbClr val="0E8C77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502152"/>
            <a:ext cx="28629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고연령 사주 → 재물(lift 3~6)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822960" y="4133088"/>
            <a:ext cx="82296" cy="82296"/>
          </a:xfrm>
          <a:prstGeom prst="ellipse">
            <a:avLst/>
          </a:prstGeom>
          <a:solidFill>
            <a:srgbClr val="0E8C77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4050792"/>
            <a:ext cx="28629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근거: NBO lift&gt;2.6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795528" y="4690872"/>
            <a:ext cx="3045866" cy="475488"/>
          </a:xfrm>
          <a:prstGeom prst="roundRect">
            <a:avLst>
              <a:gd name="adj" fmla="val 9615"/>
            </a:avLst>
          </a:prstGeom>
          <a:solidFill>
            <a:srgbClr val="E1F4EF"/>
          </a:solidFill>
          <a:ln/>
        </p:spPr>
      </p:sp>
      <p:sp>
        <p:nvSpPr>
          <p:cNvPr id="16" name="Text 14"/>
          <p:cNvSpPr/>
          <p:nvPr/>
        </p:nvSpPr>
        <p:spPr>
          <a:xfrm>
            <a:off x="886968" y="4690872"/>
            <a:ext cx="286298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0E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증분 효과 큼 · 1순위</a:t>
            </a:r>
            <a:endParaRPr lang="en-US" sz="1030" dirty="0"/>
          </a:p>
        </p:txBody>
      </p:sp>
      <p:sp>
        <p:nvSpPr>
          <p:cNvPr id="17" name="Shape 15"/>
          <p:cNvSpPr/>
          <p:nvPr/>
        </p:nvSpPr>
        <p:spPr>
          <a:xfrm>
            <a:off x="4344314" y="1417320"/>
            <a:ext cx="3503066" cy="3931920"/>
          </a:xfrm>
          <a:prstGeom prst="roundRect">
            <a:avLst>
              <a:gd name="adj" fmla="val 1827"/>
            </a:avLst>
          </a:prstGeom>
          <a:solidFill>
            <a:srgbClr val="FFFFFF"/>
          </a:solidFill>
          <a:ln w="12700">
            <a:solidFill>
              <a:srgbClr val="DEE4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44314" y="1417320"/>
            <a:ext cx="3503066" cy="713232"/>
          </a:xfrm>
          <a:prstGeom prst="roundRect">
            <a:avLst>
              <a:gd name="adj" fmla="val 8974"/>
            </a:avLst>
          </a:prstGeom>
          <a:solidFill>
            <a:srgbClr val="B05A3C"/>
          </a:solidFill>
          <a:ln/>
        </p:spPr>
      </p:sp>
      <p:sp>
        <p:nvSpPr>
          <p:cNvPr id="19" name="Shape 17"/>
          <p:cNvSpPr/>
          <p:nvPr/>
        </p:nvSpPr>
        <p:spPr>
          <a:xfrm>
            <a:off x="4344314" y="1783080"/>
            <a:ext cx="3503066" cy="347472"/>
          </a:xfrm>
          <a:prstGeom prst="rect">
            <a:avLst/>
          </a:prstGeom>
          <a:solidFill>
            <a:srgbClr val="B05A3C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914" y="1417320"/>
            <a:ext cx="313730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사주→타로 A/B (검증)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572914" y="2286000"/>
            <a:ext cx="304586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사주 진입자 타로 노출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00346" y="3035808"/>
            <a:ext cx="82296" cy="82296"/>
          </a:xfrm>
          <a:prstGeom prst="ellipse">
            <a:avLst/>
          </a:prstGeom>
          <a:solidFill>
            <a:srgbClr val="B05A3C"/>
          </a:solidFill>
          <a:ln/>
        </p:spPr>
      </p:sp>
      <p:sp>
        <p:nvSpPr>
          <p:cNvPr id="23" name="Text 21"/>
          <p:cNvSpPr/>
          <p:nvPr/>
        </p:nvSpPr>
        <p:spPr>
          <a:xfrm>
            <a:off x="4783226" y="2953512"/>
            <a:ext cx="28629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타로 retention 우위 아님(정정)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4600346" y="3584448"/>
            <a:ext cx="82296" cy="82296"/>
          </a:xfrm>
          <a:prstGeom prst="ellipse">
            <a:avLst/>
          </a:prstGeom>
          <a:solidFill>
            <a:srgbClr val="B05A3C"/>
          </a:solidFill>
          <a:ln/>
        </p:spPr>
      </p:sp>
      <p:sp>
        <p:nvSpPr>
          <p:cNvPr id="25" name="Text 23"/>
          <p:cNvSpPr/>
          <p:nvPr/>
        </p:nvSpPr>
        <p:spPr>
          <a:xfrm>
            <a:off x="4783226" y="3502152"/>
            <a:ext cx="28629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0.72 = 낮은 친화도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4600346" y="4133088"/>
            <a:ext cx="82296" cy="82296"/>
          </a:xfrm>
          <a:prstGeom prst="ellipse">
            <a:avLst/>
          </a:prstGeom>
          <a:solidFill>
            <a:srgbClr val="B05A3C"/>
          </a:solidFill>
          <a:ln/>
        </p:spPr>
      </p:sp>
      <p:sp>
        <p:nvSpPr>
          <p:cNvPr id="27" name="Text 25"/>
          <p:cNvSpPr/>
          <p:nvPr/>
        </p:nvSpPr>
        <p:spPr>
          <a:xfrm>
            <a:off x="4783226" y="4050792"/>
            <a:ext cx="28629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효과 불확실 → holdout 필수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4572914" y="4690872"/>
            <a:ext cx="3045866" cy="475488"/>
          </a:xfrm>
          <a:prstGeom prst="roundRect">
            <a:avLst>
              <a:gd name="adj" fmla="val 9615"/>
            </a:avLst>
          </a:prstGeom>
          <a:solidFill>
            <a:srgbClr val="F6E6DE"/>
          </a:solidFill>
          <a:ln/>
        </p:spPr>
      </p:sp>
      <p:sp>
        <p:nvSpPr>
          <p:cNvPr id="29" name="Text 27"/>
          <p:cNvSpPr/>
          <p:nvPr/>
        </p:nvSpPr>
        <p:spPr>
          <a:xfrm>
            <a:off x="4664354" y="4690872"/>
            <a:ext cx="286298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B0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기회 아닌 가설 검증</a:t>
            </a:r>
            <a:endParaRPr lang="en-US" sz="1030" dirty="0"/>
          </a:p>
        </p:txBody>
      </p:sp>
      <p:sp>
        <p:nvSpPr>
          <p:cNvPr id="30" name="Shape 28"/>
          <p:cNvSpPr/>
          <p:nvPr/>
        </p:nvSpPr>
        <p:spPr>
          <a:xfrm>
            <a:off x="8121701" y="1417320"/>
            <a:ext cx="3503066" cy="3931920"/>
          </a:xfrm>
          <a:prstGeom prst="roundRect">
            <a:avLst>
              <a:gd name="adj" fmla="val 1827"/>
            </a:avLst>
          </a:prstGeom>
          <a:solidFill>
            <a:srgbClr val="FFFFFF"/>
          </a:solidFill>
          <a:ln w="12700">
            <a:solidFill>
              <a:srgbClr val="DEE4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21701" y="1417320"/>
            <a:ext cx="3503066" cy="713232"/>
          </a:xfrm>
          <a:prstGeom prst="roundRect">
            <a:avLst>
              <a:gd name="adj" fmla="val 8974"/>
            </a:avLst>
          </a:prstGeom>
          <a:solidFill>
            <a:srgbClr val="23408F"/>
          </a:solidFill>
          <a:ln/>
        </p:spPr>
      </p:sp>
      <p:sp>
        <p:nvSpPr>
          <p:cNvPr id="32" name="Shape 30"/>
          <p:cNvSpPr/>
          <p:nvPr/>
        </p:nvSpPr>
        <p:spPr>
          <a:xfrm>
            <a:off x="8121701" y="1783080"/>
            <a:ext cx="3503066" cy="347472"/>
          </a:xfrm>
          <a:prstGeom prst="rect">
            <a:avLst/>
          </a:prstGeom>
          <a:solidFill>
            <a:srgbClr val="23408F"/>
          </a:solidFill>
          <a:ln/>
        </p:spPr>
      </p:sp>
      <p:sp>
        <p:nvSpPr>
          <p:cNvPr id="33" name="Text 31"/>
          <p:cNvSpPr/>
          <p:nvPr/>
        </p:nvSpPr>
        <p:spPr>
          <a:xfrm>
            <a:off x="8350301" y="1417320"/>
            <a:ext cx="313730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연애·당일 레버 (운영)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8350301" y="2286000"/>
            <a:ext cx="304586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활용 + 당일 업셀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377733" y="3035808"/>
            <a:ext cx="82296" cy="82296"/>
          </a:xfrm>
          <a:prstGeom prst="ellipse">
            <a:avLst/>
          </a:prstGeom>
          <a:solidFill>
            <a:srgbClr val="23408F"/>
          </a:solidFill>
          <a:ln/>
        </p:spPr>
      </p:sp>
      <p:sp>
        <p:nvSpPr>
          <p:cNvPr id="36" name="Text 34"/>
          <p:cNvSpPr/>
          <p:nvPr/>
        </p:nvSpPr>
        <p:spPr>
          <a:xfrm>
            <a:off x="8560613" y="2953512"/>
            <a:ext cx="28629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연애는 안전 baseline(신호X)</a:t>
            </a:r>
            <a:endParaRPr lang="en-US" sz="1020" dirty="0"/>
          </a:p>
        </p:txBody>
      </p:sp>
      <p:sp>
        <p:nvSpPr>
          <p:cNvPr id="37" name="Shape 35"/>
          <p:cNvSpPr/>
          <p:nvPr/>
        </p:nvSpPr>
        <p:spPr>
          <a:xfrm>
            <a:off x="8377733" y="3584448"/>
            <a:ext cx="82296" cy="82296"/>
          </a:xfrm>
          <a:prstGeom prst="ellipse">
            <a:avLst/>
          </a:prstGeom>
          <a:solidFill>
            <a:srgbClr val="23408F"/>
          </a:solidFill>
          <a:ln/>
        </p:spPr>
      </p:sp>
      <p:sp>
        <p:nvSpPr>
          <p:cNvPr id="38" name="Text 36"/>
          <p:cNvSpPr/>
          <p:nvPr/>
        </p:nvSpPr>
        <p:spPr>
          <a:xfrm>
            <a:off x="8560613" y="3502152"/>
            <a:ext cx="28629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당일=결제직후 / 재방문=푸시</a:t>
            </a:r>
            <a:endParaRPr lang="en-US" sz="1020" dirty="0"/>
          </a:p>
        </p:txBody>
      </p:sp>
      <p:sp>
        <p:nvSpPr>
          <p:cNvPr id="39" name="Shape 37"/>
          <p:cNvSpPr/>
          <p:nvPr/>
        </p:nvSpPr>
        <p:spPr>
          <a:xfrm>
            <a:off x="8377733" y="4133088"/>
            <a:ext cx="82296" cy="82296"/>
          </a:xfrm>
          <a:prstGeom prst="ellipse">
            <a:avLst/>
          </a:prstGeom>
          <a:solidFill>
            <a:srgbClr val="23408F"/>
          </a:solidFill>
          <a:ln/>
        </p:spPr>
      </p:sp>
      <p:sp>
        <p:nvSpPr>
          <p:cNvPr id="40" name="Text 38"/>
          <p:cNvSpPr/>
          <p:nvPr/>
        </p:nvSpPr>
        <p:spPr>
          <a:xfrm>
            <a:off x="8560613" y="4050792"/>
            <a:ext cx="28629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클러스터 보조</a:t>
            </a:r>
            <a:endParaRPr lang="en-US" sz="1020" dirty="0"/>
          </a:p>
        </p:txBody>
      </p:sp>
      <p:sp>
        <p:nvSpPr>
          <p:cNvPr id="41" name="Shape 39"/>
          <p:cNvSpPr/>
          <p:nvPr/>
        </p:nvSpPr>
        <p:spPr>
          <a:xfrm>
            <a:off x="8350301" y="4690872"/>
            <a:ext cx="3045866" cy="475488"/>
          </a:xfrm>
          <a:prstGeom prst="roundRect">
            <a:avLst>
              <a:gd name="adj" fmla="val 9615"/>
            </a:avLst>
          </a:prstGeom>
          <a:solidFill>
            <a:srgbClr val="E8EDF8"/>
          </a:solidFill>
          <a:ln/>
        </p:spPr>
      </p:sp>
      <p:sp>
        <p:nvSpPr>
          <p:cNvPr id="42" name="Text 40"/>
          <p:cNvSpPr/>
          <p:nvPr/>
        </p:nvSpPr>
        <p:spPr>
          <a:xfrm>
            <a:off x="8441741" y="4690872"/>
            <a:ext cx="286298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23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증분 작음 · 운영 기본</a:t>
            </a:r>
            <a:endParaRPr lang="en-US" sz="1030" dirty="0"/>
          </a:p>
        </p:txBody>
      </p:sp>
      <p:sp>
        <p:nvSpPr>
          <p:cNvPr id="43" name="Text 41"/>
          <p:cNvSpPr/>
          <p:nvPr/>
        </p:nvSpPr>
        <p:spPr>
          <a:xfrm>
            <a:off x="566928" y="647395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HelloBot · A 앱퍼스트 Cross-Sell · REVISION 3 (10-에이전트 리뷰 + BQ 검증 반영) · 2026-06-02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3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단계 &amp; 한계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5 + 해석 유의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5852160" cy="4114800"/>
          </a:xfrm>
          <a:prstGeom prst="roundRect">
            <a:avLst>
              <a:gd name="adj" fmla="val 1333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72768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— Phase 5 (A/B 설계)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41248" y="2011680"/>
            <a:ext cx="118872" cy="118872"/>
          </a:xfrm>
          <a:prstGeom prst="rect">
            <a:avLst/>
          </a:prstGeom>
          <a:solidFill>
            <a:srgbClr val="23408F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929384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3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생활운 클러스터 추천 — </a:t>
            </a:r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고-lift cross 주제 추천 — 노출위치·표본·지표(rev90↑)·holdout</a:t>
            </a:r>
            <a:endParaRPr lang="en-US" sz="1130" dirty="0"/>
          </a:p>
        </p:txBody>
      </p:sp>
      <p:sp>
        <p:nvSpPr>
          <p:cNvPr id="8" name="Shape 6"/>
          <p:cNvSpPr/>
          <p:nvPr/>
        </p:nvSpPr>
        <p:spPr>
          <a:xfrm>
            <a:off x="841248" y="2852928"/>
            <a:ext cx="118872" cy="118872"/>
          </a:xfrm>
          <a:prstGeom prst="rect">
            <a:avLst/>
          </a:prstGeom>
          <a:solidFill>
            <a:srgbClr val="23408F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770632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3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사주→타로 실험 — </a:t>
            </a:r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0.72가 미개척인지 고정선호인지 A/B로 판별</a:t>
            </a:r>
            <a:endParaRPr lang="en-US" sz="1130" dirty="0"/>
          </a:p>
        </p:txBody>
      </p:sp>
      <p:sp>
        <p:nvSpPr>
          <p:cNvPr id="10" name="Shape 8"/>
          <p:cNvSpPr/>
          <p:nvPr/>
        </p:nvSpPr>
        <p:spPr>
          <a:xfrm>
            <a:off x="841248" y="3694176"/>
            <a:ext cx="118872" cy="118872"/>
          </a:xfrm>
          <a:prstGeom prst="rect">
            <a:avLst/>
          </a:prstGeom>
          <a:solidFill>
            <a:srgbClr val="23408F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61188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3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클러스터 재계산 — </a:t>
            </a:r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연애 intent 전이(속마음↔썸)는 rev3 재계산 후 적용(현재 보류)</a:t>
            </a:r>
            <a:endParaRPr lang="en-US" sz="1130" dirty="0"/>
          </a:p>
        </p:txBody>
      </p:sp>
      <p:sp>
        <p:nvSpPr>
          <p:cNvPr id="12" name="Shape 10"/>
          <p:cNvSpPr/>
          <p:nvPr/>
        </p:nvSpPr>
        <p:spPr>
          <a:xfrm>
            <a:off x="841248" y="4535424"/>
            <a:ext cx="118872" cy="118872"/>
          </a:xfrm>
          <a:prstGeom prst="rect">
            <a:avLst/>
          </a:prstGeom>
          <a:solidFill>
            <a:srgbClr val="23408F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4453128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3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당일 vs 재방문 별도 레버 — </a:t>
            </a:r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당일=결제직후 추천 / 재방문=푸시·홈탭</a:t>
            </a:r>
            <a:endParaRPr lang="en-US" sz="1130" dirty="0"/>
          </a:p>
        </p:txBody>
      </p:sp>
      <p:sp>
        <p:nvSpPr>
          <p:cNvPr id="14" name="Shape 12"/>
          <p:cNvSpPr/>
          <p:nvPr/>
        </p:nvSpPr>
        <p:spPr>
          <a:xfrm>
            <a:off x="6629400" y="1417320"/>
            <a:ext cx="4995367" cy="4114800"/>
          </a:xfrm>
          <a:prstGeom prst="roundRect">
            <a:avLst>
              <a:gd name="adj" fmla="val 1333"/>
            </a:avLst>
          </a:prstGeom>
          <a:solidFill>
            <a:srgbClr val="FBEFD8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0" y="1572768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해석 시 유의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0" y="1938528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086600" y="1920240"/>
            <a:ext cx="4382719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3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재방문 = rev90(90일내) — </a:t>
            </a:r>
            <a:pPr indent="0" marL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평생 2회(ever 73.5%)나 23,049 base 아님. 전이·추천 전부 rev90/진짜재방문 기준</a:t>
            </a:r>
            <a:endParaRPr lang="en-US" sz="1030" dirty="0"/>
          </a:p>
        </p:txBody>
      </p:sp>
      <p:sp>
        <p:nvSpPr>
          <p:cNvPr id="18" name="Text 16"/>
          <p:cNvSpPr/>
          <p:nvPr/>
        </p:nvSpPr>
        <p:spPr>
          <a:xfrm>
            <a:off x="6858000" y="2670048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086600" y="2651760"/>
            <a:ext cx="4382719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3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연애 디폴트는 prior — </a:t>
            </a:r>
            <a:pPr indent="0" marL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1.15 — 추천 신호가 아니라 인기. cross-sell은 고-lift 주제</a:t>
            </a:r>
            <a:endParaRPr lang="en-US" sz="1030" dirty="0"/>
          </a:p>
        </p:txBody>
      </p:sp>
      <p:sp>
        <p:nvSpPr>
          <p:cNvPr id="20" name="Text 18"/>
          <p:cNvSpPr/>
          <p:nvPr/>
        </p:nvSpPr>
        <p:spPr>
          <a:xfrm>
            <a:off x="6858000" y="3401568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086600" y="3383280"/>
            <a:ext cx="4382719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3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lift는 상관, 인과 아님 — </a:t>
            </a:r>
            <a:pPr indent="0" marL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전이·추천 lift는 관찰값. 추천 효과는 A/B로만</a:t>
            </a:r>
            <a:endParaRPr lang="en-US" sz="1030" dirty="0"/>
          </a:p>
        </p:txBody>
      </p:sp>
      <p:sp>
        <p:nvSpPr>
          <p:cNvPr id="22" name="Text 20"/>
          <p:cNvSpPr/>
          <p:nvPr/>
        </p:nvSpPr>
        <p:spPr>
          <a:xfrm>
            <a:off x="6858000" y="4133088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086600" y="4114800"/>
            <a:ext cx="4382719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3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콘텐츠 vs 가격 near-collinear — </a:t>
            </a:r>
            <a:pPr indent="0" marL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"콘텐츠가 본질" 단정 강등. retention은 사주 우위·가격 gradient 큼</a:t>
            </a:r>
            <a:endParaRPr lang="en-US" sz="1030" dirty="0"/>
          </a:p>
        </p:txBody>
      </p:sp>
      <p:sp>
        <p:nvSpPr>
          <p:cNvPr id="24" name="Text 22"/>
          <p:cNvSpPr/>
          <p:nvPr/>
        </p:nvSpPr>
        <p:spPr>
          <a:xfrm>
            <a:off x="6858000" y="4864608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086600" y="4846320"/>
            <a:ext cx="4382719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3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성별 폐기 · age 14-90 클린 — </a:t>
            </a:r>
            <a:pPr indent="0" marL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3.3%. user_age 오염(ISS-050) 필터 후 사용</a:t>
            </a:r>
            <a:endParaRPr lang="en-US" sz="1030" dirty="0"/>
          </a:p>
        </p:txBody>
      </p:sp>
      <p:sp>
        <p:nvSpPr>
          <p:cNvPr id="26" name="Text 24"/>
          <p:cNvSpPr/>
          <p:nvPr/>
        </p:nvSpPr>
        <p:spPr>
          <a:xfrm>
            <a:off x="566928" y="647395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HelloBot · A 앱퍼스트 Cross-Sell · REVISION 3 (10-에이전트 리뷰 + BQ 검증 반영) · 2026-06-02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app-first Cross-Sell 분석 리뷰 REVISION 3</dc:title>
  <dc:subject>PptxGenJS Presentation</dc:subject>
  <dc:creator>HelloBot Data</dc:creator>
  <cp:lastModifiedBy>HelloBot Data</cp:lastModifiedBy>
  <cp:revision>1</cp:revision>
  <dcterms:created xsi:type="dcterms:W3CDTF">2026-06-01T17:27:51Z</dcterms:created>
  <dcterms:modified xsi:type="dcterms:W3CDTF">2026-06-01T17:27:51Z</dcterms:modified>
</cp:coreProperties>
</file>