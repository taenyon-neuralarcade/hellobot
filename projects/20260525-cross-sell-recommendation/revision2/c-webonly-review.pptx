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914400"/>
            <a:ext cx="146304" cy="146304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914400"/>
            <a:ext cx="146304" cy="146304"/>
          </a:xfrm>
          <a:prstGeom prst="ellipse">
            <a:avLst/>
          </a:prstGeom>
          <a:solidFill>
            <a:srgbClr val="B05A3C"/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" y="914400"/>
            <a:ext cx="146304" cy="146304"/>
          </a:xfrm>
          <a:prstGeom prst="ellipse">
            <a:avLst/>
          </a:prstGeom>
          <a:solidFill>
            <a:srgbClr val="0E8C77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234440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데이터 분석 (/dev-data)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691640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웹 1회 구매자 → 2회차 전환 분석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66928" y="260604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웹온리 심층 분석 리뷰  ·  A 앱퍼스트와 동일 프레임워크  ·  pay_for_ only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66928" y="4023360"/>
            <a:ext cx="3503066" cy="1234440"/>
          </a:xfrm>
          <a:prstGeom prst="roundRect">
            <a:avLst>
              <a:gd name="adj" fmla="val 5926"/>
            </a:avLst>
          </a:prstGeom>
          <a:solidFill>
            <a:srgbClr val="1C2547"/>
          </a:solidFill>
          <a:ln w="12700">
            <a:solidFill>
              <a:srgbClr val="2E3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4206240"/>
            <a:ext cx="31007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289,983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68096" y="4828032"/>
            <a:ext cx="3100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웹온리 신규 코호트 (A의 약 3배)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4314" y="4023360"/>
            <a:ext cx="3503066" cy="1234440"/>
          </a:xfrm>
          <a:prstGeom prst="roundRect">
            <a:avLst>
              <a:gd name="adj" fmla="val 5926"/>
            </a:avLst>
          </a:prstGeom>
          <a:solidFill>
            <a:srgbClr val="1C2547"/>
          </a:solidFill>
          <a:ln w="12700">
            <a:solidFill>
              <a:srgbClr val="2E3A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5482" y="4206240"/>
            <a:ext cx="31007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13.1%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45482" y="4828032"/>
            <a:ext cx="3100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재방문 재구매율 (A 38.4%의 1/3)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21701" y="4023360"/>
            <a:ext cx="3503066" cy="1234440"/>
          </a:xfrm>
          <a:prstGeom prst="roundRect">
            <a:avLst>
              <a:gd name="adj" fmla="val 5926"/>
            </a:avLst>
          </a:prstGeom>
          <a:solidFill>
            <a:srgbClr val="1C2547"/>
          </a:solidFill>
          <a:ln w="12700">
            <a:solidFill>
              <a:srgbClr val="2E3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2869" y="4206240"/>
            <a:ext cx="31007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1회성 모집단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22869" y="4828032"/>
            <a:ext cx="3100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75.5%가 2회차 없음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8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정의: 첫 콘텐츠결제(pay_for_)가 WEB &amp; 앱 결제 이력 0 (웹온리) · 첫구매 2024-03-02~2026-03-02 (90일 성숙) · A 분석과 동일 척도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대비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웹온리 = 3배 규모, 1/3 재구매</a:t>
            </a:r>
            <a:endParaRPr lang="en-US" sz="2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54864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691640"/>
                <a:gridCol w="16916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앱퍼스트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웹온리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코호트 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98,392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289,983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 2회차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any90 (당일포함)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rev90 (재방문)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sameday (당일)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당일/재방문 비중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/ 23%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 / 14%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2회차까지 median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074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앱퍼스트 vs C 웹온리 — 재구매 프로파일 (pay_for_ only)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263640" y="1417320"/>
            <a:ext cx="5342839" cy="1298448"/>
          </a:xfrm>
          <a:prstGeom prst="roundRect">
            <a:avLst>
              <a:gd name="adj" fmla="val 4225"/>
            </a:avLst>
          </a:prstGeom>
          <a:solidFill>
            <a:srgbClr val="FBEFD8"/>
          </a:solidFill>
          <a:ln/>
        </p:spPr>
      </p:sp>
      <p:sp>
        <p:nvSpPr>
          <p:cNvPr id="7" name="Text 4"/>
          <p:cNvSpPr/>
          <p:nvPr/>
        </p:nvSpPr>
        <p:spPr>
          <a:xfrm>
            <a:off x="6473952" y="1545336"/>
            <a:ext cx="49313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규모는 크지만 1회성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73952" y="1874520"/>
            <a:ext cx="488563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C는 290K로 A의 약 3배 — 콘텐츠 구매자 최대 모집단. 그러나 75.5%가 2회차 없음. 웹 마케팅 유입의 1회성 전환 성격 (H7 검증).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63640" y="2825496"/>
            <a:ext cx="5342839" cy="1298448"/>
          </a:xfrm>
          <a:prstGeom prst="roundRect">
            <a:avLst>
              <a:gd name="adj" fmla="val 4225"/>
            </a:avLst>
          </a:prstGeom>
          <a:solidFill>
            <a:srgbClr val="ECE8F2"/>
          </a:solidFill>
          <a:ln/>
        </p:spPr>
      </p:sp>
      <p:sp>
        <p:nvSpPr>
          <p:cNvPr id="10" name="Text 7"/>
          <p:cNvSpPr/>
          <p:nvPr/>
        </p:nvSpPr>
        <p:spPr>
          <a:xfrm>
            <a:off x="6473952" y="2953512"/>
            <a:ext cx="49313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A와 정반대 패턴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73952" y="3282696"/>
            <a:ext cx="488563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A는 당일 업셀(50%)이 지배. C는 당일이 10%뿐이고 재방문(14%)이 더 큼. 웹 유저는 인세션 연속구매를 안 함 — 왔다가 떠나고, 올 때 다시 온다.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63640" y="4233672"/>
            <a:ext cx="5342839" cy="1298448"/>
          </a:xfrm>
          <a:prstGeom prst="roundRect">
            <a:avLst>
              <a:gd name="adj" fmla="val 4225"/>
            </a:avLst>
          </a:prstGeom>
          <a:solidFill>
            <a:srgbClr val="E8EDF8"/>
          </a:solidFill>
          <a:ln/>
        </p:spPr>
      </p:sp>
      <p:sp>
        <p:nvSpPr>
          <p:cNvPr id="13" name="Text 10"/>
          <p:cNvSpPr/>
          <p:nvPr/>
        </p:nvSpPr>
        <p:spPr>
          <a:xfrm>
            <a:off x="6473952" y="4361688"/>
            <a:ext cx="49313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재방문까지 median 2일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73952" y="4690872"/>
            <a:ext cx="488563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A(0일)보다 김. 당일 폭발이 없어 분포가 뒤로 밀림.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4739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C 웹온리 Cross-Sell 분석 · pay_for_ only · (2026-06-01)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분석의 척추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C는 '재방문'이 '당일'보다 크다 (A와 반대)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1150015" cy="868680"/>
          </a:xfrm>
          <a:prstGeom prst="rect">
            <a:avLst/>
          </a:prstGeom>
          <a:solidFill>
            <a:srgbClr val="C884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600200"/>
            <a:ext cx="115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10.4%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2011680"/>
            <a:ext cx="115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16943" y="1554480"/>
            <a:ext cx="1548097" cy="868680"/>
          </a:xfrm>
          <a:prstGeom prst="rect">
            <a:avLst/>
          </a:prstGeom>
          <a:solidFill>
            <a:srgbClr val="0E8C7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16943" y="1600200"/>
            <a:ext cx="15480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14.0%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716943" y="2011680"/>
            <a:ext cx="15480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재방문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5041" y="1554480"/>
            <a:ext cx="8348669" cy="868680"/>
          </a:xfrm>
          <a:prstGeom prst="rect">
            <a:avLst/>
          </a:prstGeom>
          <a:solidFill>
            <a:srgbClr val="C9CED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5041" y="1600200"/>
            <a:ext cx="83486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75.5%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65041" y="2011680"/>
            <a:ext cx="83486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2회차 없음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51460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C 신규 코호트 289,983명 · 첫 결제 후 2번째 콘텐츠 결제(pay_for_) 기준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3794760"/>
            <a:ext cx="3503066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5875">
            <a:solidFill>
              <a:srgbClr val="C884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3941064"/>
            <a:ext cx="31007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68096" y="4251960"/>
            <a:ext cx="31007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8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10.4%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68096" y="4873752"/>
            <a:ext cx="310073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유저는 인세션 연속구매가 거의 없음 (A는 50%). 결제 후 바로 이탈.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768096" y="5605272"/>
            <a:ext cx="3100730" cy="420624"/>
          </a:xfrm>
          <a:prstGeom prst="roundRect">
            <a:avLst>
              <a:gd name="adj" fmla="val 8696"/>
            </a:avLst>
          </a:prstGeom>
          <a:solidFill>
            <a:srgbClr val="FBEFD8"/>
          </a:solidFill>
          <a:ln/>
        </p:spPr>
      </p:sp>
      <p:sp>
        <p:nvSpPr>
          <p:cNvPr id="19" name="Text 17"/>
          <p:cNvSpPr/>
          <p:nvPr/>
        </p:nvSpPr>
        <p:spPr>
          <a:xfrm>
            <a:off x="859536" y="5605272"/>
            <a:ext cx="29544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약한 레버</a:t>
            </a:r>
            <a:pPr indent="0" marL="0">
              <a:buNone/>
            </a:pP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344314" y="3794760"/>
            <a:ext cx="3503066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5875">
            <a:solidFill>
              <a:srgbClr val="0E8C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45482" y="3941064"/>
            <a:ext cx="31007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재방문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45482" y="4251960"/>
            <a:ext cx="31007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8C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14.0%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545482" y="4873752"/>
            <a:ext cx="310073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날 다시 와서 구매 — C의 유일한 실질 재구매 경로. median 2일.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4545482" y="5605272"/>
            <a:ext cx="3100730" cy="420624"/>
          </a:xfrm>
          <a:prstGeom prst="roundRect">
            <a:avLst>
              <a:gd name="adj" fmla="val 8696"/>
            </a:avLst>
          </a:prstGeom>
          <a:solidFill>
            <a:srgbClr val="E1F4EF"/>
          </a:solidFill>
          <a:ln/>
        </p:spPr>
      </p:sp>
      <p:sp>
        <p:nvSpPr>
          <p:cNvPr id="25" name="Text 23"/>
          <p:cNvSpPr/>
          <p:nvPr/>
        </p:nvSpPr>
        <p:spPr>
          <a:xfrm>
            <a:off x="4636922" y="5605272"/>
            <a:ext cx="29544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공략 · </a:t>
            </a:r>
            <a:pPr indent="0" marL="0">
              <a:buNone/>
            </a:pPr>
            <a:r>
              <a:rPr lang="en-US" sz="9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푸시·리타겟·리마인드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8121701" y="3794760"/>
            <a:ext cx="3503066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5875">
            <a:solidFill>
              <a:srgbClr val="6B72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2869" y="3941064"/>
            <a:ext cx="31007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2회차 없음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322869" y="4251960"/>
            <a:ext cx="31007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75.5%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322869" y="4873752"/>
            <a:ext cx="310073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압도적 다수가 1회 구매 후 이탈. 웹 마케팅 1회성 전환.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8322869" y="5605272"/>
            <a:ext cx="3100730" cy="420624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/>
        </p:spPr>
      </p:sp>
      <p:sp>
        <p:nvSpPr>
          <p:cNvPr id="31" name="Text 29"/>
          <p:cNvSpPr/>
          <p:nvPr/>
        </p:nvSpPr>
        <p:spPr>
          <a:xfrm>
            <a:off x="8414309" y="5605272"/>
            <a:ext cx="29544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 모집단 · </a:t>
            </a:r>
            <a:pPr indent="0" marL="0">
              <a:buNone/>
            </a:pPr>
            <a:r>
              <a:rPr lang="en-US" sz="9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유도·재방문 유도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566928" y="64739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C 웹온리 Cross-Sell 분석 · pay_for_ only · (2026-06-01)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신규 코호트 기준선 (n=289,983)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2558720" cy="1371600"/>
          </a:xfrm>
          <a:prstGeom prst="roundRect">
            <a:avLst>
              <a:gd name="adj" fmla="val 4667"/>
            </a:avLst>
          </a:prstGeom>
          <a:solidFill>
            <a:srgbClr val="ECE8F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371600"/>
            <a:ext cx="73152" cy="1371600"/>
          </a:xfrm>
          <a:prstGeom prst="roundRect">
            <a:avLst>
              <a:gd name="adj" fmla="val 37500"/>
            </a:avLst>
          </a:prstGeom>
          <a:solidFill>
            <a:srgbClr val="6B5B95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463040"/>
            <a:ext cx="2302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B5B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21.1%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228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any90 재구매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2313432"/>
            <a:ext cx="228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당일포함 90일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30·60·90: 19.0/20.3/21.1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99968" y="1371600"/>
            <a:ext cx="2558720" cy="1371600"/>
          </a:xfrm>
          <a:prstGeom prst="roundRect">
            <a:avLst>
              <a:gd name="adj" fmla="val 4667"/>
            </a:avLst>
          </a:prstGeom>
          <a:solidFill>
            <a:srgbClr val="E1F4EF"/>
          </a:solidFill>
          <a:ln/>
        </p:spPr>
      </p:sp>
      <p:sp>
        <p:nvSpPr>
          <p:cNvPr id="10" name="Shape 8"/>
          <p:cNvSpPr/>
          <p:nvPr/>
        </p:nvSpPr>
        <p:spPr>
          <a:xfrm>
            <a:off x="3399968" y="1371600"/>
            <a:ext cx="73152" cy="1371600"/>
          </a:xfrm>
          <a:prstGeom prst="roundRect">
            <a:avLst>
              <a:gd name="adj" fmla="val 37500"/>
            </a:avLst>
          </a:prstGeom>
          <a:solidFill>
            <a:srgbClr val="0E8C77"/>
          </a:solidFill>
          <a:ln/>
        </p:spPr>
      </p:sp>
      <p:sp>
        <p:nvSpPr>
          <p:cNvPr id="11" name="Text 9"/>
          <p:cNvSpPr/>
          <p:nvPr/>
        </p:nvSpPr>
        <p:spPr>
          <a:xfrm>
            <a:off x="3546272" y="1463040"/>
            <a:ext cx="2302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8C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13.1%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3564560" y="2057400"/>
            <a:ext cx="228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rev90 재방문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64560" y="2313432"/>
            <a:ext cx="228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리텐션 기준선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 비교의 0점)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33008" y="1371600"/>
            <a:ext cx="2558720" cy="1371600"/>
          </a:xfrm>
          <a:prstGeom prst="roundRect">
            <a:avLst>
              <a:gd name="adj" fmla="val 4667"/>
            </a:avLst>
          </a:prstGeom>
          <a:solidFill>
            <a:srgbClr val="FBEFD8"/>
          </a:solidFill>
          <a:ln/>
        </p:spPr>
      </p:sp>
      <p:sp>
        <p:nvSpPr>
          <p:cNvPr id="15" name="Shape 13"/>
          <p:cNvSpPr/>
          <p:nvPr/>
        </p:nvSpPr>
        <p:spPr>
          <a:xfrm>
            <a:off x="6233008" y="1371600"/>
            <a:ext cx="73152" cy="1371600"/>
          </a:xfrm>
          <a:prstGeom prst="roundRect">
            <a:avLst>
              <a:gd name="adj" fmla="val 37500"/>
            </a:avLst>
          </a:prstGeom>
          <a:solidFill>
            <a:srgbClr val="C8841A"/>
          </a:solidFill>
          <a:ln/>
        </p:spPr>
      </p:sp>
      <p:sp>
        <p:nvSpPr>
          <p:cNvPr id="16" name="Text 14"/>
          <p:cNvSpPr/>
          <p:nvPr/>
        </p:nvSpPr>
        <p:spPr>
          <a:xfrm>
            <a:off x="6379312" y="1463040"/>
            <a:ext cx="2302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88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10.4%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6397600" y="2057400"/>
            <a:ext cx="228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sameday 당일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97600" y="2313432"/>
            <a:ext cx="228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A(50%)의 1/5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인세션 거의 없음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066047" y="1371600"/>
            <a:ext cx="2558720" cy="1371600"/>
          </a:xfrm>
          <a:prstGeom prst="roundRect">
            <a:avLst>
              <a:gd name="adj" fmla="val 4667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9066047" y="1371600"/>
            <a:ext cx="73152" cy="1371600"/>
          </a:xfrm>
          <a:prstGeom prst="roundRect">
            <a:avLst>
              <a:gd name="adj" fmla="val 37500"/>
            </a:avLst>
          </a:prstGeom>
          <a:solidFill>
            <a:srgbClr val="6B7280"/>
          </a:solidFill>
          <a:ln/>
        </p:spPr>
      </p:sp>
      <p:sp>
        <p:nvSpPr>
          <p:cNvPr id="21" name="Text 19"/>
          <p:cNvSpPr/>
          <p:nvPr/>
        </p:nvSpPr>
        <p:spPr>
          <a:xfrm>
            <a:off x="9212351" y="1463040"/>
            <a:ext cx="2302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84% / —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9230639" y="2057400"/>
            <a:ext cx="228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채움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230639" y="2313432"/>
            <a:ext cx="228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연령축 가능(A보다 낮음)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gender·성별축 폐기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6928" y="3063240"/>
            <a:ext cx="5852160" cy="2514600"/>
          </a:xfrm>
          <a:prstGeom prst="roundRect">
            <a:avLst>
              <a:gd name="adj" fmla="val 2182"/>
            </a:avLst>
          </a:prstGeom>
          <a:solidFill>
            <a:srgbClr val="F4F6F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2004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기준선이 말하는 것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22960" y="3547872"/>
            <a:ext cx="5486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1회성 모집단 —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any90 21% (A 68%의 1/3). 4명 중 3명이 다시 안 삼.
</a:t>
            </a:r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재방문이 거의 전부 —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 업셀이 미미(10%)해 rev90(13.1)≈any90(21)의 큰 부분. 추천 레버는 사실상 재방문 하나.
</a:t>
            </a:r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topic 100% / age 84% —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태그 매칭은 완전, 연령은 A(98%)보다 낮으나 사용 가능.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629400" y="3063240"/>
            <a:ext cx="4995367" cy="2514600"/>
          </a:xfrm>
          <a:prstGeom prst="roundRect">
            <a:avLst>
              <a:gd name="adj" fmla="val 2182"/>
            </a:avLst>
          </a:prstGeom>
          <a:solidFill>
            <a:srgbClr val="FBEFD8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32004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이렇게 낮나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858000" y="3547872"/>
            <a:ext cx="4702759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C는 </a:t>
            </a:r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마케팅으로 유입돼 특정 콘텐츠 1건만 사고 떠나는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모집단. 앱 설치·재방문 동선이 없어 구조적으로 재구매가 낮음. → 인앱 추천보다 </a:t>
            </a:r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전환·재방문 유도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본질적 레버.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66928" y="64739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C 웹온리 Cross-Sell 분석 · pay_for_ only · (2026-06-01)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지형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연애 지배 동일 — 단 전 topic 재구매 저조</a:t>
            </a:r>
            <a:endParaRPr lang="en-US" sz="2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61264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25880"/>
                <a:gridCol w="960120"/>
                <a:gridCol w="1325880"/>
                <a:gridCol w="96012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rev90 (재방문)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207,564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24,677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일반운세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11,366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총운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재물금전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학업직업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12,945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자기탐구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가족자녀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13,690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484632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rev90 = 13.1% · 초록=상회 / 주황=최저권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903720" y="1371600"/>
            <a:ext cx="4721047" cy="1828800"/>
          </a:xfrm>
          <a:prstGeom prst="roundRect">
            <a:avLst>
              <a:gd name="adj" fmla="val 3000"/>
            </a:avLst>
          </a:prstGeom>
          <a:solidFill>
            <a:srgbClr val="E1F4EF"/>
          </a:solidFill>
          <a:ln/>
        </p:spPr>
      </p:sp>
      <p:sp>
        <p:nvSpPr>
          <p:cNvPr id="7" name="Text 4"/>
          <p:cNvSpPr/>
          <p:nvPr/>
        </p:nvSpPr>
        <p:spPr>
          <a:xfrm>
            <a:off x="7114032" y="14813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 = 진입 72% + 재구매 1위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114032" y="192024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A와 동일하게 연애가 코호트의 72%(207K). rev90 14.8로 유일하게 평균 상회. 단 절대값은 A 연애(40.8)의 1/3.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903720" y="3337560"/>
            <a:ext cx="4721047" cy="1828800"/>
          </a:xfrm>
          <a:prstGeom prst="roundRect">
            <a:avLst>
              <a:gd name="adj" fmla="val 3000"/>
            </a:avLst>
          </a:prstGeom>
          <a:solidFill>
            <a:srgbClr val="FBEFD8"/>
          </a:solidFill>
          <a:ln/>
        </p:spPr>
      </p:sp>
      <p:sp>
        <p:nvSpPr>
          <p:cNvPr id="10" name="Text 7"/>
          <p:cNvSpPr/>
          <p:nvPr/>
        </p:nvSpPr>
        <p:spPr>
          <a:xfrm>
            <a:off x="7114032" y="344728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가족·학업·재물 = 최저 (동일)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114032" y="3767328"/>
            <a:ext cx="4617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가족자녀 5.2 · 학업 7.0 · 재물 7.8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A와 같은 순위. 웹에선 가족자녀가 13.7K로 큰 모집단인데 재구매 최저 = 순수 1회성 진입.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66928" y="64739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C 웹온리 Cross-Sell 분석 · pay_for_ only · (2026-06-01)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 형식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사주가 웹을 압도 (68%) — 타로는 고가화</a:t>
            </a:r>
            <a:endParaRPr lang="en-US" sz="2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6400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1005840"/>
                <a:gridCol w="91440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content_type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구매자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05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198,457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05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4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39,486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34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점성학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(미태깅)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48,994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3749040"/>
            <a:ext cx="6400800" cy="749808"/>
          </a:xfrm>
          <a:prstGeom prst="roundRect">
            <a:avLst>
              <a:gd name="adj" fmla="val 7317"/>
            </a:avLst>
          </a:prstGeom>
          <a:solidFill>
            <a:srgbClr val="E8EDF8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" y="3749040"/>
            <a:ext cx="5943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타로 우위 유지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(rev90 15.1 vs 사주 12.8) — A와 동일 방향. 단 웹은 사주가 5배(198K vs 40K)로 더 압도적.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178040" y="1371600"/>
            <a:ext cx="4446727" cy="1371600"/>
          </a:xfrm>
          <a:prstGeom prst="roundRect">
            <a:avLst>
              <a:gd name="adj" fmla="val 4667"/>
            </a:avLst>
          </a:prstGeom>
          <a:solidFill>
            <a:srgbClr val="F6E6DE"/>
          </a:solidFill>
          <a:ln/>
        </p:spPr>
      </p:sp>
      <p:sp>
        <p:nvSpPr>
          <p:cNvPr id="8" name="Shape 5"/>
          <p:cNvSpPr/>
          <p:nvPr/>
        </p:nvSpPr>
        <p:spPr>
          <a:xfrm>
            <a:off x="7178040" y="1371600"/>
            <a:ext cx="73152" cy="1371600"/>
          </a:xfrm>
          <a:prstGeom prst="roundRect">
            <a:avLst>
              <a:gd name="adj" fmla="val 37500"/>
            </a:avLst>
          </a:prstGeom>
          <a:solidFill>
            <a:srgbClr val="B05A3C"/>
          </a:solidFill>
          <a:ln/>
        </p:spPr>
      </p:sp>
      <p:sp>
        <p:nvSpPr>
          <p:cNvPr id="9" name="Text 6"/>
          <p:cNvSpPr/>
          <p:nvPr/>
        </p:nvSpPr>
        <p:spPr>
          <a:xfrm>
            <a:off x="7324344" y="1463040"/>
            <a:ext cx="419069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B05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7342632" y="2057400"/>
            <a:ext cx="41724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사주 비중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342632" y="2313432"/>
            <a:ext cx="4172407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콘텐츠의 2/3가 사주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(앱은 60%)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178040" y="2880360"/>
            <a:ext cx="4446727" cy="1371600"/>
          </a:xfrm>
          <a:prstGeom prst="roundRect">
            <a:avLst>
              <a:gd name="adj" fmla="val 4667"/>
            </a:avLst>
          </a:prstGeom>
          <a:solidFill>
            <a:srgbClr val="FBEFD8"/>
          </a:solidFill>
          <a:ln/>
        </p:spPr>
      </p:sp>
      <p:sp>
        <p:nvSpPr>
          <p:cNvPr id="13" name="Shape 10"/>
          <p:cNvSpPr/>
          <p:nvPr/>
        </p:nvSpPr>
        <p:spPr>
          <a:xfrm>
            <a:off x="7178040" y="2880360"/>
            <a:ext cx="73152" cy="1371600"/>
          </a:xfrm>
          <a:prstGeom prst="roundRect">
            <a:avLst>
              <a:gd name="adj" fmla="val 37500"/>
            </a:avLst>
          </a:prstGeom>
          <a:solidFill>
            <a:srgbClr val="C8841A"/>
          </a:solidFill>
          <a:ln/>
        </p:spPr>
      </p:sp>
      <p:sp>
        <p:nvSpPr>
          <p:cNvPr id="14" name="Text 11"/>
          <p:cNvSpPr/>
          <p:nvPr/>
        </p:nvSpPr>
        <p:spPr>
          <a:xfrm>
            <a:off x="7324344" y="2971800"/>
            <a:ext cx="419069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88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13,500원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7342632" y="3566160"/>
            <a:ext cx="41724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타로 median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342632" y="3822192"/>
            <a:ext cx="4172407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타로(1,500원)의 9배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웹엔 저가 타로 없음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66928" y="4663440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</p:spPr>
      </p:sp>
      <p:sp>
        <p:nvSpPr>
          <p:cNvPr id="18" name="Text 15"/>
          <p:cNvSpPr/>
          <p:nvPr/>
        </p:nvSpPr>
        <p:spPr>
          <a:xfrm>
            <a:off x="841248" y="4663440"/>
            <a:ext cx="1050919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 차이 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타로 중앙값 13,500원 = 앱 타로(1,500원)의 9배. 웹엔 '싸게 여러 장' 타로 소비 구조가 없음 → 타로의 반복 강점이 웹에선 약화.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66928" y="64739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C 웹온리 Cross-Sell 분석 · pay_for_ only · (2026-06-01)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생애주기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연령 × topic — A와 동일 패턴</a:t>
            </a:r>
            <a:endParaRPr lang="en-US" sz="2500" dirty="0"/>
          </a:p>
        </p:txBody>
      </p:sp>
      <p:pic>
        <p:nvPicPr>
          <p:cNvPr id="4" name="Image 0" descr="/Users/taenyon/Development/neuralarcade/hellobot/projects/20260525-cross-sell-recommendation/data/c_age_topic_sh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586" y="1325880"/>
            <a:ext cx="7307885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486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연령대 내 첫구매 topic 비중(%) · age 채움 84%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8183880" y="1371600"/>
            <a:ext cx="3440887" cy="96012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8183880" y="1371600"/>
            <a:ext cx="73152" cy="960120"/>
          </a:xfrm>
          <a:prstGeom prst="roundRect">
            <a:avLst>
              <a:gd name="adj" fmla="val 37500"/>
            </a:avLst>
          </a:prstGeom>
          <a:solidFill>
            <a:srgbClr val="6B5B95"/>
          </a:solidFill>
          <a:ln/>
        </p:spPr>
      </p:sp>
      <p:sp>
        <p:nvSpPr>
          <p:cNvPr id="8" name="Text 5"/>
          <p:cNvSpPr/>
          <p:nvPr/>
        </p:nvSpPr>
        <p:spPr>
          <a:xfrm>
            <a:off x="8366760" y="1463040"/>
            <a:ext cx="3193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10–20대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366760" y="1737360"/>
            <a:ext cx="31757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 압도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8183880" y="2432304"/>
            <a:ext cx="3440887" cy="96012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11" name="Shape 8"/>
          <p:cNvSpPr/>
          <p:nvPr/>
        </p:nvSpPr>
        <p:spPr>
          <a:xfrm>
            <a:off x="8183880" y="2432304"/>
            <a:ext cx="73152" cy="960120"/>
          </a:xfrm>
          <a:prstGeom prst="roundRect">
            <a:avLst>
              <a:gd name="adj" fmla="val 37500"/>
            </a:avLst>
          </a:prstGeom>
          <a:solidFill>
            <a:srgbClr val="0E8C77"/>
          </a:solidFill>
          <a:ln/>
        </p:spPr>
      </p:sp>
      <p:sp>
        <p:nvSpPr>
          <p:cNvPr id="12" name="Text 9"/>
          <p:cNvSpPr/>
          <p:nvPr/>
        </p:nvSpPr>
        <p:spPr>
          <a:xfrm>
            <a:off x="8366760" y="2523744"/>
            <a:ext cx="3193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30대 초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366760" y="2798064"/>
            <a:ext cx="31757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결혼 비중↑</a:t>
            </a:r>
            <a:endParaRPr lang="en-US" sz="1030" dirty="0"/>
          </a:p>
        </p:txBody>
      </p:sp>
      <p:sp>
        <p:nvSpPr>
          <p:cNvPr id="14" name="Shape 11"/>
          <p:cNvSpPr/>
          <p:nvPr/>
        </p:nvSpPr>
        <p:spPr>
          <a:xfrm>
            <a:off x="8183880" y="3493008"/>
            <a:ext cx="3440887" cy="96012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15" name="Shape 12"/>
          <p:cNvSpPr/>
          <p:nvPr/>
        </p:nvSpPr>
        <p:spPr>
          <a:xfrm>
            <a:off x="8183880" y="3493008"/>
            <a:ext cx="73152" cy="960120"/>
          </a:xfrm>
          <a:prstGeom prst="roundRect">
            <a:avLst>
              <a:gd name="adj" fmla="val 37500"/>
            </a:avLst>
          </a:prstGeom>
          <a:solidFill>
            <a:srgbClr val="B05A3C"/>
          </a:solidFill>
          <a:ln/>
        </p:spPr>
      </p:sp>
      <p:sp>
        <p:nvSpPr>
          <p:cNvPr id="16" name="Text 13"/>
          <p:cNvSpPr/>
          <p:nvPr/>
        </p:nvSpPr>
        <p:spPr>
          <a:xfrm>
            <a:off x="8366760" y="3584448"/>
            <a:ext cx="3193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40대+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366760" y="3858768"/>
            <a:ext cx="31757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재물·총운↑</a:t>
            </a:r>
            <a:endParaRPr lang="en-US" sz="1030" dirty="0"/>
          </a:p>
        </p:txBody>
      </p:sp>
      <p:sp>
        <p:nvSpPr>
          <p:cNvPr id="18" name="Shape 15"/>
          <p:cNvSpPr/>
          <p:nvPr/>
        </p:nvSpPr>
        <p:spPr>
          <a:xfrm>
            <a:off x="8183880" y="4553712"/>
            <a:ext cx="3440887" cy="96012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19" name="Shape 16"/>
          <p:cNvSpPr/>
          <p:nvPr/>
        </p:nvSpPr>
        <p:spPr>
          <a:xfrm>
            <a:off x="8183880" y="4553712"/>
            <a:ext cx="73152" cy="960120"/>
          </a:xfrm>
          <a:prstGeom prst="roundRect">
            <a:avLst>
              <a:gd name="adj" fmla="val 37500"/>
            </a:avLst>
          </a:prstGeom>
          <a:solidFill>
            <a:srgbClr val="6B7280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645152"/>
            <a:ext cx="3193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A와 동일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366760" y="4919472"/>
            <a:ext cx="31757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사는지는 웹·앱 공통 생애주기. 채널이 달라도 관심사 분포는 같음</a:t>
            </a:r>
            <a:endParaRPr lang="en-US" sz="1030" dirty="0"/>
          </a:p>
        </p:txBody>
      </p:sp>
      <p:sp>
        <p:nvSpPr>
          <p:cNvPr id="22" name="Text 19"/>
          <p:cNvSpPr/>
          <p:nvPr/>
        </p:nvSpPr>
        <p:spPr>
          <a:xfrm>
            <a:off x="566928" y="64739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C 웹온리 Cross-Sell 분석 · pay_for_ only · (2026-06-01)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전이 (TOPIC)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첫 → 재방문 2번째 — 연애 자기완결 (동일)</a:t>
            </a:r>
            <a:endParaRPr lang="en-US" sz="2500" dirty="0"/>
          </a:p>
        </p:txBody>
      </p:sp>
      <p:pic>
        <p:nvPicPr>
          <p:cNvPr id="4" name="Image 0" descr="/Users/taenyon/Development/neuralarcade/hellobot/projects/20260525-cross-sell-recommendation/data/c_topic_transition_l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159" y="1325880"/>
            <a:ext cx="5912099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48640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(행=1st → 열=2nd) · 재방문 2회차만 (n=40,726)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543800" y="1371600"/>
            <a:ext cx="4080967" cy="1298448"/>
          </a:xfrm>
          <a:prstGeom prst="roundRect">
            <a:avLst>
              <a:gd name="adj" fmla="val 4225"/>
            </a:avLst>
          </a:prstGeom>
          <a:solidFill>
            <a:srgbClr val="E1F4EF"/>
          </a:solidFill>
          <a:ln/>
        </p:spPr>
      </p:sp>
      <p:sp>
        <p:nvSpPr>
          <p:cNvPr id="7" name="Text 4"/>
          <p:cNvSpPr/>
          <p:nvPr/>
        </p:nvSpPr>
        <p:spPr>
          <a:xfrm>
            <a:off x="7754112" y="1481328"/>
            <a:ext cx="37426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 자기완결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54112" y="1792224"/>
            <a:ext cx="369691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연애→연애 강함. A와 동일 — cross-sell은 연애 내부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543800" y="2779776"/>
            <a:ext cx="4080967" cy="1298448"/>
          </a:xfrm>
          <a:prstGeom prst="roundRect">
            <a:avLst>
              <a:gd name="adj" fmla="val 4225"/>
            </a:avLst>
          </a:prstGeom>
          <a:solidFill>
            <a:srgbClr val="FBEFD8"/>
          </a:solidFill>
          <a:ln/>
        </p:spPr>
      </p:sp>
      <p:sp>
        <p:nvSpPr>
          <p:cNvPr id="10" name="Text 7"/>
          <p:cNvSpPr/>
          <p:nvPr/>
        </p:nvSpPr>
        <p:spPr>
          <a:xfrm>
            <a:off x="7754112" y="2889504"/>
            <a:ext cx="37426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틈새 동일계열 고착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754112" y="3200400"/>
            <a:ext cx="369691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재물·가족·학업은 같은 주제로 회귀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543800" y="4187952"/>
            <a:ext cx="4080967" cy="1298448"/>
          </a:xfrm>
          <a:prstGeom prst="roundRect">
            <a:avLst>
              <a:gd name="adj" fmla="val 4225"/>
            </a:avLst>
          </a:prstGeom>
          <a:solidFill>
            <a:srgbClr val="ECE8F2"/>
          </a:solidFill>
          <a:ln/>
        </p:spPr>
      </p:sp>
      <p:sp>
        <p:nvSpPr>
          <p:cNvPr id="13" name="Text 10"/>
          <p:cNvSpPr/>
          <p:nvPr/>
        </p:nvSpPr>
        <p:spPr>
          <a:xfrm>
            <a:off x="7754112" y="4297680"/>
            <a:ext cx="37426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= A와 동일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754112" y="4608576"/>
            <a:ext cx="369691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채널이 달라도 주제 전이 구조는 같음. 추천 로직 공유 가능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4739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C 웹온리 Cross-Sell 분석 · pay_for_ only · (2026-06-01)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발견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사주 → 타로 미발생 (웹에서도 동일)</a:t>
            </a:r>
            <a:endParaRPr lang="en-US" sz="2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5943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 \ 2nd(재방문)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타로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사주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56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34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타로 진입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53.1%  (lift 2.19)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35.4%  (0.58)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05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사주 진입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16.4%  (lift 0.68)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69.7%  (1.15)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31546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base(재방문): 2nd=타로 24.3% · 2nd=사주 60.7%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361188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사주 진입자가 재방문 시 타로로 가는 비율 16.4% — base(24.3%)보다 낮다(lift 0.68).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A(0.69)와 거의 같은 값 — 형식 선호 고착은 채널 무관.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812280" y="1463040"/>
            <a:ext cx="4812487" cy="4069080"/>
          </a:xfrm>
          <a:prstGeom prst="roundRect">
            <a:avLst>
              <a:gd name="adj" fmla="val 1573"/>
            </a:avLst>
          </a:prstGeom>
          <a:solidFill>
            <a:srgbClr val="1B2342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0" y="162763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단, 웹에선 레버가 약함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040880" y="2011680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A와 같은 미개척 신호(사주→타로 lift 0.68)지만,
</a:t>
            </a:r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타로는 이미 고가(13,500원)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 '저가 타로 반복'이라는 A의 강점이 웹엔 없음.
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게다가 C 전체 재구매가 13%로 낮아 </a:t>
            </a:r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인앱 추천보다 앱 전환·재방문 유도가 우선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C에서 사주→타로 실험은 A 대비 후순위.</a:t>
            </a:r>
            <a:endParaRPr lang="en-US" sz="1180" dirty="0"/>
          </a:p>
        </p:txBody>
      </p:sp>
      <p:sp>
        <p:nvSpPr>
          <p:cNvPr id="10" name="Text 7"/>
          <p:cNvSpPr/>
          <p:nvPr/>
        </p:nvSpPr>
        <p:spPr>
          <a:xfrm>
            <a:off x="566928" y="64739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C 웹온리 Cross-Sell 분석 · pay_for_ only · (2026-06-01)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웹온리 — 6가지 핵심 발견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254600" cy="1280160"/>
          </a:xfrm>
          <a:prstGeom prst="roundRect">
            <a:avLst>
              <a:gd name="adj" fmla="val 5000"/>
            </a:avLst>
          </a:prstGeom>
          <a:solidFill>
            <a:srgbClr val="1B2342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719072"/>
            <a:ext cx="502920" cy="502920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81328" y="1645920"/>
            <a:ext cx="415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규모 3배·재구매 1/3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81328" y="2029968"/>
            <a:ext cx="415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290K로 최대 모집단이나 rev90 13% (A 38%의 1/3)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70168" y="1463040"/>
            <a:ext cx="5254600" cy="1280160"/>
          </a:xfrm>
          <a:prstGeom prst="roundRect">
            <a:avLst>
              <a:gd name="adj" fmla="val 5000"/>
            </a:avLst>
          </a:prstGeom>
          <a:solidFill>
            <a:srgbClr val="1B2342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98768" y="1719072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598768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84568" y="1645920"/>
            <a:ext cx="415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75.5%가 1회성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284568" y="2029968"/>
            <a:ext cx="415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마케팅 유입의 1회성 전환 (H7 검증)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2971800"/>
            <a:ext cx="5254600" cy="1280160"/>
          </a:xfrm>
          <a:prstGeom prst="roundRect">
            <a:avLst>
              <a:gd name="adj" fmla="val 5000"/>
            </a:avLst>
          </a:prstGeom>
          <a:solidFill>
            <a:srgbClr val="1B2342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" y="3227832"/>
            <a:ext cx="502920" cy="502920"/>
          </a:xfrm>
          <a:prstGeom prst="ellipse">
            <a:avLst/>
          </a:prstGeom>
          <a:solidFill>
            <a:srgbClr val="C8841A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81328" y="3154680"/>
            <a:ext cx="415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재방문&gt;당일 (A와 반대)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481328" y="3538728"/>
            <a:ext cx="415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 10% &lt; 재방문 14%. 인세션 업셀 없음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70168" y="2971800"/>
            <a:ext cx="5254600" cy="1280160"/>
          </a:xfrm>
          <a:prstGeom prst="roundRect">
            <a:avLst>
              <a:gd name="adj" fmla="val 5000"/>
            </a:avLst>
          </a:prstGeom>
          <a:solidFill>
            <a:srgbClr val="1B2342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98768" y="3227832"/>
            <a:ext cx="502920" cy="502920"/>
          </a:xfrm>
          <a:prstGeom prst="ellipse">
            <a:avLst/>
          </a:prstGeom>
          <a:solidFill>
            <a:srgbClr val="0E8C77"/>
          </a:solidFill>
          <a:ln/>
        </p:spPr>
      </p:sp>
      <p:sp>
        <p:nvSpPr>
          <p:cNvPr id="21" name="Text 19"/>
          <p:cNvSpPr/>
          <p:nvPr/>
        </p:nvSpPr>
        <p:spPr>
          <a:xfrm>
            <a:off x="6598768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84568" y="3154680"/>
            <a:ext cx="415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 지배·타로 우위 동일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284568" y="3538728"/>
            <a:ext cx="415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 72%·rev90 1위, 타로&gt;사주 — A와 같은 상대패턴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4480560"/>
            <a:ext cx="5254600" cy="1280160"/>
          </a:xfrm>
          <a:prstGeom prst="roundRect">
            <a:avLst>
              <a:gd name="adj" fmla="val 5000"/>
            </a:avLst>
          </a:prstGeom>
          <a:solidFill>
            <a:srgbClr val="1B2342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" y="4736592"/>
            <a:ext cx="502920" cy="502920"/>
          </a:xfrm>
          <a:prstGeom prst="ellipse">
            <a:avLst/>
          </a:prstGeom>
          <a:solidFill>
            <a:srgbClr val="B05A3C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81328" y="4663440"/>
            <a:ext cx="415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타로는 고가(9배)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481328" y="5047488"/>
            <a:ext cx="415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13,500원 — '저가 반복' 강점이 웹엔 없음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70168" y="4480560"/>
            <a:ext cx="5254600" cy="1280160"/>
          </a:xfrm>
          <a:prstGeom prst="roundRect">
            <a:avLst>
              <a:gd name="adj" fmla="val 5000"/>
            </a:avLst>
          </a:prstGeom>
          <a:solidFill>
            <a:srgbClr val="1B2342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98768" y="473659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9"/>
          <p:cNvSpPr/>
          <p:nvPr/>
        </p:nvSpPr>
        <p:spPr>
          <a:xfrm>
            <a:off x="6598768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284568" y="4663440"/>
            <a:ext cx="415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전환이 본질 레버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284568" y="5047488"/>
            <a:ext cx="415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인앱 추천보다 재방문·앱 유도가 C의 핵심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66928" y="64739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C 웹온리 Cross-Sell 분석 · pay_for_ only · (2026-06-01)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함의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C는 'cross-sell'보다 '리텐션·전환' 문제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3503066" cy="4023360"/>
          </a:xfrm>
          <a:prstGeom prst="roundRect">
            <a:avLst>
              <a:gd name="adj" fmla="val 1827"/>
            </a:avLst>
          </a:prstGeom>
          <a:solidFill>
            <a:srgbClr val="FFFFFF"/>
          </a:solidFill>
          <a:ln w="12700">
            <a:solidFill>
              <a:srgbClr val="DEE4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17320"/>
            <a:ext cx="3503066" cy="713232"/>
          </a:xfrm>
          <a:prstGeom prst="roundRect">
            <a:avLst>
              <a:gd name="adj" fmla="val 8974"/>
            </a:avLst>
          </a:prstGeom>
          <a:solidFill>
            <a:srgbClr val="6B5B95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783080"/>
            <a:ext cx="3503066" cy="347472"/>
          </a:xfrm>
          <a:prstGeom prst="rect">
            <a:avLst/>
          </a:prstGeom>
          <a:solidFill>
            <a:srgbClr val="6B5B95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1417320"/>
            <a:ext cx="313730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앱 전환 유도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95528" y="2286000"/>
            <a:ext cx="304586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1회 구매자 → 앱 설치/로그인 유도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172968"/>
            <a:ext cx="82296" cy="82296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090672"/>
            <a:ext cx="28629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웹온리는 인앱 추천 레버 밖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3739896"/>
            <a:ext cx="82296" cy="82296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657600"/>
            <a:ext cx="28629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B(웹→앱 이동자)는 재방문 94.6% — 전환만 되면 충성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4306824"/>
            <a:ext cx="82296" cy="82296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224528"/>
            <a:ext cx="28629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결제 후 앱 유도 동선·인센티브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95528" y="4873752"/>
            <a:ext cx="3045866" cy="420624"/>
          </a:xfrm>
          <a:prstGeom prst="roundRect">
            <a:avLst>
              <a:gd name="adj" fmla="val 10870"/>
            </a:avLst>
          </a:prstGeom>
          <a:solidFill>
            <a:srgbClr val="ECE8F2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" y="4873752"/>
            <a:ext cx="28629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최우선 — 모집단 75% 이탈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44314" y="1417320"/>
            <a:ext cx="3503066" cy="4023360"/>
          </a:xfrm>
          <a:prstGeom prst="roundRect">
            <a:avLst>
              <a:gd name="adj" fmla="val 1827"/>
            </a:avLst>
          </a:prstGeom>
          <a:solidFill>
            <a:srgbClr val="FFFFFF"/>
          </a:solidFill>
          <a:ln w="12700">
            <a:solidFill>
              <a:srgbClr val="DEE4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44314" y="1417320"/>
            <a:ext cx="3503066" cy="713232"/>
          </a:xfrm>
          <a:prstGeom prst="roundRect">
            <a:avLst>
              <a:gd name="adj" fmla="val 8974"/>
            </a:avLst>
          </a:prstGeom>
          <a:solidFill>
            <a:srgbClr val="0E8C77"/>
          </a:solidFill>
          <a:ln/>
        </p:spPr>
      </p:sp>
      <p:sp>
        <p:nvSpPr>
          <p:cNvPr id="19" name="Shape 17"/>
          <p:cNvSpPr/>
          <p:nvPr/>
        </p:nvSpPr>
        <p:spPr>
          <a:xfrm>
            <a:off x="4344314" y="1783080"/>
            <a:ext cx="3503066" cy="347472"/>
          </a:xfrm>
          <a:prstGeom prst="rect">
            <a:avLst/>
          </a:prstGeom>
          <a:solidFill>
            <a:srgbClr val="0E8C77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914" y="1417320"/>
            <a:ext cx="313730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재방문 리타게팅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914" y="2286000"/>
            <a:ext cx="304586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이탈 전 재방문 유도 (median 2일)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00346" y="3172968"/>
            <a:ext cx="82296" cy="82296"/>
          </a:xfrm>
          <a:prstGeom prst="ellipse">
            <a:avLst/>
          </a:prstGeom>
          <a:solidFill>
            <a:srgbClr val="0E8C77"/>
          </a:solidFill>
          <a:ln/>
        </p:spPr>
      </p:sp>
      <p:sp>
        <p:nvSpPr>
          <p:cNvPr id="23" name="Text 21"/>
          <p:cNvSpPr/>
          <p:nvPr/>
        </p:nvSpPr>
        <p:spPr>
          <a:xfrm>
            <a:off x="4783226" y="3090672"/>
            <a:ext cx="28629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 업셀 없음 → 푸시 불가(앱 없음)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00346" y="3739896"/>
            <a:ext cx="82296" cy="82296"/>
          </a:xfrm>
          <a:prstGeom prst="ellipse">
            <a:avLst/>
          </a:prstGeom>
          <a:solidFill>
            <a:srgbClr val="0E8C77"/>
          </a:solidFill>
          <a:ln/>
        </p:spPr>
      </p:sp>
      <p:sp>
        <p:nvSpPr>
          <p:cNvPr id="25" name="Text 23"/>
          <p:cNvSpPr/>
          <p:nvPr/>
        </p:nvSpPr>
        <p:spPr>
          <a:xfrm>
            <a:off x="4783226" y="3657600"/>
            <a:ext cx="28629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이메일·웹푸시·리타겟 광고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00346" y="4306824"/>
            <a:ext cx="82296" cy="82296"/>
          </a:xfrm>
          <a:prstGeom prst="ellipse">
            <a:avLst/>
          </a:prstGeom>
          <a:solidFill>
            <a:srgbClr val="0E8C77"/>
          </a:solidFill>
          <a:ln/>
        </p:spPr>
      </p:sp>
      <p:sp>
        <p:nvSpPr>
          <p:cNvPr id="27" name="Text 25"/>
          <p:cNvSpPr/>
          <p:nvPr/>
        </p:nvSpPr>
        <p:spPr>
          <a:xfrm>
            <a:off x="4783226" y="4224528"/>
            <a:ext cx="28629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 콘텐츠 후속 추천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914" y="4873752"/>
            <a:ext cx="3045866" cy="420624"/>
          </a:xfrm>
          <a:prstGeom prst="roundRect">
            <a:avLst>
              <a:gd name="adj" fmla="val 10870"/>
            </a:avLst>
          </a:prstGeom>
          <a:solidFill>
            <a:srgbClr val="E1F4EF"/>
          </a:solidFill>
          <a:ln/>
        </p:spPr>
      </p:sp>
      <p:sp>
        <p:nvSpPr>
          <p:cNvPr id="29" name="Text 27"/>
          <p:cNvSpPr/>
          <p:nvPr/>
        </p:nvSpPr>
        <p:spPr>
          <a:xfrm>
            <a:off x="4664354" y="4873752"/>
            <a:ext cx="28629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재방문 14% 키우기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121701" y="1417320"/>
            <a:ext cx="3503066" cy="4023360"/>
          </a:xfrm>
          <a:prstGeom prst="roundRect">
            <a:avLst>
              <a:gd name="adj" fmla="val 1827"/>
            </a:avLst>
          </a:prstGeom>
          <a:solidFill>
            <a:srgbClr val="FFFFFF"/>
          </a:solidFill>
          <a:ln w="12700">
            <a:solidFill>
              <a:srgbClr val="DEE4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21701" y="1417320"/>
            <a:ext cx="3503066" cy="713232"/>
          </a:xfrm>
          <a:prstGeom prst="roundRect">
            <a:avLst>
              <a:gd name="adj" fmla="val 8974"/>
            </a:avLst>
          </a:prstGeom>
          <a:solidFill>
            <a:srgbClr val="23408F"/>
          </a:solidFill>
          <a:ln/>
        </p:spPr>
      </p:sp>
      <p:sp>
        <p:nvSpPr>
          <p:cNvPr id="32" name="Shape 30"/>
          <p:cNvSpPr/>
          <p:nvPr/>
        </p:nvSpPr>
        <p:spPr>
          <a:xfrm>
            <a:off x="8121701" y="1783080"/>
            <a:ext cx="3503066" cy="347472"/>
          </a:xfrm>
          <a:prstGeom prst="rect">
            <a:avLst/>
          </a:prstGeom>
          <a:solidFill>
            <a:srgbClr val="23408F"/>
          </a:solidFill>
          <a:ln/>
        </p:spPr>
      </p:sp>
      <p:sp>
        <p:nvSpPr>
          <p:cNvPr id="33" name="Text 31"/>
          <p:cNvSpPr/>
          <p:nvPr/>
        </p:nvSpPr>
        <p:spPr>
          <a:xfrm>
            <a:off x="8350301" y="1417320"/>
            <a:ext cx="313730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추천 로직 재활용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350301" y="2286000"/>
            <a:ext cx="304586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A에서 검증된 추천 룰 그대로 적용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377733" y="3172968"/>
            <a:ext cx="82296" cy="82296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36" name="Text 34"/>
          <p:cNvSpPr/>
          <p:nvPr/>
        </p:nvSpPr>
        <p:spPr>
          <a:xfrm>
            <a:off x="8560613" y="3090672"/>
            <a:ext cx="28629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 자기완결·intent 클러스터 동일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377733" y="3739896"/>
            <a:ext cx="82296" cy="82296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38" name="Text 36"/>
          <p:cNvSpPr/>
          <p:nvPr/>
        </p:nvSpPr>
        <p:spPr>
          <a:xfrm>
            <a:off x="8560613" y="3657600"/>
            <a:ext cx="28629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타로&gt;사주·연령×topic 동일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377733" y="4306824"/>
            <a:ext cx="82296" cy="82296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40" name="Text 38"/>
          <p:cNvSpPr/>
          <p:nvPr/>
        </p:nvSpPr>
        <p:spPr>
          <a:xfrm>
            <a:off x="8560613" y="4224528"/>
            <a:ext cx="28629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사주→타로 실험은 A 대비 후순위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350301" y="4873752"/>
            <a:ext cx="3045866" cy="420624"/>
          </a:xfrm>
          <a:prstGeom prst="roundRect">
            <a:avLst>
              <a:gd name="adj" fmla="val 10870"/>
            </a:avLst>
          </a:prstGeom>
          <a:solidFill>
            <a:srgbClr val="E8EDF8"/>
          </a:solidFill>
          <a:ln/>
        </p:spPr>
      </p:sp>
      <p:sp>
        <p:nvSpPr>
          <p:cNvPr id="42" name="Text 40"/>
          <p:cNvSpPr/>
          <p:nvPr/>
        </p:nvSpPr>
        <p:spPr>
          <a:xfrm>
            <a:off x="8441741" y="4873752"/>
            <a:ext cx="28629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자산 공유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66928" y="64739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C 웹온리 Cross-Sell 분석 · pay_for_ only · (2026-06-01)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 &amp; 한계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후속 + 검증 필요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852160" cy="4114800"/>
          </a:xfrm>
          <a:prstGeom prst="roundRect">
            <a:avLst>
              <a:gd name="adj" fmla="val 1333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7276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41248" y="2011680"/>
            <a:ext cx="118872" cy="118872"/>
          </a:xfrm>
          <a:prstGeom prst="rect">
            <a:avLst/>
          </a:prstGeom>
          <a:solidFill>
            <a:srgbClr val="6B5B95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929384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전환 분석 — </a:t>
            </a:r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웹온리 → 앱 전환율·전환 후 행동 (B 코호트와 연결)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841248" y="2852928"/>
            <a:ext cx="118872" cy="118872"/>
          </a:xfrm>
          <a:prstGeom prst="rect">
            <a:avLst/>
          </a:prstGeom>
          <a:solidFill>
            <a:srgbClr val="6B5B95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770632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추천 위치 — </a:t>
            </a:r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결제완료 페이지·이메일·웹푸시 — 앱 없는 환경의 추천 채널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841248" y="3694176"/>
            <a:ext cx="118872" cy="118872"/>
          </a:xfrm>
          <a:prstGeom prst="rect">
            <a:avLst/>
          </a:prstGeom>
          <a:solidFill>
            <a:srgbClr val="6B5B95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61188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B(웹→앱) 심층 — </a:t>
            </a:r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재방문 94.6% 최강 — 무엇이 전환을 유발하는지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841248" y="4535424"/>
            <a:ext cx="118872" cy="118872"/>
          </a:xfrm>
          <a:prstGeom prst="rect">
            <a:avLst/>
          </a:prstGeom>
          <a:solidFill>
            <a:srgbClr val="6B5B95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453128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A·C 통합 추천 매트릭스 — </a:t>
            </a:r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추천 로직 + 채널별 노출 위치 분리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6629400" y="1417320"/>
            <a:ext cx="4995367" cy="4114800"/>
          </a:xfrm>
          <a:prstGeom prst="roundRect">
            <a:avLst>
              <a:gd name="adj" fmla="val 1333"/>
            </a:avLst>
          </a:prstGeom>
          <a:solidFill>
            <a:srgbClr val="FBEFD8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1572768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해석 시 유의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0" y="193852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86600" y="1920240"/>
            <a:ext cx="438271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 정의 = pay_for_%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A와 동일 척도 (pay_under_750 제외)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0" y="2688336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86600" y="2670048"/>
            <a:ext cx="438271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웹온리 정의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첫구매 WEB &amp; 앱결제 0. 앱 미설치/미사용 추정이나 직접 확인 아님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0" y="3438144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86600" y="3419856"/>
            <a:ext cx="438271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채움 84%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A(98%)보다 낮음 — 웹 연령 분석은 16% 결측 감안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58000" y="418795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86600" y="4169664"/>
            <a:ext cx="438271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낮은 재구매 = 구조적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환경 자체가 재방문 동선 약함 — 추천 부재 탓만은 아님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58000" y="49377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86600" y="4919472"/>
            <a:ext cx="438271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전이=재방문 기준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전이는 재방문 2회차(40.7K)만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C 웹온리 Cross-Sell 분석 · pay_for_ only · (2026-06-01)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web-only Cross-Sell 분석 리뷰</dc:title>
  <dc:subject>PptxGenJS Presentation</dc:subject>
  <dc:creator>HelloBot Data</dc:creator>
  <cp:lastModifiedBy>HelloBot Data</cp:lastModifiedBy>
  <cp:revision>1</cp:revision>
  <dcterms:created xsi:type="dcterms:W3CDTF">2026-05-31T17:29:45Z</dcterms:created>
  <dcterms:modified xsi:type="dcterms:W3CDTF">2026-05-31T17:29:45Z</dcterms:modified>
</cp:coreProperties>
</file>