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914400"/>
            <a:ext cx="146304" cy="146304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146304" cy="146304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" y="914400"/>
            <a:ext cx="146304" cy="146304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3444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데이터 분석 (/dev-data)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A·C 통합 추천 매트릭스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66928" y="265176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앱·웹 두 채널, 하나의 추천 엔진  ·  (연령 × 첫 형식) → 다음 SKU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4224528"/>
            <a:ext cx="3100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연애 = 보편 디폴트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8096" y="4809744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8셀 전부 2번째 1순위 주제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4314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5482" y="4224528"/>
            <a:ext cx="3100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저연령 타로가 최강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45482" y="4809744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&lt;25 A타로 lift 2.01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1701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2869" y="4224528"/>
            <a:ext cx="3100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채널별 전달 분리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2869" y="4809744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A=인앱·인세션 / C=앱전환·리타겟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8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기준: 재방문(익일+) 2번째 구매 · 구매 정의 pay_for_% · A 앱퍼스트 98,392명 / C 웹온리 289,983명 (각 신규 코호트)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프레임워크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하나의 추천 로직, 채널별 전달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1057839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4592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추천 엔진 (A·C 동일)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" y="2011680"/>
            <a:ext cx="35204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3591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디폴트 (전 세그먼트 1순위)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544568" y="2011680"/>
            <a:ext cx="35204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23591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유지 / 타로는 A 저연령만 유지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8247888" y="2011680"/>
            <a:ext cx="35204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0" y="23591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재회·초기연애(속마음↔썸) 클러스터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66928" y="303580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채널별 전달 방식만 분리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429000"/>
            <a:ext cx="53460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2340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429000"/>
            <a:ext cx="5346040" cy="566928"/>
          </a:xfrm>
          <a:prstGeom prst="roundRect">
            <a:avLst>
              <a:gd name="adj" fmla="val 11290"/>
            </a:avLst>
          </a:prstGeom>
          <a:solidFill>
            <a:srgbClr val="23408F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3721608"/>
            <a:ext cx="5346040" cy="274320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3429000"/>
            <a:ext cx="498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 앱퍼스트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인앱 cross-sell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41248" y="4224528"/>
            <a:ext cx="91440" cy="91440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21" name="Text 19"/>
          <p:cNvSpPr/>
          <p:nvPr/>
        </p:nvSpPr>
        <p:spPr>
          <a:xfrm>
            <a:off x="1042416" y="4133088"/>
            <a:ext cx="461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직후 추천 (당일 업셀 50%)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" y="4681728"/>
            <a:ext cx="91440" cy="91440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23" name="Text 21"/>
          <p:cNvSpPr/>
          <p:nvPr/>
        </p:nvSpPr>
        <p:spPr>
          <a:xfrm>
            <a:off x="1042416" y="4590288"/>
            <a:ext cx="461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홈탭·푸시 (재방문 23%)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" y="5138928"/>
            <a:ext cx="91440" cy="91440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416" y="5047488"/>
            <a:ext cx="461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진입자 → 타로 노출 실험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78728" y="3429000"/>
            <a:ext cx="53460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8728" y="3429000"/>
            <a:ext cx="5346040" cy="566928"/>
          </a:xfrm>
          <a:prstGeom prst="roundRect">
            <a:avLst>
              <a:gd name="adj" fmla="val 11290"/>
            </a:avLst>
          </a:prstGeom>
          <a:solidFill>
            <a:srgbClr val="6B5B95"/>
          </a:solidFill>
          <a:ln/>
        </p:spPr>
      </p:sp>
      <p:sp>
        <p:nvSpPr>
          <p:cNvPr id="28" name="Shape 26"/>
          <p:cNvSpPr/>
          <p:nvPr/>
        </p:nvSpPr>
        <p:spPr>
          <a:xfrm>
            <a:off x="6278728" y="3721608"/>
            <a:ext cx="5346040" cy="274320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29" name="Text 27"/>
          <p:cNvSpPr/>
          <p:nvPr/>
        </p:nvSpPr>
        <p:spPr>
          <a:xfrm>
            <a:off x="6507328" y="3429000"/>
            <a:ext cx="498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 웹온리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리텐션·앱전환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553048" y="4224528"/>
            <a:ext cx="91440" cy="91440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31" name="Text 29"/>
          <p:cNvSpPr/>
          <p:nvPr/>
        </p:nvSpPr>
        <p:spPr>
          <a:xfrm>
            <a:off x="6754216" y="4133088"/>
            <a:ext cx="461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전환 유도 (75% 1회성 이탈)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53048" y="4681728"/>
            <a:ext cx="91440" cy="91440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33" name="Text 31"/>
          <p:cNvSpPr/>
          <p:nvPr/>
        </p:nvSpPr>
        <p:spPr>
          <a:xfrm>
            <a:off x="6754216" y="4590288"/>
            <a:ext cx="461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이메일·웹푸시 (앱 없어 푸시 불가)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53048" y="5138928"/>
            <a:ext cx="91440" cy="91440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35" name="Text 33"/>
          <p:cNvSpPr/>
          <p:nvPr/>
        </p:nvSpPr>
        <p:spPr>
          <a:xfrm>
            <a:off x="6754216" y="5047488"/>
            <a:ext cx="461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리타게팅 (median 2일)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A·C 통합 추천 매트릭스 · pay_for_ only · (2026-06-01)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모집단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같은 시장, 다른 행동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08760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2103120"/>
                <a:gridCol w="44805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앱퍼스트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웹온리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코호트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289,983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C가 3배 — 최대 모집단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재방문 재구매율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C는 A의 1/3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당일 추가구매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A=당일지배 / C=거의 없음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당일 / 재방문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/ 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/ 14%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C는 재방문&gt;당일 (반대)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2회차 없음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압도적 1회성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재방문까지 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C는 분포 뒤로 밀림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029200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" y="5029200"/>
            <a:ext cx="1050919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요약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사느냐(관심사·형식)는 A·C가 같지만, 얼마나·언제 다시 사느냐는 완전히 다름. → 추천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콘텐츠는 공유, 전달 방식은 분리.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A·C 통합 추천 매트릭스 · pay_for_ only · (2026-06-01)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추천 매트릭스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(연령 × 첫 형식) → 재방문 2번째 SKU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68680"/>
                <a:gridCol w="1691640"/>
                <a:gridCol w="1508760"/>
                <a:gridCol w="868680"/>
                <a:gridCol w="1691640"/>
                <a:gridCol w="15087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세그먼트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추천 2nd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conf(lift)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추천 2nd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conf(lift)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&lt;25 × 타로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연애+타로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 (2.01)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연애+사주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 (1.24)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&lt;25 × 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연애+사주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 (1.29)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5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연애+사주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 (1.09)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25-34 × 타로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연애+타로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51.3 (1.63)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연애+사주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 (1.16)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25-34 × 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연애+사주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 (1.19)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15,909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5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연애+사주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 (1.05)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35-44 × 타로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연애+타로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50.3 (1.60)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연애+사주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 (0.98)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35-44 × 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연애+사주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 (0.75)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5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연애+사주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36.7 (0.80)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45+ × 타로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(n&lt;200)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5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(n&lt;200)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45+ × 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연애+타로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 (0.61)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5B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연애+사주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 (0.57)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16636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읽는 법: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세그먼트 재방문 구매자가 실제로 가장 많이 산 2번째 SKU. conf=세그먼트 내 비중, lift=채널 base 대비. 모든 셀의 1순위 주제는 연애. </a:t>
            </a:r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빨강=C에서 첫형식(타로)과 달리 2번째가 사주로 수렴한 칸. A 저연령 타로만 타로→타로 유지.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A·C 통합 추천 매트릭스 · pay_for_ only · (2026-06-01)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매트릭스 해석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 가지 읽을거리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503066" cy="411480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5875">
            <a:solidFill>
              <a:srgbClr val="0E8C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691640"/>
            <a:ext cx="502920" cy="502920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35608" y="1737360"/>
            <a:ext cx="24515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= 보편 디폴트 주제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" y="2423160"/>
            <a:ext cx="300929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세그먼트 전부에서 2번째 구매의 1순위 주제가 '연애'. 채널·연령·형식 무관. 추천 엔진의 baseline 룰 — 어디서든 연애 후속을 먼저.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795528" y="4800600"/>
            <a:ext cx="3045866" cy="566928"/>
          </a:xfrm>
          <a:prstGeom prst="roundRect">
            <a:avLst>
              <a:gd name="adj" fmla="val 8065"/>
            </a:avLst>
          </a:prstGeom>
          <a:solidFill>
            <a:srgbClr val="E1F4E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800600"/>
            <a:ext cx="28081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연애 후속이 1순위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463040"/>
            <a:ext cx="3503066" cy="411480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914" y="1691640"/>
            <a:ext cx="502920" cy="502920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91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994" y="1737360"/>
            <a:ext cx="24515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 유지 = A 저연령 타로만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1202" y="2423160"/>
            <a:ext cx="300929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 진입이 타로로 이어지는 건 A의 &lt;25·25-34뿐(63%·51%). 사주 진입·고연령·C는 2번째가 대부분 사주로 수렴 — 사주가 카탈로그 다수라 회귀.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4572914" y="4800600"/>
            <a:ext cx="3045866" cy="566928"/>
          </a:xfrm>
          <a:prstGeom prst="roundRect">
            <a:avLst>
              <a:gd name="adj" fmla="val 8065"/>
            </a:avLst>
          </a:prstGeom>
          <a:solidFill>
            <a:srgbClr val="ECE8F2"/>
          </a:solidFill>
          <a:ln/>
        </p:spPr>
      </p:sp>
      <p:sp>
        <p:nvSpPr>
          <p:cNvPr id="17" name="Text 15"/>
          <p:cNvSpPr/>
          <p:nvPr/>
        </p:nvSpPr>
        <p:spPr>
          <a:xfrm>
            <a:off x="4691786" y="4800600"/>
            <a:ext cx="28081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형식 고착은 A 저연령 한정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1701" y="1463040"/>
            <a:ext cx="3503066" cy="411480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5875">
            <a:solidFill>
              <a:srgbClr val="C884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0301" y="1691640"/>
            <a:ext cx="502920" cy="502920"/>
          </a:xfrm>
          <a:prstGeom prst="ellipse">
            <a:avLst/>
          </a:prstGeom>
          <a:solidFill>
            <a:srgbClr val="C8841A"/>
          </a:solidFill>
          <a:ln/>
        </p:spPr>
      </p:sp>
      <p:sp>
        <p:nvSpPr>
          <p:cNvPr id="20" name="Text 18"/>
          <p:cNvSpPr/>
          <p:nvPr/>
        </p:nvSpPr>
        <p:spPr>
          <a:xfrm>
            <a:off x="8350301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90381" y="1737360"/>
            <a:ext cx="24515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저연령일수록 효과↑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8589" y="2423160"/>
            <a:ext cx="300929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&lt;25 A 타로 63%(lift2.01)가 최강 셀. 반대로 35-44 사주·45+는 lift&lt;1로 추천 효과 약함. 추천 투자는 저연령 우선.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8350301" y="4800600"/>
            <a:ext cx="3045866" cy="566928"/>
          </a:xfrm>
          <a:prstGeom prst="roundRect">
            <a:avLst>
              <a:gd name="adj" fmla="val 8065"/>
            </a:avLst>
          </a:prstGeom>
          <a:solidFill>
            <a:srgbClr val="FBEFD8"/>
          </a:solidFill>
          <a:ln/>
        </p:spPr>
      </p:sp>
      <p:sp>
        <p:nvSpPr>
          <p:cNvPr id="24" name="Text 22"/>
          <p:cNvSpPr/>
          <p:nvPr/>
        </p:nvSpPr>
        <p:spPr>
          <a:xfrm>
            <a:off x="8469173" y="4800600"/>
            <a:ext cx="28081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고연령·사주는 lift 낮음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A·C 통합 추천 매트릭스 · pay_for_ only · (2026-06-01)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결정 로직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세그먼트 → Next-Best-Offer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554480"/>
            <a:ext cx="91440" cy="749808"/>
          </a:xfrm>
          <a:prstGeom prst="roundRect">
            <a:avLst>
              <a:gd name="adj" fmla="val 40000"/>
            </a:avLst>
          </a:prstGeom>
          <a:solidFill>
            <a:srgbClr val="23408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645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채널 판별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18688" y="1645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결제 플랫폼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44768" y="1645920"/>
            <a:ext cx="5571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앱 / C 웹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64208" y="230428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450592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2450592"/>
            <a:ext cx="91440" cy="749808"/>
          </a:xfrm>
          <a:prstGeom prst="roundRect">
            <a:avLst>
              <a:gd name="adj" fmla="val 40000"/>
            </a:avLst>
          </a:prstGeom>
          <a:solidFill>
            <a:srgbClr val="B05A3C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5420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형식 고정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18688" y="25420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구매 content_type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44768" y="2542032"/>
            <a:ext cx="5571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타로→타로 · 사주→사주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664208" y="320040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346704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346704"/>
            <a:ext cx="91440" cy="749808"/>
          </a:xfrm>
          <a:prstGeom prst="roundRect">
            <a:avLst>
              <a:gd name="adj" fmla="val 40000"/>
            </a:avLst>
          </a:prstGeom>
          <a:solidFill>
            <a:srgbClr val="0E8C77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4381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주제 선택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18688" y="34381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 × topic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4768" y="3438144"/>
            <a:ext cx="5571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연애 / 45+ 사주는 재물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664208" y="409651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242816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4242816"/>
            <a:ext cx="91440" cy="749808"/>
          </a:xfrm>
          <a:prstGeom prst="roundRect">
            <a:avLst>
              <a:gd name="adj" fmla="val 40000"/>
            </a:avLst>
          </a:prstGeom>
          <a:solidFill>
            <a:srgbClr val="C8841A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43342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intent 미세조정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18688" y="43342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intent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44768" y="4334256"/>
            <a:ext cx="5571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재회→재회 · 속마음↔썸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664208" y="49926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5138928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138928"/>
            <a:ext cx="91440" cy="749808"/>
          </a:xfrm>
          <a:prstGeom prst="roundRect">
            <a:avLst>
              <a:gd name="adj" fmla="val 40000"/>
            </a:avLst>
          </a:prstGeom>
          <a:solidFill>
            <a:srgbClr val="6B5B95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52303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전달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18688" y="52303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채널별 위치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44768" y="5230368"/>
            <a:ext cx="5571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인앱·푸시 / C 앱전환·이메일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A·C 통합 추천 매트릭스 · pay_for_ only · (2026-06-01)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우선순위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규모 × 효과 × 난이도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503066" cy="411480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23408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828800"/>
            <a:ext cx="3503066" cy="3474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463040"/>
            <a:ext cx="31738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1순위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 인앱 추천 (즉시)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304288"/>
            <a:ext cx="30458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깨끗한 cross-sell 타겟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990088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907792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후속·intent 클러스터 룰 적용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822960" y="3593592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11296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결제직후(당일) + 홈탭(재방문)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22960" y="4197096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11480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자연발생 → 추천으로 강화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95528" y="5029200"/>
            <a:ext cx="3045866" cy="402336"/>
          </a:xfrm>
          <a:prstGeom prst="roundRect">
            <a:avLst>
              <a:gd name="adj" fmla="val 11364"/>
            </a:avLst>
          </a:prstGeom>
          <a:solidFill>
            <a:srgbClr val="E8EDF8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5029200"/>
            <a:ext cx="28629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高·난이도 低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344314" y="1463040"/>
            <a:ext cx="3503066" cy="411480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4314" y="146304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B05A3C"/>
          </a:solidFill>
          <a:ln/>
        </p:spPr>
      </p:sp>
      <p:sp>
        <p:nvSpPr>
          <p:cNvPr id="19" name="Shape 17"/>
          <p:cNvSpPr/>
          <p:nvPr/>
        </p:nvSpPr>
        <p:spPr>
          <a:xfrm>
            <a:off x="4344314" y="1828800"/>
            <a:ext cx="3503066" cy="347472"/>
          </a:xfrm>
          <a:prstGeom prst="rect">
            <a:avLst/>
          </a:prstGeom>
          <a:solidFill>
            <a:srgbClr val="B05A3C"/>
          </a:solidFill>
          <a:ln/>
        </p:spPr>
      </p:sp>
      <p:sp>
        <p:nvSpPr>
          <p:cNvPr id="20" name="Text 18"/>
          <p:cNvSpPr/>
          <p:nvPr/>
        </p:nvSpPr>
        <p:spPr>
          <a:xfrm>
            <a:off x="4545482" y="1463040"/>
            <a:ext cx="31738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2순위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사주→타로 A/B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914" y="2304288"/>
            <a:ext cx="30458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미개척 가설 검증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00346" y="2990088"/>
            <a:ext cx="82296" cy="82296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23" name="Text 21"/>
          <p:cNvSpPr/>
          <p:nvPr/>
        </p:nvSpPr>
        <p:spPr>
          <a:xfrm>
            <a:off x="4783226" y="2907792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사주 진입자(58.7K)에 타로 노출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600346" y="3593592"/>
            <a:ext cx="82296" cy="82296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25" name="Text 23"/>
          <p:cNvSpPr/>
          <p:nvPr/>
        </p:nvSpPr>
        <p:spPr>
          <a:xfrm>
            <a:off x="4783226" y="3511296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자연전이 약함(lift0.69) → 실험 필수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4600346" y="4197096"/>
            <a:ext cx="82296" cy="82296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27" name="Text 25"/>
          <p:cNvSpPr/>
          <p:nvPr/>
        </p:nvSpPr>
        <p:spPr>
          <a:xfrm>
            <a:off x="4783226" y="411480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설계로 인과 확인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572914" y="5029200"/>
            <a:ext cx="3045866" cy="402336"/>
          </a:xfrm>
          <a:prstGeom prst="roundRect">
            <a:avLst>
              <a:gd name="adj" fmla="val 11364"/>
            </a:avLst>
          </a:prstGeom>
          <a:solidFill>
            <a:srgbClr val="F6E6DE"/>
          </a:solidFill>
          <a:ln/>
        </p:spPr>
      </p:sp>
      <p:sp>
        <p:nvSpPr>
          <p:cNvPr id="29" name="Text 27"/>
          <p:cNvSpPr/>
          <p:nvPr/>
        </p:nvSpPr>
        <p:spPr>
          <a:xfrm>
            <a:off x="4664354" y="5029200"/>
            <a:ext cx="28629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B0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?·검증 필요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121701" y="1463040"/>
            <a:ext cx="3503066" cy="411480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21701" y="146304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6B5B95"/>
          </a:solidFill>
          <a:ln/>
        </p:spPr>
      </p:sp>
      <p:sp>
        <p:nvSpPr>
          <p:cNvPr id="32" name="Shape 30"/>
          <p:cNvSpPr/>
          <p:nvPr/>
        </p:nvSpPr>
        <p:spPr>
          <a:xfrm>
            <a:off x="8121701" y="1828800"/>
            <a:ext cx="3503066" cy="347472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33" name="Text 31"/>
          <p:cNvSpPr/>
          <p:nvPr/>
        </p:nvSpPr>
        <p:spPr>
          <a:xfrm>
            <a:off x="8322869" y="1463040"/>
            <a:ext cx="31738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3순위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 앱전환·리타겟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50301" y="2304288"/>
            <a:ext cx="30458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모집단(290K) 리텐션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77733" y="2990088"/>
            <a:ext cx="82296" cy="82296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36" name="Text 34"/>
          <p:cNvSpPr/>
          <p:nvPr/>
        </p:nvSpPr>
        <p:spPr>
          <a:xfrm>
            <a:off x="8560613" y="2907792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1회성 → 앱 전환이 본질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8377733" y="3593592"/>
            <a:ext cx="82296" cy="82296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38" name="Text 36"/>
          <p:cNvSpPr/>
          <p:nvPr/>
        </p:nvSpPr>
        <p:spPr>
          <a:xfrm>
            <a:off x="8560613" y="3511296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이메일·웹푸시(앱 없음)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377733" y="4197096"/>
            <a:ext cx="82296" cy="82296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40" name="Text 38"/>
          <p:cNvSpPr/>
          <p:nvPr/>
        </p:nvSpPr>
        <p:spPr>
          <a:xfrm>
            <a:off x="8560613" y="411480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B(웹→앱) 전환=재방문 94.6%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8350301" y="5029200"/>
            <a:ext cx="3045866" cy="402336"/>
          </a:xfrm>
          <a:prstGeom prst="roundRect">
            <a:avLst>
              <a:gd name="adj" fmla="val 11364"/>
            </a:avLst>
          </a:prstGeom>
          <a:solidFill>
            <a:srgbClr val="ECE8F2"/>
          </a:solidFill>
          <a:ln/>
        </p:spPr>
      </p:sp>
      <p:sp>
        <p:nvSpPr>
          <p:cNvPr id="42" name="Text 40"/>
          <p:cNvSpPr/>
          <p:nvPr/>
        </p:nvSpPr>
        <p:spPr>
          <a:xfrm>
            <a:off x="8441741" y="5029200"/>
            <a:ext cx="28629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6B5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 大·구조개선</a:t>
            </a:r>
            <a:endParaRPr lang="en-US" sz="1030" dirty="0"/>
          </a:p>
        </p:txBody>
      </p:sp>
      <p:sp>
        <p:nvSpPr>
          <p:cNvPr id="43" name="Text 41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A·C 통합 추천 매트릭스 · pay_for_ only · (2026-06-01)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통합 매트릭스 — 핵심 5가지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19072"/>
            <a:ext cx="502920" cy="502920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81328" y="164592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엔진, 두 채널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81328" y="202996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관심사·형식·intent 룰은 A·C 공통. 전달 방식만 분리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70168" y="146304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98768" y="1719072"/>
            <a:ext cx="502920" cy="502920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1" name="Text 9"/>
          <p:cNvSpPr/>
          <p:nvPr/>
        </p:nvSpPr>
        <p:spPr>
          <a:xfrm>
            <a:off x="6598768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84568" y="164592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연애가 보편 디폴트 주제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84568" y="202996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8셀 전부 1순위 연애. 형식 유지는 A 저연령 타로만, 그 외 사주로 수렴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944368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3200400"/>
            <a:ext cx="502920" cy="502920"/>
          </a:xfrm>
          <a:prstGeom prst="ellipse">
            <a:avLst/>
          </a:prstGeom>
          <a:solidFill>
            <a:srgbClr val="C8841A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81328" y="3127248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저연령일수록 추천 효과↑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81328" y="3511296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&lt;25 A타로 lift2.01 최강. 35-44사주·45+는 lift&lt;1로 약함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70168" y="2944368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8768" y="3200400"/>
            <a:ext cx="502920" cy="502920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1" name="Text 19"/>
          <p:cNvSpPr/>
          <p:nvPr/>
        </p:nvSpPr>
        <p:spPr>
          <a:xfrm>
            <a:off x="6598768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84568" y="3127248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A=인앱 / C=앱전환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84568" y="3511296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A는 당일+재방문 추천, C는 75% 1회성이라 앱전환·리타겟이 본질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425696"/>
            <a:ext cx="11057839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5875">
            <a:solidFill>
              <a:srgbClr val="0E9E8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" y="4809744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4809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81328" y="468172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우선순위: A추천 → 사주타로A/B → C전환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81328" y="5084064"/>
            <a:ext cx="99605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효과·난이도·규모 균형. C는 구조 개선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A·C 통합 추천 매트릭스 · pay_for_ only · (2026-06-01)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&amp;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실행 + 검증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852160" cy="4114800"/>
          </a:xfrm>
          <a:prstGeom prst="roundRect">
            <a:avLst>
              <a:gd name="adj" fmla="val 1333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" y="2011680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29384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A/B 설계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1순위 A 인앱 추천 + 2순위 사주→타로 실험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841248" y="2852928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770632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B(웹→앱) 분석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94.6% 최강 — 전환 유발 요인 규명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841248" y="3694176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6118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intent·가격 결합 v2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매트릭스에 intent·가격대 추가한 세분 추천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841248" y="4535424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453128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노출 위치 확정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결제직후/홈탭 · C 이메일/웹푸시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629400" y="1417320"/>
            <a:ext cx="4995367" cy="4114800"/>
          </a:xfrm>
          <a:prstGeom prst="roundRect">
            <a:avLst>
              <a:gd name="adj" fmla="val 1333"/>
            </a:avLst>
          </a:prstGeom>
          <a:solidFill>
            <a:srgbClr val="FBEFD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57276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해석 시 유의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19385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86600" y="1920240"/>
            <a:ext cx="438271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매트릭스 = 재방문 기준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업셀 제외, 재방문 2회차만 (추천이 키울 영역)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0" y="268833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2670048"/>
            <a:ext cx="438271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conf은 관찰값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추천 효과는 A/B로만 확인 (lift는 자연발생)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0" y="343814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86600" y="3419856"/>
            <a:ext cx="438271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1순위는 항상 연애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외 추천은 2~3순위 후보에서 별도 도출 필요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0" y="418795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86600" y="4169664"/>
            <a:ext cx="438271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C는 추천 이전 문제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1회성 — 앱전환·리텐션이 추천보다 선행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0" y="49377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4919472"/>
            <a:ext cx="438271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pay_for_ 정의 통일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A·C 동일 척도 (pay_under_750 제외)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A·C 통합 추천 매트릭스 · pay_for_ only · (2026-06-01)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A·C 통합 추천 매트릭스</dc:title>
  <dc:subject>PptxGenJS Presentation</dc:subject>
  <dc:creator>HelloBot Data</dc:creator>
  <cp:lastModifiedBy>HelloBot Data</cp:lastModifiedBy>
  <cp:revision>1</cp:revision>
  <dcterms:created xsi:type="dcterms:W3CDTF">2026-05-31T18:17:42Z</dcterms:created>
  <dcterms:modified xsi:type="dcterms:W3CDTF">2026-05-31T18:17:42Z</dcterms:modified>
</cp:coreProperties>
</file>