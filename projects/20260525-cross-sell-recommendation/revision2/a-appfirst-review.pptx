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14400"/>
            <a:ext cx="146304" cy="146304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146304" cy="146304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" y="914400"/>
            <a:ext cx="146304" cy="146304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3444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데이터 분석 (/dev-data)  ·  REV2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앱 1회 구매자 → 2회차 전환 분석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앱퍼스트 심층 분석 리뷰  ·  Phase 1.2 ~ 4  ·  pay_for_ only 정정판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98,392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8096" y="4828032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앱퍼스트 신규 코호트 (분석 단위)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4314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5482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 / 23%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45482" y="4828032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업셀 / 재방문 리텐션 (분리)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1701" y="402336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2869" y="420624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E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콘텐츠 &gt; 가격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22869" y="4828032"/>
            <a:ext cx="3100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반복성의 본질 = 콘텐츠 형식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8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2026-06-01 · 구매 정의 pay_for_% only (pay_under_750 평균83원 마이크로거래 제외) · 첫구매 2024-03-02~2026-03-02 (90일 성숙) · 웹·B/C 후속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정정 (REVISION 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구매 정의 수정 — pay_for_% only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FBEFD8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554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잘못됐나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95528" y="187452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기존(rev1)은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pay_% 전체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구매로 셈. 그중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pay_under_750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평균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83원짜리 마이크로거래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콘텐츠 구매가 아님(5월 12,169명/35,527건). → rev2는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pay_for_% 만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사용.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 이벤트 분류 (5월 실측)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2336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평균단가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콘텐츠?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pay_for_contents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62,982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12,482원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pay_under_750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35,527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제외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63640" y="1463040"/>
            <a:ext cx="5342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 — 결론 불변, 수치 소폭 하향</a:t>
            </a:r>
            <a:endParaRPr lang="en-US" sz="13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10512"/>
          <a:ext cx="5342839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rev1 (pay_*)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rev2 (pay_for_*)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코호트 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101,465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 (당일포함)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 (재방문)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 (당일)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2회차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263640" y="4434840"/>
            <a:ext cx="5342839" cy="1188720"/>
          </a:xfrm>
          <a:prstGeom prst="roundRect">
            <a:avLst>
              <a:gd name="adj" fmla="val 4615"/>
            </a:avLst>
          </a:prstGeom>
          <a:solidFill>
            <a:srgbClr val="E1F4EF"/>
          </a:solidFill>
          <a:ln/>
        </p:spPr>
      </p:sp>
      <p:sp>
        <p:nvSpPr>
          <p:cNvPr id="12" name="Text 8"/>
          <p:cNvSpPr/>
          <p:nvPr/>
        </p:nvSpPr>
        <p:spPr>
          <a:xfrm>
            <a:off x="6446520" y="4434840"/>
            <a:ext cx="497707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 상대순위(타로&gt;사주, 연애&gt;재물, 사주→타로 미개척)는 전부 그대로. 코호트 −3%, 재구매율 2~3%p 하향에 그침.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분석의 척추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"2회차"는 두 개의 다른 문제다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528920" cy="868680"/>
          </a:xfrm>
          <a:prstGeom prst="rect">
            <a:avLst/>
          </a:prstGeom>
          <a:solidFill>
            <a:srgbClr val="C884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00200"/>
            <a:ext cx="552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552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업셀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95848" y="1554480"/>
            <a:ext cx="2587534" cy="868680"/>
          </a:xfrm>
          <a:prstGeom prst="rect">
            <a:avLst/>
          </a:prstGeom>
          <a:solidFill>
            <a:srgbClr val="0E8C7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5848" y="1600200"/>
            <a:ext cx="2587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23.4%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48" y="2011680"/>
            <a:ext cx="25875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3382" y="1554480"/>
            <a:ext cx="2930327" cy="868680"/>
          </a:xfrm>
          <a:prstGeom prst="rect">
            <a:avLst/>
          </a:prstGeom>
          <a:solidFill>
            <a:srgbClr val="C9CE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3382" y="1600200"/>
            <a:ext cx="2930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3382" y="2011680"/>
            <a:ext cx="29303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2회차 없음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1460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A 신규 코호트 98,392명 · 첫 결제 후 2번째 콘텐츠 결제(pay_for_) 기준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794760"/>
            <a:ext cx="350306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875">
            <a:solidFill>
              <a:srgbClr val="C88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941064"/>
            <a:ext cx="3100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업셀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8096" y="425196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8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68096" y="4873752"/>
            <a:ext cx="31007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결제 당일 그 자리서 추가 구매. median 0일 — 2회차의 68%가 당일.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68096" y="5605272"/>
            <a:ext cx="3100730" cy="420624"/>
          </a:xfrm>
          <a:prstGeom prst="roundRect">
            <a:avLst>
              <a:gd name="adj" fmla="val 8696"/>
            </a:avLst>
          </a:prstGeom>
          <a:solidFill>
            <a:srgbClr val="FBEFD8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" y="5605272"/>
            <a:ext cx="29544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자연발생 중 · </a:t>
            </a:r>
            <a:pPr indent="0" marL="0">
              <a:buNone/>
            </a:pPr>
            <a:r>
              <a:rPr lang="en-US" sz="9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결제직후 추천·번들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344314" y="3794760"/>
            <a:ext cx="350306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875">
            <a:solidFill>
              <a:srgbClr val="0E8C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5482" y="3941064"/>
            <a:ext cx="3100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리텐션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45482" y="425196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8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23.4%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45482" y="4873752"/>
            <a:ext cx="31007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날 다시 와서 구매. 진짜 리텐션 신호.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545482" y="5605272"/>
            <a:ext cx="3100730" cy="420624"/>
          </a:xfrm>
          <a:prstGeom prst="roundRect">
            <a:avLst>
              <a:gd name="adj" fmla="val 8696"/>
            </a:avLst>
          </a:prstGeom>
          <a:solidFill>
            <a:srgbClr val="E1F4EF"/>
          </a:solidFill>
          <a:ln/>
        </p:spPr>
      </p:sp>
      <p:sp>
        <p:nvSpPr>
          <p:cNvPr id="25" name="Text 23"/>
          <p:cNvSpPr/>
          <p:nvPr/>
        </p:nvSpPr>
        <p:spPr>
          <a:xfrm>
            <a:off x="4636922" y="5605272"/>
            <a:ext cx="29544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추천이 키울 영역 · </a:t>
            </a:r>
            <a:pPr indent="0" marL="0">
              <a:buNone/>
            </a:pPr>
            <a:r>
              <a:rPr lang="en-US" sz="9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푸시·홈탭·리마인드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121701" y="3794760"/>
            <a:ext cx="350306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2869" y="3941064"/>
            <a:ext cx="31007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2회차 없음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22869" y="425196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322869" y="4873752"/>
            <a:ext cx="31007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구매 후 추가 구매 없음.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322869" y="5605272"/>
            <a:ext cx="3100730" cy="420624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31" name="Text 29"/>
          <p:cNvSpPr/>
          <p:nvPr/>
        </p:nvSpPr>
        <p:spPr>
          <a:xfrm>
            <a:off x="8414309" y="5605272"/>
            <a:ext cx="29544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공략 대상 · </a:t>
            </a:r>
            <a:pPr indent="0" marL="0">
              <a:buNone/>
            </a:pPr>
            <a:r>
              <a:rPr lang="en-US" sz="9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유도 전체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1.2 · BASELINE (REV2)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신규 코호트 기준선 (n=98,392)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E8EDF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23408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40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67.9%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any90 재구매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당일포함 90일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30·60·90: 64.3/66.5/67.9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9996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E1F4EF"/>
          </a:solidFill>
          <a:ln/>
        </p:spPr>
      </p:sp>
      <p:sp>
        <p:nvSpPr>
          <p:cNvPr id="10" name="Shape 8"/>
          <p:cNvSpPr/>
          <p:nvPr/>
        </p:nvSpPr>
        <p:spPr>
          <a:xfrm>
            <a:off x="339996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0E8C77"/>
          </a:solidFill>
          <a:ln/>
        </p:spPr>
      </p:sp>
      <p:sp>
        <p:nvSpPr>
          <p:cNvPr id="11" name="Text 9"/>
          <p:cNvSpPr/>
          <p:nvPr/>
        </p:nvSpPr>
        <p:spPr>
          <a:xfrm>
            <a:off x="354627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8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38.4%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56456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rev90 재방문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456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리텐션 기준선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(이후 비교의 0점)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3008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FBEFD8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3008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C8841A"/>
          </a:solidFill>
          <a:ln/>
        </p:spPr>
      </p:sp>
      <p:sp>
        <p:nvSpPr>
          <p:cNvPr id="16" name="Text 14"/>
          <p:cNvSpPr/>
          <p:nvPr/>
        </p:nvSpPr>
        <p:spPr>
          <a:xfrm>
            <a:off x="6379312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88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397600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sameday 당일업셀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97600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첫날 추가구매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인세션 레버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66047" y="1371600"/>
            <a:ext cx="2558720" cy="1371600"/>
          </a:xfrm>
          <a:prstGeom prst="roundRect">
            <a:avLst>
              <a:gd name="adj" fmla="val 4667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9066047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9212351" y="1463040"/>
            <a:ext cx="23026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 / 3.3%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230639" y="2057400"/>
            <a:ext cx="228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gender 채움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30639" y="2313432"/>
            <a:ext cx="228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연령축 사용 가능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성별축 폐기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연도별 (성숙도)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3756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첫구매연도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~53K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2026(부분)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66928" y="50749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 수치는 근사(rev2 마스터 기준 추세). 최근일수록 미성숙 경계효과로 rev90↓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492240" y="3017520"/>
            <a:ext cx="5132527" cy="2606040"/>
          </a:xfrm>
          <a:prstGeom prst="roundRect">
            <a:avLst>
              <a:gd name="adj" fmla="val 2105"/>
            </a:avLst>
          </a:prstGeom>
          <a:solidFill>
            <a:srgbClr val="F4F6FB"/>
          </a:solidFill>
          <a:ln/>
        </p:spPr>
      </p:sp>
      <p:sp>
        <p:nvSpPr>
          <p:cNvPr id="28" name="Text 25"/>
          <p:cNvSpPr/>
          <p:nvPr/>
        </p:nvSpPr>
        <p:spPr>
          <a:xfrm>
            <a:off x="6720840" y="31546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기준선이 말하는 것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720840" y="3474720"/>
            <a:ext cx="4892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재구매는 빠르다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any90의 대부분이 30일 내(64.3/67.9). 첫 2주가 승부처.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당일/재방문 분리 필수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sameday 50%는 이미 발생. 추천은 재방문(38.4) 공략.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성별은 못 쓴다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채움 3.3%. 연령·topic·형식으로 세그먼트.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1.2 · TOPIC 지형 (REV2)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연애가 시장 그 자체 — 재물·가족은 1회성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6126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005840"/>
                <a:gridCol w="1463040"/>
                <a:gridCol w="10058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 (재방문)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71,129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일반운세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자기탐구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학업직업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재물금전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가족자녀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8463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rev90 = 38.4% · 초록=상회 / 주황=최저권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03720" y="1371600"/>
            <a:ext cx="4721047" cy="1828800"/>
          </a:xfrm>
          <a:prstGeom prst="roundRect">
            <a:avLst>
              <a:gd name="adj" fmla="val 3000"/>
            </a:avLst>
          </a:prstGeom>
          <a:solidFill>
            <a:srgbClr val="E1F4EF"/>
          </a:solidFill>
          <a:ln/>
        </p:spPr>
      </p:sp>
      <p:sp>
        <p:nvSpPr>
          <p:cNvPr id="7" name="Text 4"/>
          <p:cNvSpPr/>
          <p:nvPr/>
        </p:nvSpPr>
        <p:spPr>
          <a:xfrm>
            <a:off x="7114032" y="14813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= 진입 72% + 재구매 유일 상회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14032" y="196596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코호트의 72%(71,129명)가 연애 첫구매. rev90 40.8로 주요 topic 중 유일하게 평균(38.4) 상회. cross-sell 주전장.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03720" y="3337560"/>
            <a:ext cx="4721047" cy="1828800"/>
          </a:xfrm>
          <a:prstGeom prst="roundRect">
            <a:avLst>
              <a:gd name="adj" fmla="val 3000"/>
            </a:avLst>
          </a:prstGeom>
          <a:solidFill>
            <a:srgbClr val="FBEFD8"/>
          </a:solidFill>
          <a:ln/>
        </p:spPr>
      </p:sp>
      <p:sp>
        <p:nvSpPr>
          <p:cNvPr id="10" name="Text 7"/>
          <p:cNvSpPr/>
          <p:nvPr/>
        </p:nvSpPr>
        <p:spPr>
          <a:xfrm>
            <a:off x="7114032" y="34472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재물·가족 = 1회성 (가설 지지)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14032" y="3767328"/>
            <a:ext cx="4617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 rev90 28.3 · 가족 21.6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최저권. 동일계열 반복/시즌 재방문 대상이지 cross-sell 대상 아님.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콘텐츠 형식 (REV2)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타로 vs 사주 — 진입은 사주, 재구매는 타로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005840"/>
                <a:gridCol w="91440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content_type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구매자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타로 (저가·반복)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30,601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 (고가·고정)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58,707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점성학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(미태깅)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749040"/>
            <a:ext cx="6400800" cy="749808"/>
          </a:xfrm>
          <a:prstGeom prst="roundRect">
            <a:avLst>
              <a:gd name="adj" fmla="val 7317"/>
            </a:avLst>
          </a:prstGeom>
          <a:solidFill>
            <a:srgbClr val="E8EDF8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374904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비대칭이 곧 기회 —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진입은 사주가 2배(58.7K vs 30.6K)인데, 재구매·당일은 타로가 높다 (sameday 60.6 vs 45.8).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78040" y="1371600"/>
            <a:ext cx="4446727" cy="1371600"/>
          </a:xfrm>
          <a:prstGeom prst="roundRect">
            <a:avLst>
              <a:gd name="adj" fmla="val 4667"/>
            </a:avLst>
          </a:prstGeom>
          <a:solidFill>
            <a:srgbClr val="E8EDF8"/>
          </a:solidFill>
          <a:ln/>
        </p:spPr>
      </p:sp>
      <p:sp>
        <p:nvSpPr>
          <p:cNvPr id="8" name="Shape 5"/>
          <p:cNvSpPr/>
          <p:nvPr/>
        </p:nvSpPr>
        <p:spPr>
          <a:xfrm>
            <a:off x="7178040" y="137160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23408F"/>
          </a:solidFill>
          <a:ln/>
        </p:spPr>
      </p:sp>
      <p:sp>
        <p:nvSpPr>
          <p:cNvPr id="9" name="Text 6"/>
          <p:cNvSpPr/>
          <p:nvPr/>
        </p:nvSpPr>
        <p:spPr>
          <a:xfrm>
            <a:off x="7324344" y="1463040"/>
            <a:ext cx="41906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40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+3.0%p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342632" y="2057400"/>
            <a:ext cx="41724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rev90 우위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42632" y="2313432"/>
            <a:ext cx="417240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 vs 사주 37.6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(당일은 +14.8%p)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178040" y="2880360"/>
            <a:ext cx="4446727" cy="1371600"/>
          </a:xfrm>
          <a:prstGeom prst="roundRect">
            <a:avLst>
              <a:gd name="adj" fmla="val 4667"/>
            </a:avLst>
          </a:prstGeom>
          <a:solidFill>
            <a:srgbClr val="F6E6DE"/>
          </a:solidFill>
          <a:ln/>
        </p:spPr>
      </p:sp>
      <p:sp>
        <p:nvSpPr>
          <p:cNvPr id="13" name="Shape 10"/>
          <p:cNvSpPr/>
          <p:nvPr/>
        </p:nvSpPr>
        <p:spPr>
          <a:xfrm>
            <a:off x="7178040" y="2880360"/>
            <a:ext cx="73152" cy="1371600"/>
          </a:xfrm>
          <a:prstGeom prst="roundRect">
            <a:avLst>
              <a:gd name="adj" fmla="val 37500"/>
            </a:avLst>
          </a:prstGeom>
          <a:solidFill>
            <a:srgbClr val="B05A3C"/>
          </a:solidFill>
          <a:ln/>
        </p:spPr>
      </p:sp>
      <p:sp>
        <p:nvSpPr>
          <p:cNvPr id="14" name="Text 11"/>
          <p:cNvSpPr/>
          <p:nvPr/>
        </p:nvSpPr>
        <p:spPr>
          <a:xfrm>
            <a:off x="7324344" y="2971800"/>
            <a:ext cx="41906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0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58.7K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7342632" y="3566160"/>
            <a:ext cx="41724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= 진입 주력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42632" y="3822192"/>
            <a:ext cx="417240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고가(1.8만)·1회성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재구매 효율 낮음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" y="466344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" y="4663440"/>
            <a:ext cx="1050919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질문으로 연결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"타로가 반복적인 건 콘텐츠 특성인가, 단지 싸서인가?"   →   다음 장에서 교란 분리로 규명.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핵심 규명 (REV2)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반복성 = 콘텐츠 특성 (가격 아님)</a:t>
            </a:r>
            <a:endParaRPr lang="en-US" sz="2500" dirty="0"/>
          </a:p>
        </p:txBody>
      </p:sp>
      <p:pic>
        <p:nvPicPr>
          <p:cNvPr id="4" name="Image 0" descr="/Users/taenyon/Development/neuralarcade/hellobot/projects/20260525-cross-sell-recommendation/data/rev2_price_x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86110"/>
            <a:ext cx="4572000" cy="359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394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가격tier × 형식 층화 — rev90 (열=형식 / 행=가격)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532120" y="1417320"/>
            <a:ext cx="6092647" cy="1078992"/>
          </a:xfrm>
          <a:prstGeom prst="roundRect">
            <a:avLst>
              <a:gd name="adj" fmla="val 5085"/>
            </a:avLst>
          </a:prstGeom>
          <a:solidFill>
            <a:srgbClr val="E1F4EF"/>
          </a:solidFill>
          <a:ln/>
        </p:spPr>
      </p:sp>
      <p:sp>
        <p:nvSpPr>
          <p:cNvPr id="7" name="Text 4"/>
          <p:cNvSpPr/>
          <p:nvPr/>
        </p:nvSpPr>
        <p:spPr>
          <a:xfrm>
            <a:off x="5742432" y="1527048"/>
            <a:ext cx="57543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 비교 (가격 고정)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42432" y="1837944"/>
            <a:ext cx="5708599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가격대에서 타로가 사주보다 항상 높음. 콘텐츠 효과 — 싸서가 아니라 타로라서 반복.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532120" y="2606040"/>
            <a:ext cx="6092647" cy="1078992"/>
          </a:xfrm>
          <a:prstGeom prst="roundRect">
            <a:avLst>
              <a:gd name="adj" fmla="val 5085"/>
            </a:avLst>
          </a:prstGeom>
          <a:solidFill>
            <a:srgbClr val="FBEFD8"/>
          </a:solidFill>
          <a:ln/>
        </p:spPr>
      </p:sp>
      <p:sp>
        <p:nvSpPr>
          <p:cNvPr id="10" name="Text 7"/>
          <p:cNvSpPr/>
          <p:nvPr/>
        </p:nvSpPr>
        <p:spPr>
          <a:xfrm>
            <a:off x="5742432" y="2715768"/>
            <a:ext cx="57543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비교 (형식 고정)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42432" y="3026664"/>
            <a:ext cx="5708599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 고정 시 비쌀수록 rev90↑ 경향. "싸서 반복"의 반대 — 고가가 더 진성(셀렉션).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532120" y="3794760"/>
            <a:ext cx="6092647" cy="1078992"/>
          </a:xfrm>
          <a:prstGeom prst="roundRect">
            <a:avLst>
              <a:gd name="adj" fmla="val 5085"/>
            </a:avLst>
          </a:prstGeom>
          <a:solidFill>
            <a:srgbClr val="E8EDF8"/>
          </a:solidFill>
          <a:ln/>
        </p:spPr>
      </p:sp>
      <p:sp>
        <p:nvSpPr>
          <p:cNvPr id="13" name="Text 10"/>
          <p:cNvSpPr/>
          <p:nvPr/>
        </p:nvSpPr>
        <p:spPr>
          <a:xfrm>
            <a:off x="5742432" y="3904488"/>
            <a:ext cx="57543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중앙값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42432" y="4215384"/>
            <a:ext cx="5708599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1,500원 vs 사주 18,000원 — 가격·형식이 엉켜 층화가 필수였음.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532120" y="4983480"/>
            <a:ext cx="6092647" cy="566928"/>
          </a:xfrm>
          <a:prstGeom prst="roundRect">
            <a:avLst>
              <a:gd name="adj" fmla="val 8065"/>
            </a:avLst>
          </a:prstGeom>
          <a:solidFill>
            <a:srgbClr val="1A1F36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0" y="4983480"/>
            <a:ext cx="575431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"싸서 반복" 기각 — 반복은 형식(타로) 본질. (rev1과 동일)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생애주기 (REV2)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연령 × topic — 무엇을 사는지는 나이가 가른다</a:t>
            </a:r>
            <a:endParaRPr lang="en-US" sz="2500" dirty="0"/>
          </a:p>
        </p:txBody>
      </p:sp>
      <p:pic>
        <p:nvPicPr>
          <p:cNvPr id="4" name="Image 0" descr="/Users/taenyon/Development/neuralarcade/hellobot/projects/20260525-cross-sell-recommendation/data/rev2_age_topic_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144" y="1325880"/>
            <a:ext cx="7052767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연령대 내 첫구매 topic 비중(%) · age 채움 98%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183880" y="1371600"/>
            <a:ext cx="344088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8183880" y="1371600"/>
            <a:ext cx="73152" cy="960120"/>
          </a:xfrm>
          <a:prstGeom prst="roundRect">
            <a:avLst>
              <a:gd name="adj" fmla="val 37500"/>
            </a:avLst>
          </a:prstGeom>
          <a:solidFill>
            <a:srgbClr val="23408F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1463040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66760" y="1737360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압도 (78~79%). 썸/짝사랑은 &lt;20세가 3배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8183880" y="2432304"/>
            <a:ext cx="344088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8183880" y="2432304"/>
            <a:ext cx="73152" cy="960120"/>
          </a:xfrm>
          <a:prstGeom prst="roundRect">
            <a:avLst>
              <a:gd name="adj" fmla="val 37500"/>
            </a:avLst>
          </a:prstGeom>
          <a:solidFill>
            <a:srgbClr val="0E8C77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2523744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30대 초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366760" y="2798064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결혼 피크. 궁합도 이 구간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8183880" y="3493008"/>
            <a:ext cx="344088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5" name="Shape 12"/>
          <p:cNvSpPr/>
          <p:nvPr/>
        </p:nvSpPr>
        <p:spPr>
          <a:xfrm>
            <a:off x="8183880" y="3493008"/>
            <a:ext cx="73152" cy="960120"/>
          </a:xfrm>
          <a:prstGeom prst="roundRect">
            <a:avLst>
              <a:gd name="adj" fmla="val 37500"/>
            </a:avLst>
          </a:prstGeom>
          <a:solidFill>
            <a:srgbClr val="B05A3C"/>
          </a:solidFill>
          <a:ln/>
        </p:spPr>
      </p:sp>
      <p:sp>
        <p:nvSpPr>
          <p:cNvPr id="16" name="Text 13"/>
          <p:cNvSpPr/>
          <p:nvPr/>
        </p:nvSpPr>
        <p:spPr>
          <a:xfrm>
            <a:off x="8366760" y="3584448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40대+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366760" y="3858768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 급등 (50+ 20%) · 총운·일반↑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8183880" y="4553712"/>
            <a:ext cx="3440887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9" name="Shape 16"/>
          <p:cNvSpPr/>
          <p:nvPr/>
        </p:nvSpPr>
        <p:spPr>
          <a:xfrm>
            <a:off x="8183880" y="4553712"/>
            <a:ext cx="73152" cy="960120"/>
          </a:xfrm>
          <a:prstGeom prst="roundRect">
            <a:avLst>
              <a:gd name="adj" fmla="val 37500"/>
            </a:avLst>
          </a:prstGeom>
          <a:solidFill>
            <a:srgbClr val="6B7280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645152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재구매율은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366760" y="4919472"/>
            <a:ext cx="31757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연령별 평탄 → 연령은 '무엇을'엔 강, '재구매'엔 약</a:t>
            </a:r>
            <a:endParaRPr lang="en-US" sz="103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전이 (TOPIC, REV2)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첫 → 재방문 2번째 주제 — 연애가 빨아들인다</a:t>
            </a:r>
            <a:endParaRPr lang="en-US" sz="2500" dirty="0"/>
          </a:p>
        </p:txBody>
      </p:sp>
      <p:pic>
        <p:nvPicPr>
          <p:cNvPr id="4" name="Image 0" descr="/Users/taenyon/Development/neuralarcade/hellobot/projects/20260525-cross-sell-recommendation/data/rev2_topic_transition_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393" y="1325880"/>
            <a:ext cx="600363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(행=1st → 열=2nd) · ★ 재방문 2회차만 (n=23,049)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543800" y="1371600"/>
            <a:ext cx="4080967" cy="1298448"/>
          </a:xfrm>
          <a:prstGeom prst="roundRect">
            <a:avLst>
              <a:gd name="adj" fmla="val 4225"/>
            </a:avLst>
          </a:prstGeom>
          <a:solidFill>
            <a:srgbClr val="E1F4EF"/>
          </a:solidFill>
          <a:ln/>
        </p:spPr>
      </p:sp>
      <p:sp>
        <p:nvSpPr>
          <p:cNvPr id="7" name="Text 4"/>
          <p:cNvSpPr/>
          <p:nvPr/>
        </p:nvSpPr>
        <p:spPr>
          <a:xfrm>
            <a:off x="7754112" y="1481328"/>
            <a:ext cx="37426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자기완결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54112" y="1792224"/>
            <a:ext cx="36969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연애→연애 79.4%. cross-sell 대부분 연애 내부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2779776"/>
            <a:ext cx="4080967" cy="1298448"/>
          </a:xfrm>
          <a:prstGeom prst="roundRect">
            <a:avLst>
              <a:gd name="adj" fmla="val 4225"/>
            </a:avLst>
          </a:prstGeom>
          <a:solidFill>
            <a:srgbClr val="E8EDF8"/>
          </a:solidFill>
          <a:ln/>
        </p:spPr>
      </p:sp>
      <p:sp>
        <p:nvSpPr>
          <p:cNvPr id="10" name="Text 7"/>
          <p:cNvSpPr/>
          <p:nvPr/>
        </p:nvSpPr>
        <p:spPr>
          <a:xfrm>
            <a:off x="7754112" y="2889504"/>
            <a:ext cx="37426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결혼→연애 강함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54112" y="3200400"/>
            <a:ext cx="36969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결혼도 연애 우산 안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43800" y="4187952"/>
            <a:ext cx="4080967" cy="1298448"/>
          </a:xfrm>
          <a:prstGeom prst="roundRect">
            <a:avLst>
              <a:gd name="adj" fmla="val 4225"/>
            </a:avLst>
          </a:prstGeom>
          <a:solidFill>
            <a:srgbClr val="FBEFD8"/>
          </a:solidFill>
          <a:ln/>
        </p:spPr>
      </p:sp>
      <p:sp>
        <p:nvSpPr>
          <p:cNvPr id="13" name="Text 10"/>
          <p:cNvSpPr/>
          <p:nvPr/>
        </p:nvSpPr>
        <p:spPr>
          <a:xfrm>
            <a:off x="7754112" y="4297680"/>
            <a:ext cx="37426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틈새 동일계열 고착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54112" y="4608576"/>
            <a:ext cx="369691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재물·학업·가족 대각선 lift 7~31. 연애로 거의 안 감 → cross-sell 대상 아님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핵심 발견 (rev2)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사주 → 타로 전이는 자연발생하지 않는다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5943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\ 2nd(재방문)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타로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사주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타로 진입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64.7%  (lift 1.68)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  (0.40)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05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사주 진입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  (lift 0.69)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56.6%  (1.31)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4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154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base(재방문): 2nd=타로 38.5% · 2nd=사주 43.2%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36118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형식 모두 강한 자기고착.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진입자가 재방문 시 타로로 가는 비율 26.5% — base(38.5%)보다 낮다(lift 0.69).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12280" y="1463040"/>
            <a:ext cx="4812487" cy="4069080"/>
          </a:xfrm>
          <a:prstGeom prst="roundRect">
            <a:avLst>
              <a:gd name="adj" fmla="val 1573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0" y="16276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패러독스 = 최대 미개척 기회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0" y="201168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타로가 재구매율 더 높다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(40.6 vs 37.6)
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대량 진입자(58.7K)는 타로로 잘 안 넘어간다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(lift 0.69)
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해석:
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ⓐ 미개척 — 추천으로 밀면 전환
</a:t>
            </a:r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ⓑ 고정선호 — 형식 취향 강해 안 먹힘
</a:t>
            </a:r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관찰로는 구분 불가 → A/B로만 판별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(rev1 lift 0.66 → rev2 0.69, 동일 결론)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연애 내부 경로 (REV2)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전이 — 같은 단계 반복 + 초기연애 클러스터</a:t>
            </a:r>
            <a:endParaRPr lang="en-US" sz="2500" dirty="0"/>
          </a:p>
        </p:txBody>
      </p:sp>
      <p:pic>
        <p:nvPicPr>
          <p:cNvPr id="4" name="Image 0" descr="/Users/taenyon/Development/neuralarcade/hellobot/projects/20260525-cross-sell-recommendation/data/rev2_love_intent_transition_l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1325880"/>
            <a:ext cx="6468466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406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연애→연애 재방문 12,068명 · LIFT (행=1st → 열=2nd intent)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452360" y="1371600"/>
            <a:ext cx="4172407" cy="1298448"/>
          </a:xfrm>
          <a:prstGeom prst="roundRect">
            <a:avLst>
              <a:gd name="adj" fmla="val 4225"/>
            </a:avLst>
          </a:prstGeom>
          <a:solidFill>
            <a:srgbClr val="E8EDF8"/>
          </a:solidFill>
          <a:ln/>
        </p:spPr>
      </p:sp>
      <p:sp>
        <p:nvSpPr>
          <p:cNvPr id="7" name="Text 4"/>
          <p:cNvSpPr/>
          <p:nvPr/>
        </p:nvSpPr>
        <p:spPr>
          <a:xfrm>
            <a:off x="7662672" y="1481328"/>
            <a:ext cx="38340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강한 자기고착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62672" y="1792224"/>
            <a:ext cx="378835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대각선 전부 &gt;2 (재회2.6·궁합6.4·썸4.6). 현재 연애 상황 잘 안 변함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52360" y="2779776"/>
            <a:ext cx="4172407" cy="1298448"/>
          </a:xfrm>
          <a:prstGeom prst="roundRect">
            <a:avLst>
              <a:gd name="adj" fmla="val 4225"/>
            </a:avLst>
          </a:prstGeom>
          <a:solidFill>
            <a:srgbClr val="E1F4EF"/>
          </a:solidFill>
          <a:ln/>
        </p:spPr>
      </p:sp>
      <p:sp>
        <p:nvSpPr>
          <p:cNvPr id="10" name="Text 7"/>
          <p:cNvSpPr/>
          <p:nvPr/>
        </p:nvSpPr>
        <p:spPr>
          <a:xfrm>
            <a:off x="7662672" y="2889504"/>
            <a:ext cx="38340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속마음 ↔ 썸 클러스터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62672" y="3200400"/>
            <a:ext cx="378835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초기연애 양방향. '상대 속마음·썸' 교차 추천 지지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52360" y="4187952"/>
            <a:ext cx="4172407" cy="1298448"/>
          </a:xfrm>
          <a:prstGeom prst="roundRect">
            <a:avLst>
              <a:gd name="adj" fmla="val 4225"/>
            </a:avLst>
          </a:prstGeom>
          <a:solidFill>
            <a:srgbClr val="FBEFD8"/>
          </a:solidFill>
          <a:ln/>
        </p:spPr>
      </p:sp>
      <p:sp>
        <p:nvSpPr>
          <p:cNvPr id="13" name="Text 10"/>
          <p:cNvSpPr/>
          <p:nvPr/>
        </p:nvSpPr>
        <p:spPr>
          <a:xfrm>
            <a:off x="7662672" y="4297680"/>
            <a:ext cx="38340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재회는 고립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662672" y="4608576"/>
            <a:ext cx="378835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재회→재회만 강함(68.8%). 재회 후속물이 정답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추천 매트릭스 V1 (REV2)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(연령 × 첫 형식) → 재방문 2번째 SKU</a:t>
            </a:r>
            <a:endParaRPr lang="en-US" sz="2500" dirty="0"/>
          </a:p>
        </p:txBody>
      </p:sp>
      <p:pic>
        <p:nvPicPr>
          <p:cNvPr id="4" name="Image 0" descr="/Users/taenyon/Development/neuralarcade/hellobot/projects/20260525-cross-sell-recommendation/data/rev2_reco_matrix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371600"/>
            <a:ext cx="8223199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4754880"/>
            <a:ext cx="3503066" cy="1005840"/>
          </a:xfrm>
          <a:prstGeom prst="roundRect">
            <a:avLst>
              <a:gd name="adj" fmla="val 5455"/>
            </a:avLst>
          </a:prstGeom>
          <a:solidFill>
            <a:srgbClr val="E8EDF8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" y="4864608"/>
            <a:ext cx="313730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형식이 1차 제약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9808" y="5175504"/>
            <a:ext cx="313730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세그먼트에서 같은 형식(타로→타로)이 최상위. 전환은 lift&lt;1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4344314" y="4754880"/>
            <a:ext cx="3503066" cy="1005840"/>
          </a:xfrm>
          <a:prstGeom prst="roundRect">
            <a:avLst>
              <a:gd name="adj" fmla="val 5455"/>
            </a:avLst>
          </a:prstGeom>
          <a:solidFill>
            <a:srgbClr val="F6E6DE"/>
          </a:solidFill>
          <a:ln/>
        </p:spPr>
      </p:sp>
      <p:sp>
        <p:nvSpPr>
          <p:cNvPr id="9" name="Text 6"/>
          <p:cNvSpPr/>
          <p:nvPr/>
        </p:nvSpPr>
        <p:spPr>
          <a:xfrm>
            <a:off x="4527194" y="4864608"/>
            <a:ext cx="313730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연령이 2차 주제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27194" y="5175504"/>
            <a:ext cx="313730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연령별 사주 주제 분기 (결혼·재물)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8121701" y="4754880"/>
            <a:ext cx="3503066" cy="1005840"/>
          </a:xfrm>
          <a:prstGeom prst="roundRect">
            <a:avLst>
              <a:gd name="adj" fmla="val 5455"/>
            </a:avLst>
          </a:prstGeom>
          <a:solidFill>
            <a:srgbClr val="E1F4EF"/>
          </a:solidFill>
          <a:ln/>
        </p:spPr>
      </p:sp>
      <p:sp>
        <p:nvSpPr>
          <p:cNvPr id="12" name="Text 9"/>
          <p:cNvSpPr/>
          <p:nvPr/>
        </p:nvSpPr>
        <p:spPr>
          <a:xfrm>
            <a:off x="8304581" y="4864608"/>
            <a:ext cx="313730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연애는 디폴트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304581" y="5175504"/>
            <a:ext cx="313730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어디서든 love+(자기형식) 1위 — 안전빵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566928" y="4526280"/>
            <a:ext cx="1105783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재방문 2회차 기준 (분모 23,049) — conf 절대값은 ever보다 낮으나 해석 동일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(rev2)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6가지 핵심 발견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0" cy="502920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81328" y="164592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2회차 = 두 문제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202996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업셀 50% (자연발생) vs 재방문 23% (추천 공략). 분리 필수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370168" y="146304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98768" y="1719072"/>
            <a:ext cx="502920" cy="502920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1" name="Text 9"/>
          <p:cNvSpPr/>
          <p:nvPr/>
        </p:nvSpPr>
        <p:spPr>
          <a:xfrm>
            <a:off x="659876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84568" y="164592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연애가 시장 그 자체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84568" y="202996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 72% + 재구매 유일 상회(40.8). cross-sell 주전장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66928" y="297180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3227832"/>
            <a:ext cx="502920" cy="502920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81328" y="315468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반복성 = 콘텐츠 특성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81328" y="353872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타로&gt;사주는 가격 아닌 형식 효과. "싸서 반복" 기각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70168" y="297180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8768" y="3227832"/>
            <a:ext cx="502920" cy="502920"/>
          </a:xfrm>
          <a:prstGeom prst="ellipse">
            <a:avLst/>
          </a:prstGeom>
          <a:solidFill>
            <a:srgbClr val="0E9E84"/>
          </a:solidFill>
          <a:ln/>
        </p:spPr>
      </p:sp>
      <p:sp>
        <p:nvSpPr>
          <p:cNvPr id="21" name="Text 19"/>
          <p:cNvSpPr/>
          <p:nvPr/>
        </p:nvSpPr>
        <p:spPr>
          <a:xfrm>
            <a:off x="6598768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84568" y="315468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사주→타로 = 미개척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84568" y="353872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재구매 우위인데 자연전이 약함(lift0.69). A/B로 검증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4736592"/>
            <a:ext cx="502920" cy="502920"/>
          </a:xfrm>
          <a:prstGeom prst="ellipse">
            <a:avLst/>
          </a:prstGeom>
          <a:solidFill>
            <a:srgbClr val="C8841A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81328" y="466344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연령이 주제를 가른다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81328" y="504748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10-20대 연애→30대 결혼→40대+ 재물. 재구매율은 평탄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370168" y="4480560"/>
            <a:ext cx="5254600" cy="1280160"/>
          </a:xfrm>
          <a:prstGeom prst="roundRect">
            <a:avLst>
              <a:gd name="adj" fmla="val 5000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98768" y="47365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659876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84568" y="4663440"/>
            <a:ext cx="415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초기연애 교차·재구매 단가↓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84568" y="5047488"/>
            <a:ext cx="415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속마음↔썸 클러스터 / 2번째 구매 저가화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후보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데이터가 지지하는 추천 룰 3가지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0E8C77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83080"/>
            <a:ext cx="3503066" cy="347472"/>
          </a:xfrm>
          <a:prstGeom prst="rect">
            <a:avLst/>
          </a:prstGeom>
          <a:solidFill>
            <a:srgbClr val="0E8C77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안전 (즉시)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" y="2286000"/>
            <a:ext cx="30458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연애 진입자 → 같은 형식 연애 후속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26664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초기연애: 속마음 ↔ 썸 교차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38728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재회: 재회 후속물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2960" y="4133088"/>
            <a:ext cx="82296" cy="8229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5079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intent 자기고착 + 클러스터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95528" y="4690872"/>
            <a:ext cx="3045866" cy="475488"/>
          </a:xfrm>
          <a:prstGeom prst="roundRect">
            <a:avLst>
              <a:gd name="adj" fmla="val 9615"/>
            </a:avLst>
          </a:prstGeom>
          <a:solidFill>
            <a:srgbClr val="E1F4EF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690872"/>
            <a:ext cx="28629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자연발생 → 추천으로 강화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4314" y="141732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4314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23408F"/>
          </a:solidFill>
          <a:ln/>
        </p:spPr>
      </p:sp>
      <p:sp>
        <p:nvSpPr>
          <p:cNvPr id="19" name="Shape 17"/>
          <p:cNvSpPr/>
          <p:nvPr/>
        </p:nvSpPr>
        <p:spPr>
          <a:xfrm>
            <a:off x="4344314" y="1783080"/>
            <a:ext cx="3503066" cy="3474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914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연령맞춤 (즉시)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914" y="2286000"/>
            <a:ext cx="30458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연령별 사주 주제 추천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00346" y="3108960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23" name="Text 21"/>
          <p:cNvSpPr/>
          <p:nvPr/>
        </p:nvSpPr>
        <p:spPr>
          <a:xfrm>
            <a:off x="4783226" y="3026664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25-34 사주 → 결혼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600346" y="3621024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25" name="Text 23"/>
          <p:cNvSpPr/>
          <p:nvPr/>
        </p:nvSpPr>
        <p:spPr>
          <a:xfrm>
            <a:off x="4783226" y="3538728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사주 → 재물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600346" y="4133088"/>
            <a:ext cx="82296" cy="8229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27" name="Text 25"/>
          <p:cNvSpPr/>
          <p:nvPr/>
        </p:nvSpPr>
        <p:spPr>
          <a:xfrm>
            <a:off x="4783226" y="405079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연령×topic 일치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4572914" y="4690872"/>
            <a:ext cx="3045866" cy="475488"/>
          </a:xfrm>
          <a:prstGeom prst="roundRect">
            <a:avLst>
              <a:gd name="adj" fmla="val 9615"/>
            </a:avLst>
          </a:prstGeom>
          <a:solidFill>
            <a:srgbClr val="E8EDF8"/>
          </a:solidFill>
          <a:ln/>
        </p:spPr>
      </p:sp>
      <p:sp>
        <p:nvSpPr>
          <p:cNvPr id="29" name="Text 27"/>
          <p:cNvSpPr/>
          <p:nvPr/>
        </p:nvSpPr>
        <p:spPr>
          <a:xfrm>
            <a:off x="4664354" y="4690872"/>
            <a:ext cx="28629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자연발생 → 추천으로 강화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21701" y="1417320"/>
            <a:ext cx="3503066" cy="3931920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21701" y="1417320"/>
            <a:ext cx="3503066" cy="713232"/>
          </a:xfrm>
          <a:prstGeom prst="roundRect">
            <a:avLst>
              <a:gd name="adj" fmla="val 8974"/>
            </a:avLst>
          </a:prstGeom>
          <a:solidFill>
            <a:srgbClr val="B05A3C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1701" y="1783080"/>
            <a:ext cx="3503066" cy="347472"/>
          </a:xfrm>
          <a:prstGeom prst="rect">
            <a:avLst/>
          </a:prstGeom>
          <a:solidFill>
            <a:srgbClr val="B05A3C"/>
          </a:solidFill>
          <a:ln/>
        </p:spPr>
      </p:sp>
      <p:sp>
        <p:nvSpPr>
          <p:cNvPr id="33" name="Text 31"/>
          <p:cNvSpPr/>
          <p:nvPr/>
        </p:nvSpPr>
        <p:spPr>
          <a:xfrm>
            <a:off x="8350301" y="1417320"/>
            <a:ext cx="31373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실험 필요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350301" y="2286000"/>
            <a:ext cx="304586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대량진입자 → 타로 노출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377733" y="3108960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36" name="Text 34"/>
          <p:cNvSpPr/>
          <p:nvPr/>
        </p:nvSpPr>
        <p:spPr>
          <a:xfrm>
            <a:off x="8560613" y="3026664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 재구매 우위(40.6%)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8377733" y="3621024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38" name="Text 36"/>
          <p:cNvSpPr/>
          <p:nvPr/>
        </p:nvSpPr>
        <p:spPr>
          <a:xfrm>
            <a:off x="8560613" y="3538728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자연전이 약함(lift 0.69)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8377733" y="4133088"/>
            <a:ext cx="82296" cy="82296"/>
          </a:xfrm>
          <a:prstGeom prst="ellipse">
            <a:avLst/>
          </a:prstGeom>
          <a:solidFill>
            <a:srgbClr val="B05A3C"/>
          </a:solidFill>
          <a:ln/>
        </p:spPr>
      </p:sp>
      <p:sp>
        <p:nvSpPr>
          <p:cNvPr id="40" name="Text 38"/>
          <p:cNvSpPr/>
          <p:nvPr/>
        </p:nvSpPr>
        <p:spPr>
          <a:xfrm>
            <a:off x="8560613" y="4050792"/>
            <a:ext cx="28629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불확실 → 검증 대상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8350301" y="4690872"/>
            <a:ext cx="3045866" cy="475488"/>
          </a:xfrm>
          <a:prstGeom prst="roundRect">
            <a:avLst>
              <a:gd name="adj" fmla="val 9615"/>
            </a:avLst>
          </a:prstGeom>
          <a:solidFill>
            <a:srgbClr val="F6E6DE"/>
          </a:solidFill>
          <a:ln/>
        </p:spPr>
      </p:sp>
      <p:sp>
        <p:nvSpPr>
          <p:cNvPr id="42" name="Text 40"/>
          <p:cNvSpPr/>
          <p:nvPr/>
        </p:nvSpPr>
        <p:spPr>
          <a:xfrm>
            <a:off x="8441741" y="4690872"/>
            <a:ext cx="28629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테스트 1순위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&amp;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 + 검증 필요 사항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852160" cy="4114800"/>
          </a:xfrm>
          <a:prstGeom prst="roundRect">
            <a:avLst>
              <a:gd name="adj" fmla="val 133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7276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— Phase 5 (A/B 설계)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2011680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2938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실험 1순위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사주 진입자 타로 노출 — 노출위치·표본·기간·지표(재방문 rev90↑)·holdout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841248" y="2880360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9806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A·B 룰 적용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적용 가능 룰을 실행 위치에 매핑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841248" y="3749040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666744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vs 재방문 별도 레버 — </a:t>
            </a:r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당일=결제직후 추천 / 재방문=푸시·홈탭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트랙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웹→앱(재방문 강) 동일 틀 · C 웹온리 마케팅 · 매출 비중 · 번들 분해 검증(당일 50% 일부가 패키지 분할인지)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9400" y="1417320"/>
            <a:ext cx="4995367" cy="4114800"/>
          </a:xfrm>
          <a:prstGeom prst="roundRect">
            <a:avLst>
              <a:gd name="adj" fmla="val 1333"/>
            </a:avLst>
          </a:prstGeom>
          <a:solidFill>
            <a:srgbClr val="FBEFD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5727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해석 시 유의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193852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1920240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정의 = pay_for_%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pay_under_750(83원) 제외 정정 완료. 데이터 소스 master_users.csv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2651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2633472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50%는 실제 행동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83원 제거 후에도 당일 50% → 번들 분할 여부는 추가 검증 권장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336499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3346704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lift는 상관, 인과 아님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전이·추천 lift는 관찰값. 추천 효과는 A/B로만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407822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4059936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전이=재방문 2회차 기준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Phase3/4는 재방문(23K)만. baseline any90과 분모 다름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0" y="479145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4773168"/>
            <a:ext cx="43827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성별 폐기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채움 3.3%로 분석 불가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A 앱퍼스트 Cross-Sell 분석 · rev2 (pay_for_ only) · Phase 1.2~4 (2026-06-01)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app-first Cross-Sell 분석 리뷰 rev2 (Phase 1.2~4)</dc:title>
  <dc:subject>PptxGenJS Presentation</dc:subject>
  <dc:creator>HelloBot Data</dc:creator>
  <cp:lastModifiedBy>HelloBot Data</cp:lastModifiedBy>
  <cp:revision>1</cp:revision>
  <dcterms:created xsi:type="dcterms:W3CDTF">2026-05-31T16:39:14Z</dcterms:created>
  <dcterms:modified xsi:type="dcterms:W3CDTF">2026-05-31T16:39:14Z</dcterms:modified>
</cp:coreProperties>
</file>