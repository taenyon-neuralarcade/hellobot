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914400"/>
            <a:ext cx="146304" cy="146304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914400"/>
            <a:ext cx="146304" cy="146304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" y="914400"/>
            <a:ext cx="146304" cy="146304"/>
          </a:xfrm>
          <a:prstGeom prst="ellipse">
            <a:avLst/>
          </a:prstGeom>
          <a:solidFill>
            <a:srgbClr val="B05A3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234440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데이터 분석 (/dev-data)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691640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앱 1회 구매자 → 2회차 전환 분석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26060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앱퍼스트 심층 분석 리뷰  ·  Phase 1.2 ~ 4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66928" y="4023360"/>
            <a:ext cx="3503066" cy="1234440"/>
          </a:xfrm>
          <a:prstGeom prst="roundRect">
            <a:avLst>
              <a:gd name="adj" fmla="val 5926"/>
            </a:avLst>
          </a:prstGeom>
          <a:solidFill>
            <a:srgbClr val="1C2547"/>
          </a:solidFill>
          <a:ln w="12700">
            <a:solidFill>
              <a:srgbClr val="2E3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4206240"/>
            <a:ext cx="31007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101,465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768096" y="4809744"/>
            <a:ext cx="3100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앱퍼스트 신규 코호트 (분석 단위)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4314" y="4023360"/>
            <a:ext cx="3503066" cy="1234440"/>
          </a:xfrm>
          <a:prstGeom prst="roundRect">
            <a:avLst>
              <a:gd name="adj" fmla="val 5926"/>
            </a:avLst>
          </a:prstGeom>
          <a:solidFill>
            <a:srgbClr val="1C2547"/>
          </a:solidFill>
          <a:ln w="12700">
            <a:solidFill>
              <a:srgbClr val="2E3A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5482" y="4206240"/>
            <a:ext cx="31007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75.2%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545482" y="4809744"/>
            <a:ext cx="3100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2회차 구매 보유율 (ever)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1701" y="4023360"/>
            <a:ext cx="3503066" cy="1234440"/>
          </a:xfrm>
          <a:prstGeom prst="roundRect">
            <a:avLst>
              <a:gd name="adj" fmla="val 5926"/>
            </a:avLst>
          </a:prstGeom>
          <a:solidFill>
            <a:srgbClr val="1C2547"/>
          </a:solidFill>
          <a:ln w="12700">
            <a:solidFill>
              <a:srgbClr val="2E3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2869" y="4206240"/>
            <a:ext cx="31007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9E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콘텐츠 &gt; 가격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22869" y="4809744"/>
            <a:ext cx="3100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반복성의 본질 = 콘텐츠 형식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E8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 시점 2026-06-01  ·  대상: 첫 콘텐츠결제가 APP &amp; 첫구매일 2024-03-02~2026-03-02 (90일 성숙)  ·  웹·B/C채널은 후속 트랙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범위 &amp; 접근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무엇을, 어떤 데이터로 봤나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212080" cy="3794760"/>
          </a:xfrm>
          <a:prstGeom prst="roundRect">
            <a:avLst>
              <a:gd name="adj" fmla="val 1446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7276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스코프 — A 앱퍼스트 집중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콘텐츠 구매자 1.23M 중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결제가 앱(IOS/AND)인 신규 코호트 101,465명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 집중. (웹온리 C·웹→앱 B는 후속)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6700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지표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rev90 — 90일 내 재방문(익일+) 재구매율 (★ 리텐션 핵심)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any90 — 동일일 포함 90일 내 재구매율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sameday — 첫 결제 당일 추가구매율 (인세션 업셀)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— 전체 대비 N배 (전이·추천 강도)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데이터 축 (직교)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41655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(관심사: 연애·재물·결혼…) 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0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⟂  content_type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(형식: 타로·사주)</a:t>
            </a:r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연령 · 가격 · 연애 intents(재회·썸…)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80760" y="1481328"/>
            <a:ext cx="552571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흐름 (Phase 1.2 → 4)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80760" y="1874520"/>
            <a:ext cx="5541264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2075688"/>
            <a:ext cx="457200" cy="457200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14" name="Text 12"/>
          <p:cNvSpPr/>
          <p:nvPr/>
        </p:nvSpPr>
        <p:spPr>
          <a:xfrm>
            <a:off x="6245352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198424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858000" y="23134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코호트 기준선 — 재구매율·시간·채움률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271576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2825496"/>
            <a:ext cx="5541264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45352" y="3026664"/>
            <a:ext cx="457200" cy="457200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20" name="Text 18"/>
          <p:cNvSpPr/>
          <p:nvPr/>
        </p:nvSpPr>
        <p:spPr>
          <a:xfrm>
            <a:off x="6245352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29352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858000" y="326440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타로/사주·연령×topic·반복성 동인(가격 vs 콘텐츠)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366674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3776472"/>
            <a:ext cx="5541264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45352" y="3977640"/>
            <a:ext cx="457200" cy="457200"/>
          </a:xfrm>
          <a:prstGeom prst="ellipse">
            <a:avLst/>
          </a:prstGeom>
          <a:solidFill>
            <a:srgbClr val="C8841A"/>
          </a:solidFill>
          <a:ln/>
        </p:spPr>
      </p:sp>
      <p:sp>
        <p:nvSpPr>
          <p:cNvPr id="26" name="Text 24"/>
          <p:cNvSpPr/>
          <p:nvPr/>
        </p:nvSpPr>
        <p:spPr>
          <a:xfrm>
            <a:off x="6245352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38862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858000" y="421538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SKU → 2번째 SKU 전이 matrix + lift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461772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4727448"/>
            <a:ext cx="5541264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45352" y="4928616"/>
            <a:ext cx="457200" cy="457200"/>
          </a:xfrm>
          <a:prstGeom prst="ellipse">
            <a:avLst/>
          </a:prstGeom>
          <a:solidFill>
            <a:srgbClr val="B05A3C"/>
          </a:solidFill>
          <a:ln/>
        </p:spPr>
      </p:sp>
      <p:sp>
        <p:nvSpPr>
          <p:cNvPr id="32" name="Text 30"/>
          <p:cNvSpPr/>
          <p:nvPr/>
        </p:nvSpPr>
        <p:spPr>
          <a:xfrm>
            <a:off x="6245352" y="4928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0" y="483717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NBO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6858000" y="51663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 intent 전이 + 추천 매트릭스 v1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분석 리뷰 · Phase 1.2~4 (2026-06-01)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1.2 · BASELINE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신규 코호트 기준선 (n=101,465)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558720" cy="1371600"/>
          </a:xfrm>
          <a:prstGeom prst="roundRect">
            <a:avLst>
              <a:gd name="adj" fmla="val 4667"/>
            </a:avLst>
          </a:prstGeom>
          <a:solidFill>
            <a:srgbClr val="E8EDF8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37160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23408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63040"/>
            <a:ext cx="2302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40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69.9%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228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any90 재구매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313432"/>
            <a:ext cx="228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30·60·90일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66.2 / 68.5 / 69.9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99968" y="1371600"/>
            <a:ext cx="2558720" cy="1371600"/>
          </a:xfrm>
          <a:prstGeom prst="roundRect">
            <a:avLst>
              <a:gd name="adj" fmla="val 4667"/>
            </a:avLst>
          </a:prstGeom>
          <a:solidFill>
            <a:srgbClr val="E1F4EF"/>
          </a:solidFill>
          <a:ln/>
        </p:spPr>
      </p:sp>
      <p:sp>
        <p:nvSpPr>
          <p:cNvPr id="10" name="Shape 8"/>
          <p:cNvSpPr/>
          <p:nvPr/>
        </p:nvSpPr>
        <p:spPr>
          <a:xfrm>
            <a:off x="3399968" y="137160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0E8C77"/>
          </a:solidFill>
          <a:ln/>
        </p:spPr>
      </p:sp>
      <p:sp>
        <p:nvSpPr>
          <p:cNvPr id="11" name="Text 9"/>
          <p:cNvSpPr/>
          <p:nvPr/>
        </p:nvSpPr>
        <p:spPr>
          <a:xfrm>
            <a:off x="3546272" y="1463040"/>
            <a:ext cx="2302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8C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41.7%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64560" y="2057400"/>
            <a:ext cx="228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rev90 재방문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64560" y="2313432"/>
            <a:ext cx="228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리텐션 기준선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(이후 모든 비교의 0점)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33008" y="1371600"/>
            <a:ext cx="2558720" cy="1371600"/>
          </a:xfrm>
          <a:prstGeom prst="roundRect">
            <a:avLst>
              <a:gd name="adj" fmla="val 4667"/>
            </a:avLst>
          </a:prstGeom>
          <a:solidFill>
            <a:srgbClr val="FBEFD8"/>
          </a:solidFill>
          <a:ln/>
        </p:spPr>
      </p:sp>
      <p:sp>
        <p:nvSpPr>
          <p:cNvPr id="15" name="Shape 13"/>
          <p:cNvSpPr/>
          <p:nvPr/>
        </p:nvSpPr>
        <p:spPr>
          <a:xfrm>
            <a:off x="6233008" y="137160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C8841A"/>
          </a:solidFill>
          <a:ln/>
        </p:spPr>
      </p:sp>
      <p:sp>
        <p:nvSpPr>
          <p:cNvPr id="16" name="Text 14"/>
          <p:cNvSpPr/>
          <p:nvPr/>
        </p:nvSpPr>
        <p:spPr>
          <a:xfrm>
            <a:off x="6379312" y="1463040"/>
            <a:ext cx="2302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8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10일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97600" y="2057400"/>
            <a:ext cx="228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 median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97600" y="2313432"/>
            <a:ext cx="228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추천·푸시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골든타임 ≈ 1~2주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66047" y="1371600"/>
            <a:ext cx="2558720" cy="1371600"/>
          </a:xfrm>
          <a:prstGeom prst="roundRect">
            <a:avLst>
              <a:gd name="adj" fmla="val 4667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9066047" y="137160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6B7280"/>
          </a:solidFill>
          <a:ln/>
        </p:spPr>
      </p:sp>
      <p:sp>
        <p:nvSpPr>
          <p:cNvPr id="21" name="Text 19"/>
          <p:cNvSpPr/>
          <p:nvPr/>
        </p:nvSpPr>
        <p:spPr>
          <a:xfrm>
            <a:off x="9212351" y="1463040"/>
            <a:ext cx="2302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 / 3.3%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230639" y="2057400"/>
            <a:ext cx="228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/ gender 채움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230639" y="2313432"/>
            <a:ext cx="228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연령축 사용 가능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성별축 폐기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코호트 연도별 (성숙도 영향)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337560"/>
          <a:ext cx="5486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371600"/>
                <a:gridCol w="109728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첫구매연도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54,568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41,670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2026(부분)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566928" y="5285232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코호트일수록 rev90↓ — 90일 성숙 컷오프(2026-03-02)로 미성숙 제외했으나 2026 잔여분은 경계효과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492240" y="3017520"/>
            <a:ext cx="5132527" cy="2606040"/>
          </a:xfrm>
          <a:prstGeom prst="roundRect">
            <a:avLst>
              <a:gd name="adj" fmla="val 2105"/>
            </a:avLst>
          </a:prstGeom>
          <a:solidFill>
            <a:srgbClr val="F4F6FB"/>
          </a:solidFill>
          <a:ln/>
        </p:spPr>
      </p:sp>
      <p:sp>
        <p:nvSpPr>
          <p:cNvPr id="28" name="Text 25"/>
          <p:cNvSpPr/>
          <p:nvPr/>
        </p:nvSpPr>
        <p:spPr>
          <a:xfrm>
            <a:off x="6720840" y="31546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기준선이 말하는 것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6720840" y="3474720"/>
            <a:ext cx="4892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재구매는 빠르다 —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any90의 95%가 30일 내(66.2/69.9). 첫 2주가 승부처.
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절반이 당일 추가구매 —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sameday 51%. 인세션 업셀 레버 큼(단 번들 과대 가능, 검증 필요).
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성별은 못 쓴다 —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채움 3.3%. 연령(98%)·topic·형식으로 세그먼트.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분석 리뷰 · Phase 1.2~4 (2026-06-01)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1.2 · TOPIC 지형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연애가 시장 그 자체 — 재물·가족은 1회성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6126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  <a:gridCol w="1005840"/>
                <a:gridCol w="1463040"/>
                <a:gridCol w="10058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(raw)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rev90 (재방문)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69,496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총운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일반운세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학업직업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재물금전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가족자녀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(미태깅)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489204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rev90 = 41.7% · 초록=상회 / 주황=최저권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903720" y="1371600"/>
            <a:ext cx="4721047" cy="1828800"/>
          </a:xfrm>
          <a:prstGeom prst="roundRect">
            <a:avLst>
              <a:gd name="adj" fmla="val 3000"/>
            </a:avLst>
          </a:prstGeom>
          <a:solidFill>
            <a:srgbClr val="E1F4EF"/>
          </a:solidFill>
          <a:ln/>
        </p:spPr>
      </p:sp>
      <p:sp>
        <p:nvSpPr>
          <p:cNvPr id="7" name="Text 4"/>
          <p:cNvSpPr/>
          <p:nvPr/>
        </p:nvSpPr>
        <p:spPr>
          <a:xfrm>
            <a:off x="7114032" y="14813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 = 진입 68% + 재구매 유일 상회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14032" y="1965960"/>
            <a:ext cx="4617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코호트의 68%가 연애 첫구매. rev90 44.8로 주요 topic 중 유일하게 평균을 넘김. A 앱퍼스트 cross-sell의 주전장.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903720" y="3337560"/>
            <a:ext cx="4721047" cy="1828800"/>
          </a:xfrm>
          <a:prstGeom prst="roundRect">
            <a:avLst>
              <a:gd name="adj" fmla="val 3000"/>
            </a:avLst>
          </a:prstGeom>
          <a:solidFill>
            <a:srgbClr val="FBEFD8"/>
          </a:solidFill>
          <a:ln/>
        </p:spPr>
      </p:sp>
      <p:sp>
        <p:nvSpPr>
          <p:cNvPr id="10" name="Text 7"/>
          <p:cNvSpPr/>
          <p:nvPr/>
        </p:nvSpPr>
        <p:spPr>
          <a:xfrm>
            <a:off x="7114032" y="344728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재물·가족 = 1회성 (가설 지지)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14032" y="3767328"/>
            <a:ext cx="4617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재물 rev90 31.6 · 가족 24.5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최저권. '재물=재미용 1회성' 가설 데이터로 확인. 이들은 cross-sell 대상이 아니라 동일계열 반복/시즌 재방문 대상.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분석 리뷰 · Phase 1.2~4 (2026-06-01)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콘텐츠 형식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타로 vs 사주 — 진입은 사주, 재구매는 타로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6400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1005840"/>
                <a:gridCol w="91440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content_type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구매자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4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타로 (저가·반복)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29,355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34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05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사주 (고가·고정)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57,928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05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점성학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(미태깅)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3749040"/>
            <a:ext cx="6400800" cy="749808"/>
          </a:xfrm>
          <a:prstGeom prst="roundRect">
            <a:avLst>
              <a:gd name="adj" fmla="val 7317"/>
            </a:avLst>
          </a:prstGeom>
          <a:solidFill>
            <a:srgbClr val="E8EDF8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" y="3749040"/>
            <a:ext cx="5943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비대칭이 곧 기회 —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진입 인원은 사주가 2배(58K vs 29K)인데, 재구매·동일일은 타로가 확실히 높다 (sameday 64.3 vs 47.5).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178040" y="1371600"/>
            <a:ext cx="4446727" cy="1371600"/>
          </a:xfrm>
          <a:prstGeom prst="roundRect">
            <a:avLst>
              <a:gd name="adj" fmla="val 4667"/>
            </a:avLst>
          </a:prstGeom>
          <a:solidFill>
            <a:srgbClr val="E8EDF8"/>
          </a:solidFill>
          <a:ln/>
        </p:spPr>
      </p:sp>
      <p:sp>
        <p:nvSpPr>
          <p:cNvPr id="8" name="Shape 5"/>
          <p:cNvSpPr/>
          <p:nvPr/>
        </p:nvSpPr>
        <p:spPr>
          <a:xfrm>
            <a:off x="7178040" y="137160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23408F"/>
          </a:solidFill>
          <a:ln/>
        </p:spPr>
      </p:sp>
      <p:sp>
        <p:nvSpPr>
          <p:cNvPr id="9" name="Text 6"/>
          <p:cNvSpPr/>
          <p:nvPr/>
        </p:nvSpPr>
        <p:spPr>
          <a:xfrm>
            <a:off x="7324344" y="1463040"/>
            <a:ext cx="419069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40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+5.2%p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342632" y="2057400"/>
            <a:ext cx="41724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타로 rev90 우위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342632" y="2313432"/>
            <a:ext cx="417240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46.0 vs 사주 40.8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(동일일은 +16.8%p)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178040" y="2880360"/>
            <a:ext cx="4446727" cy="1371600"/>
          </a:xfrm>
          <a:prstGeom prst="roundRect">
            <a:avLst>
              <a:gd name="adj" fmla="val 4667"/>
            </a:avLst>
          </a:prstGeom>
          <a:solidFill>
            <a:srgbClr val="F6E6DE"/>
          </a:solidFill>
          <a:ln/>
        </p:spPr>
      </p:sp>
      <p:sp>
        <p:nvSpPr>
          <p:cNvPr id="13" name="Shape 10"/>
          <p:cNvSpPr/>
          <p:nvPr/>
        </p:nvSpPr>
        <p:spPr>
          <a:xfrm>
            <a:off x="7178040" y="288036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B05A3C"/>
          </a:solidFill>
          <a:ln/>
        </p:spPr>
      </p:sp>
      <p:sp>
        <p:nvSpPr>
          <p:cNvPr id="14" name="Text 11"/>
          <p:cNvSpPr/>
          <p:nvPr/>
        </p:nvSpPr>
        <p:spPr>
          <a:xfrm>
            <a:off x="7324344" y="2971800"/>
            <a:ext cx="419069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58K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342632" y="3566160"/>
            <a:ext cx="41724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 = 진입 주력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342632" y="3822192"/>
            <a:ext cx="417240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고가·1회성. 대량 진입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재구매 효율은 낮음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66928" y="4663440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</p:sp>
      <p:sp>
        <p:nvSpPr>
          <p:cNvPr id="18" name="Text 15"/>
          <p:cNvSpPr/>
          <p:nvPr/>
        </p:nvSpPr>
        <p:spPr>
          <a:xfrm>
            <a:off x="841248" y="4663440"/>
            <a:ext cx="1050919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질문으로 연결 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"타로가 반복적인 건 콘텐츠 특성인가, 단지 싸서인가?"   →   다음 장에서 교란 분리로 규명.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분석 리뷰 · Phase 1.2~4 (2026-06-01)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핵심 규명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반복성 = 콘텐츠 특성 (가격 아님)</a:t>
            </a:r>
            <a:endParaRPr lang="en-US" sz="2500" dirty="0"/>
          </a:p>
        </p:txBody>
      </p:sp>
      <p:pic>
        <p:nvPicPr>
          <p:cNvPr id="4" name="Image 0" descr="/Users/taenyon/Development/neuralarcade/hellobot/projects/20260525-cross-sell-recommendation/data/phase2b_price_x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92867"/>
            <a:ext cx="4937760" cy="37808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40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가격tier × 형식 층화 — rev90 (열=형식 / 행=가격)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806440" y="1417320"/>
            <a:ext cx="5818327" cy="1078992"/>
          </a:xfrm>
          <a:prstGeom prst="roundRect">
            <a:avLst>
              <a:gd name="adj" fmla="val 5085"/>
            </a:avLst>
          </a:prstGeom>
          <a:solidFill>
            <a:srgbClr val="E1F4EF"/>
          </a:solidFill>
          <a:ln/>
        </p:spPr>
      </p:sp>
      <p:sp>
        <p:nvSpPr>
          <p:cNvPr id="7" name="Text 4"/>
          <p:cNvSpPr/>
          <p:nvPr/>
        </p:nvSpPr>
        <p:spPr>
          <a:xfrm>
            <a:off x="6016752" y="1527048"/>
            <a:ext cx="54799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 비교 (가격 고정)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16752" y="1837944"/>
            <a:ext cx="5434279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가격대에서 타로가 사주보다 항상 +8~12%p. 가장 비싼 타로(49.3) &gt; 가장 싼 사주(32.0). → 싸서가 아니라 타로라서 반복.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806440" y="2606040"/>
            <a:ext cx="5818327" cy="1078992"/>
          </a:xfrm>
          <a:prstGeom prst="roundRect">
            <a:avLst>
              <a:gd name="adj" fmla="val 5085"/>
            </a:avLst>
          </a:prstGeom>
          <a:solidFill>
            <a:srgbClr val="FBEFD8"/>
          </a:solidFill>
          <a:ln/>
        </p:spPr>
      </p:sp>
      <p:sp>
        <p:nvSpPr>
          <p:cNvPr id="10" name="Text 7"/>
          <p:cNvSpPr/>
          <p:nvPr/>
        </p:nvSpPr>
        <p:spPr>
          <a:xfrm>
            <a:off x="6016752" y="2715768"/>
            <a:ext cx="54799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 비교 (형식 고정)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16752" y="3026664"/>
            <a:ext cx="5434279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 내 싼 것(32.0) &lt; 비싼 것(41.5). "싸서 반복"의 반대 — 고가 구매자가 더 진성(셀렉션).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5806440" y="3794760"/>
            <a:ext cx="5818327" cy="1078992"/>
          </a:xfrm>
          <a:prstGeom prst="roundRect">
            <a:avLst>
              <a:gd name="adj" fmla="val 5085"/>
            </a:avLst>
          </a:prstGeom>
          <a:solidFill>
            <a:srgbClr val="E8EDF8"/>
          </a:solidFill>
          <a:ln/>
        </p:spPr>
      </p:sp>
      <p:sp>
        <p:nvSpPr>
          <p:cNvPr id="13" name="Text 10"/>
          <p:cNvSpPr/>
          <p:nvPr/>
        </p:nvSpPr>
        <p:spPr>
          <a:xfrm>
            <a:off x="6016752" y="3904488"/>
            <a:ext cx="54799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3중 통제 (연애만)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016752" y="4215384"/>
            <a:ext cx="5434279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topic까지 고정해도 동일: 타로&gt;사주 유지, 가격↑일수록 rev↑. 콘텐츠 효과 견고.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5806440" y="4983480"/>
            <a:ext cx="5818327" cy="566928"/>
          </a:xfrm>
          <a:prstGeom prst="roundRect">
            <a:avLst>
              <a:gd name="adj" fmla="val 8065"/>
            </a:avLst>
          </a:prstGeom>
          <a:solidFill>
            <a:srgbClr val="1A1F36"/>
          </a:solidFill>
          <a:ln/>
        </p:spPr>
      </p:sp>
      <p:sp>
        <p:nvSpPr>
          <p:cNvPr id="16" name="Text 13"/>
          <p:cNvSpPr/>
          <p:nvPr/>
        </p:nvSpPr>
        <p:spPr>
          <a:xfrm>
            <a:off x="5989320" y="4983480"/>
            <a:ext cx="54799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"싸서 반복" 기각 — 반복은 형식(타로) 본질. 가격↓ 유도는 역효과 가능.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분석 리뷰 · Phase 1.2~4 (2026-06-01)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생애주기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연령 × topic — 무엇을 사는지는 나이가 가른다</a:t>
            </a:r>
            <a:endParaRPr lang="en-US" sz="2500" dirty="0"/>
          </a:p>
        </p:txBody>
      </p:sp>
      <p:pic>
        <p:nvPicPr>
          <p:cNvPr id="4" name="Image 0" descr="/Users/taenyon/Development/neuralarcade/hellobot/projects/20260525-cross-sell-recommendation/data/phase2b_age_topic_sh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833" y="1325880"/>
            <a:ext cx="700339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연령대 내 첫구매 topic 비중(%) · age 채움 98%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8183880" y="1371600"/>
            <a:ext cx="3440887" cy="96012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8183880" y="1371600"/>
            <a:ext cx="73152" cy="960120"/>
          </a:xfrm>
          <a:prstGeom prst="roundRect">
            <a:avLst>
              <a:gd name="adj" fmla="val 37500"/>
            </a:avLst>
          </a:prstGeom>
          <a:solidFill>
            <a:srgbClr val="23408F"/>
          </a:solidFill>
          <a:ln/>
        </p:spPr>
      </p:sp>
      <p:sp>
        <p:nvSpPr>
          <p:cNvPr id="8" name="Text 5"/>
          <p:cNvSpPr/>
          <p:nvPr/>
        </p:nvSpPr>
        <p:spPr>
          <a:xfrm>
            <a:off x="8366760" y="1463040"/>
            <a:ext cx="3193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10–20대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366760" y="1737360"/>
            <a:ext cx="31757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 압도 (78~79%). 썸/짝사랑은 &lt;20세가 3배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8183880" y="2432304"/>
            <a:ext cx="3440887" cy="96012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11" name="Shape 8"/>
          <p:cNvSpPr/>
          <p:nvPr/>
        </p:nvSpPr>
        <p:spPr>
          <a:xfrm>
            <a:off x="8183880" y="2432304"/>
            <a:ext cx="73152" cy="960120"/>
          </a:xfrm>
          <a:prstGeom prst="roundRect">
            <a:avLst>
              <a:gd name="adj" fmla="val 37500"/>
            </a:avLst>
          </a:prstGeom>
          <a:solidFill>
            <a:srgbClr val="0E8C77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2523744"/>
            <a:ext cx="3193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30대 초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366760" y="2798064"/>
            <a:ext cx="31757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결혼 피크 (10.4%). 궁합도 이 구간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8183880" y="3493008"/>
            <a:ext cx="3440887" cy="96012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15" name="Shape 12"/>
          <p:cNvSpPr/>
          <p:nvPr/>
        </p:nvSpPr>
        <p:spPr>
          <a:xfrm>
            <a:off x="8183880" y="3493008"/>
            <a:ext cx="73152" cy="960120"/>
          </a:xfrm>
          <a:prstGeom prst="roundRect">
            <a:avLst>
              <a:gd name="adj" fmla="val 37500"/>
            </a:avLst>
          </a:prstGeom>
          <a:solidFill>
            <a:srgbClr val="B05A3C"/>
          </a:solidFill>
          <a:ln/>
        </p:spPr>
      </p:sp>
      <p:sp>
        <p:nvSpPr>
          <p:cNvPr id="16" name="Text 13"/>
          <p:cNvSpPr/>
          <p:nvPr/>
        </p:nvSpPr>
        <p:spPr>
          <a:xfrm>
            <a:off x="8366760" y="3584448"/>
            <a:ext cx="3193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40대+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366760" y="3858768"/>
            <a:ext cx="31757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재물 급등 (50+ 20%) · 총운·일반운세↑</a:t>
            </a:r>
            <a:endParaRPr lang="en-US" sz="1030" dirty="0"/>
          </a:p>
        </p:txBody>
      </p:sp>
      <p:sp>
        <p:nvSpPr>
          <p:cNvPr id="18" name="Shape 15"/>
          <p:cNvSpPr/>
          <p:nvPr/>
        </p:nvSpPr>
        <p:spPr>
          <a:xfrm>
            <a:off x="8183880" y="4553712"/>
            <a:ext cx="3440887" cy="96012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19" name="Shape 16"/>
          <p:cNvSpPr/>
          <p:nvPr/>
        </p:nvSpPr>
        <p:spPr>
          <a:xfrm>
            <a:off x="8183880" y="4553712"/>
            <a:ext cx="73152" cy="960120"/>
          </a:xfrm>
          <a:prstGeom prst="roundRect">
            <a:avLst>
              <a:gd name="adj" fmla="val 37500"/>
            </a:avLst>
          </a:prstGeom>
          <a:solidFill>
            <a:srgbClr val="6B7280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645152"/>
            <a:ext cx="3193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단, 재구매율은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366760" y="4919472"/>
            <a:ext cx="31757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연령별 39.8~43.5로 평탄 → 연령은 '무엇을'엔 강하나 '재구매 여부'엔 약함</a:t>
            </a:r>
            <a:endParaRPr lang="en-US" sz="1030" dirty="0"/>
          </a:p>
        </p:txBody>
      </p:sp>
      <p:sp>
        <p:nvSpPr>
          <p:cNvPr id="22" name="Text 19"/>
          <p:cNvSpPr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분석 리뷰 · Phase 1.2~4 (2026-06-01)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전이 (TOPIC)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첫 → 2번째 주제 — 연애가 빨아들인다</a:t>
            </a:r>
            <a:endParaRPr lang="en-US" sz="2500" dirty="0"/>
          </a:p>
        </p:txBody>
      </p:sp>
      <p:pic>
        <p:nvPicPr>
          <p:cNvPr id="4" name="Image 0" descr="/Users/taenyon/Development/neuralarcade/hellobot/projects/20260525-cross-sell-recommendation/data/phase3_topic_transition_l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664" y="1325880"/>
            <a:ext cx="6145088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(행=1st → 열=2nd, &gt;1 과대표현) · 2회차 보유 76,333명 기준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543800" y="1371600"/>
            <a:ext cx="4080967" cy="1298448"/>
          </a:xfrm>
          <a:prstGeom prst="roundRect">
            <a:avLst>
              <a:gd name="adj" fmla="val 4225"/>
            </a:avLst>
          </a:prstGeom>
          <a:solidFill>
            <a:srgbClr val="E1F4EF"/>
          </a:solidFill>
          <a:ln/>
        </p:spPr>
      </p:sp>
      <p:sp>
        <p:nvSpPr>
          <p:cNvPr id="7" name="Text 4"/>
          <p:cNvSpPr/>
          <p:nvPr/>
        </p:nvSpPr>
        <p:spPr>
          <a:xfrm>
            <a:off x="7754112" y="1481328"/>
            <a:ext cx="37426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 자기완결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54112" y="1792224"/>
            <a:ext cx="369691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연애→연애 76.5%. cross-sell 대부분이 연애 내부에서 발생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543800" y="2779776"/>
            <a:ext cx="4080967" cy="1298448"/>
          </a:xfrm>
          <a:prstGeom prst="roundRect">
            <a:avLst>
              <a:gd name="adj" fmla="val 4225"/>
            </a:avLst>
          </a:prstGeom>
          <a:solidFill>
            <a:srgbClr val="E8EDF8"/>
          </a:solidFill>
          <a:ln/>
        </p:spPr>
      </p:sp>
      <p:sp>
        <p:nvSpPr>
          <p:cNvPr id="10" name="Text 7"/>
          <p:cNvSpPr/>
          <p:nvPr/>
        </p:nvSpPr>
        <p:spPr>
          <a:xfrm>
            <a:off x="7754112" y="2889504"/>
            <a:ext cx="37426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결혼 → 연애 56%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54112" y="3200400"/>
            <a:ext cx="369691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결혼도 연애 우산 안 (역방향은 약함)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543800" y="4187952"/>
            <a:ext cx="4080967" cy="1298448"/>
          </a:xfrm>
          <a:prstGeom prst="roundRect">
            <a:avLst>
              <a:gd name="adj" fmla="val 4225"/>
            </a:avLst>
          </a:prstGeom>
          <a:solidFill>
            <a:srgbClr val="FBEFD8"/>
          </a:solidFill>
          <a:ln/>
        </p:spPr>
      </p:sp>
      <p:sp>
        <p:nvSpPr>
          <p:cNvPr id="13" name="Text 10"/>
          <p:cNvSpPr/>
          <p:nvPr/>
        </p:nvSpPr>
        <p:spPr>
          <a:xfrm>
            <a:off x="7754112" y="4297680"/>
            <a:ext cx="37426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틈새는 동일계열 고착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54112" y="4608576"/>
            <a:ext cx="369691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재물·학업·가족 대각선 lift 9~43. 연애로는 거의 안 감 → cross-sell 대상 아님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분석 리뷰 · Phase 1.2~4 (2026-06-01)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핵심 발견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사주 → 타로 전이는 자연발생하지 않는다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5943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\ 2nd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타로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사주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6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34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타로 진입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66.5%  (lift 1.72)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15.8%  (0.38)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05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사주 진입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25.4%  (lift 0.66)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58.8%  (1.41)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31546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2번째=타로 38.7% · 2번째=사주 41.8%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361188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형식 모두 강한 자기고착. 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 진입자가 타로로 넘어가는 비율은 25.4% — base(38.7%)보다 오히려 낮다(lift 0.66).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812280" y="1463040"/>
            <a:ext cx="4812487" cy="4069080"/>
          </a:xfrm>
          <a:prstGeom prst="roundRect">
            <a:avLst>
              <a:gd name="adj" fmla="val 1573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0" y="162763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패러독스 = 최대 미개척 기회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040880" y="201168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타로는 재구매율이 더 높다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(46% vs 41%, Phase 2)
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그런데 </a:t>
            </a:r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 대량 진입자(58K)는 타로로 잘 안 넘어간다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(lift 0.66)
</a:t>
            </a:r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가지 해석:
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ⓐ 미개척 — 추천으로 밀면 전환된다
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ⓑ 고정선호 — 형식 취향이 강해 안 먹힌다
</a:t>
            </a:r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 데이터로는 구분 불가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A/B 실험으로만 판별</a:t>
            </a:r>
            <a:endParaRPr lang="en-US" sz="118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분석 리뷰 · Phase 1.2~4 (2026-06-01)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연애 내부 경로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 전이 — 같은 단계를 또 산다 + 초기연애 클러스터</a:t>
            </a:r>
            <a:endParaRPr lang="en-US" sz="2500" dirty="0"/>
          </a:p>
        </p:txBody>
      </p:sp>
      <p:pic>
        <p:nvPicPr>
          <p:cNvPr id="4" name="Image 0" descr="/Users/taenyon/Development/neuralarcade/hellobot/projects/20260525-cross-sell-recommendation/data/phase4_love_intent_transition_l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730" y="1325880"/>
            <a:ext cx="6649517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4068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연애→연애 buyers 41,960명 · LIFT (행=1st intent → 열=2nd intent)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452360" y="1371600"/>
            <a:ext cx="4172407" cy="1298448"/>
          </a:xfrm>
          <a:prstGeom prst="roundRect">
            <a:avLst>
              <a:gd name="adj" fmla="val 4225"/>
            </a:avLst>
          </a:prstGeom>
          <a:solidFill>
            <a:srgbClr val="E8EDF8"/>
          </a:solidFill>
          <a:ln/>
        </p:spPr>
      </p:sp>
      <p:sp>
        <p:nvSpPr>
          <p:cNvPr id="7" name="Text 4"/>
          <p:cNvSpPr/>
          <p:nvPr/>
        </p:nvSpPr>
        <p:spPr>
          <a:xfrm>
            <a:off x="7662672" y="1481328"/>
            <a:ext cx="383407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강한 자기고착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662672" y="1792224"/>
            <a:ext cx="378835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대각선 전부 &gt;2 (재회2.6·궁합6.6·썸4.7). 현재 연애 상황이 잘 안 바뀜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452360" y="2779776"/>
            <a:ext cx="4172407" cy="1298448"/>
          </a:xfrm>
          <a:prstGeom prst="roundRect">
            <a:avLst>
              <a:gd name="adj" fmla="val 4225"/>
            </a:avLst>
          </a:prstGeom>
          <a:solidFill>
            <a:srgbClr val="E1F4EF"/>
          </a:solidFill>
          <a:ln/>
        </p:spPr>
      </p:sp>
      <p:sp>
        <p:nvSpPr>
          <p:cNvPr id="10" name="Text 7"/>
          <p:cNvSpPr/>
          <p:nvPr/>
        </p:nvSpPr>
        <p:spPr>
          <a:xfrm>
            <a:off x="7662672" y="2889504"/>
            <a:ext cx="383407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속마음 ↔ 썸 클러스터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662672" y="3200400"/>
            <a:ext cx="378835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양방향 (3.44 / 2.46). 초기연애에 '상대 속마음·썸' 교차 추천 지지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452360" y="4187952"/>
            <a:ext cx="4172407" cy="1298448"/>
          </a:xfrm>
          <a:prstGeom prst="roundRect">
            <a:avLst>
              <a:gd name="adj" fmla="val 4225"/>
            </a:avLst>
          </a:prstGeom>
          <a:solidFill>
            <a:srgbClr val="FBEFD8"/>
          </a:solidFill>
          <a:ln/>
        </p:spPr>
      </p:sp>
      <p:sp>
        <p:nvSpPr>
          <p:cNvPr id="13" name="Text 10"/>
          <p:cNvSpPr/>
          <p:nvPr/>
        </p:nvSpPr>
        <p:spPr>
          <a:xfrm>
            <a:off x="7662672" y="4297680"/>
            <a:ext cx="383407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재회는 고립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662672" y="4608576"/>
            <a:ext cx="378835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재회→재회만 강함. 재회 관심자는 재회 후속물이 정답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분석 리뷰 · Phase 1.2~4 (2026-06-01)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추천 매트릭스 V1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(연령 × 첫 형식) → 가장 가능성 높은 2번째 SKU</a:t>
            </a:r>
            <a:endParaRPr lang="en-US" sz="2500" dirty="0"/>
          </a:p>
        </p:txBody>
      </p:sp>
      <p:pic>
        <p:nvPicPr>
          <p:cNvPr id="4" name="Image 0" descr="/Users/taenyon/Development/neuralarcade/hellobot/projects/20260525-cross-sell-recommendation/data/phase4_reco_matrix_v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6245" y="1371600"/>
            <a:ext cx="6439205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4800600"/>
            <a:ext cx="3503066" cy="1005840"/>
          </a:xfrm>
          <a:prstGeom prst="roundRect">
            <a:avLst>
              <a:gd name="adj" fmla="val 5455"/>
            </a:avLst>
          </a:prstGeom>
          <a:solidFill>
            <a:srgbClr val="E8EDF8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" y="4910328"/>
            <a:ext cx="313730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형식이 1차 제약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49808" y="5221224"/>
            <a:ext cx="313730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세그먼트에서 같은 형식(타로→타로)이 최상위. 전환은 lift&lt;1</a:t>
            </a:r>
            <a:endParaRPr lang="en-US" sz="1030" dirty="0"/>
          </a:p>
        </p:txBody>
      </p:sp>
      <p:sp>
        <p:nvSpPr>
          <p:cNvPr id="8" name="Shape 5"/>
          <p:cNvSpPr/>
          <p:nvPr/>
        </p:nvSpPr>
        <p:spPr>
          <a:xfrm>
            <a:off x="4344314" y="4800600"/>
            <a:ext cx="3503066" cy="1005840"/>
          </a:xfrm>
          <a:prstGeom prst="roundRect">
            <a:avLst>
              <a:gd name="adj" fmla="val 5455"/>
            </a:avLst>
          </a:prstGeom>
          <a:solidFill>
            <a:srgbClr val="F6E6DE"/>
          </a:solidFill>
          <a:ln/>
        </p:spPr>
      </p:sp>
      <p:sp>
        <p:nvSpPr>
          <p:cNvPr id="9" name="Text 6"/>
          <p:cNvSpPr/>
          <p:nvPr/>
        </p:nvSpPr>
        <p:spPr>
          <a:xfrm>
            <a:off x="4527194" y="4910328"/>
            <a:ext cx="313730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연령이 2차 주제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27194" y="5221224"/>
            <a:ext cx="313730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25-34 사주→결혼(1.85) · 45+ 사주→재물(6.60)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8121701" y="4800600"/>
            <a:ext cx="3503066" cy="1005840"/>
          </a:xfrm>
          <a:prstGeom prst="roundRect">
            <a:avLst>
              <a:gd name="adj" fmla="val 5455"/>
            </a:avLst>
          </a:prstGeom>
          <a:solidFill>
            <a:srgbClr val="E1F4EF"/>
          </a:solidFill>
          <a:ln/>
        </p:spPr>
      </p:sp>
      <p:sp>
        <p:nvSpPr>
          <p:cNvPr id="12" name="Text 9"/>
          <p:cNvSpPr/>
          <p:nvPr/>
        </p:nvSpPr>
        <p:spPr>
          <a:xfrm>
            <a:off x="8304581" y="4910328"/>
            <a:ext cx="313730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연애는 디폴트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304581" y="5221224"/>
            <a:ext cx="313730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어디서든 love+(자기형식) 1위 — 안전빵 추천</a:t>
            </a:r>
            <a:endParaRPr lang="en-US" sz="1030" dirty="0"/>
          </a:p>
        </p:txBody>
      </p:sp>
      <p:sp>
        <p:nvSpPr>
          <p:cNvPr id="14" name="Text 11"/>
          <p:cNvSpPr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분석 리뷰 · Phase 1.2~4 (2026-06-01)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6가지 핵심 발견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19072"/>
            <a:ext cx="502920" cy="502920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81328" y="164592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연애가 시장 그 자체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81328" y="202996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진입 68% + 재구매 유일 상회(44.8). cross-sell 주전장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370168" y="146304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98768" y="1719072"/>
            <a:ext cx="502920" cy="502920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11" name="Text 9"/>
          <p:cNvSpPr/>
          <p:nvPr/>
        </p:nvSpPr>
        <p:spPr>
          <a:xfrm>
            <a:off x="6598768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84568" y="164592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반복성 = 콘텐츠 특성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84568" y="202996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타로&gt;사주는 가격 아닌 형식 효과. "싸서 반복"은 기각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66928" y="297180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" y="3227832"/>
            <a:ext cx="502920" cy="502920"/>
          </a:xfrm>
          <a:prstGeom prst="ellipse">
            <a:avLst/>
          </a:prstGeom>
          <a:solidFill>
            <a:srgbClr val="B05A3C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81328" y="315468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 선호가 강하게 고착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81328" y="353872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타로·사주 모두 자기형식 반복. 전이의 1차 제약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370168" y="297180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98768" y="3227832"/>
            <a:ext cx="502920" cy="502920"/>
          </a:xfrm>
          <a:prstGeom prst="ellipse">
            <a:avLst/>
          </a:prstGeom>
          <a:solidFill>
            <a:srgbClr val="0E9E84"/>
          </a:solidFill>
          <a:ln/>
        </p:spPr>
      </p:sp>
      <p:sp>
        <p:nvSpPr>
          <p:cNvPr id="21" name="Text 19"/>
          <p:cNvSpPr/>
          <p:nvPr/>
        </p:nvSpPr>
        <p:spPr>
          <a:xfrm>
            <a:off x="6598768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84568" y="315468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사주→타로 = 미개척 기회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84568" y="353872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타로 재구매 우위인데 자연전이 약함(0.66). A/B로 검증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66928" y="448056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" y="4736592"/>
            <a:ext cx="502920" cy="502920"/>
          </a:xfrm>
          <a:prstGeom prst="ellipse">
            <a:avLst/>
          </a:prstGeom>
          <a:solidFill>
            <a:srgbClr val="C8841A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81328" y="466344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연령이 주제를 가른다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81328" y="504748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10-20대 연애→30대 결혼→40대+ 재물. 재구매율은 평탄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370168" y="448056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98768" y="473659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6598768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84568" y="466344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초기연애 교차·재구매 단가↓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84568" y="504748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속마음↔썸 클러스터 / 2번째 구매 −25% 저가화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분석 리뷰 · Phase 1.2~4 (2026-06-01)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후보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데이터가 지지하는 추천 룰 3가지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503066" cy="3931920"/>
          </a:xfrm>
          <a:prstGeom prst="roundRect">
            <a:avLst>
              <a:gd name="adj" fmla="val 1827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3503066" cy="713232"/>
          </a:xfrm>
          <a:prstGeom prst="roundRect">
            <a:avLst>
              <a:gd name="adj" fmla="val 8974"/>
            </a:avLst>
          </a:prstGeom>
          <a:solidFill>
            <a:srgbClr val="0E8C77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783080"/>
            <a:ext cx="3503066" cy="347472"/>
          </a:xfrm>
          <a:prstGeom prst="rect">
            <a:avLst/>
          </a:prstGeom>
          <a:solidFill>
            <a:srgbClr val="0E8C77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417320"/>
            <a:ext cx="313730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안전 (즉시)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5528" y="2286000"/>
            <a:ext cx="304586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 진입자 → 같은 형식 연애 후속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108960"/>
            <a:ext cx="82296" cy="82296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026664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초기연애: 속마음 ↔ 썸 교차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822960" y="3621024"/>
            <a:ext cx="82296" cy="82296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538728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재회: 재회 후속물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22960" y="4133088"/>
            <a:ext cx="82296" cy="82296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050792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근거: intent 자기고착 + 클러스터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795528" y="4690872"/>
            <a:ext cx="3045866" cy="475488"/>
          </a:xfrm>
          <a:prstGeom prst="roundRect">
            <a:avLst>
              <a:gd name="adj" fmla="val 9615"/>
            </a:avLst>
          </a:prstGeom>
          <a:solidFill>
            <a:srgbClr val="E1F4EF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4690872"/>
            <a:ext cx="28629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자연발생 → 추천으로 강화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4314" y="1417320"/>
            <a:ext cx="3503066" cy="3931920"/>
          </a:xfrm>
          <a:prstGeom prst="roundRect">
            <a:avLst>
              <a:gd name="adj" fmla="val 1827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4314" y="1417320"/>
            <a:ext cx="3503066" cy="713232"/>
          </a:xfrm>
          <a:prstGeom prst="roundRect">
            <a:avLst>
              <a:gd name="adj" fmla="val 8974"/>
            </a:avLst>
          </a:prstGeom>
          <a:solidFill>
            <a:srgbClr val="23408F"/>
          </a:solidFill>
          <a:ln/>
        </p:spPr>
      </p:sp>
      <p:sp>
        <p:nvSpPr>
          <p:cNvPr id="19" name="Shape 17"/>
          <p:cNvSpPr/>
          <p:nvPr/>
        </p:nvSpPr>
        <p:spPr>
          <a:xfrm>
            <a:off x="4344314" y="1783080"/>
            <a:ext cx="3503066" cy="347472"/>
          </a:xfrm>
          <a:prstGeom prst="rect">
            <a:avLst/>
          </a:prstGeom>
          <a:solidFill>
            <a:srgbClr val="23408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914" y="1417320"/>
            <a:ext cx="313730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연령맞춤 (즉시)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914" y="2286000"/>
            <a:ext cx="304586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연령별 사주 주제 추천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00346" y="3108960"/>
            <a:ext cx="82296" cy="82296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23" name="Text 21"/>
          <p:cNvSpPr/>
          <p:nvPr/>
        </p:nvSpPr>
        <p:spPr>
          <a:xfrm>
            <a:off x="4783226" y="3026664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25-34 사주 → 결혼 (lift 1.85)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4600346" y="3621024"/>
            <a:ext cx="82296" cy="82296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25" name="Text 23"/>
          <p:cNvSpPr/>
          <p:nvPr/>
        </p:nvSpPr>
        <p:spPr>
          <a:xfrm>
            <a:off x="4783226" y="3538728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45+ 사주 → 재물 (lift 6.60)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4600346" y="4133088"/>
            <a:ext cx="82296" cy="82296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27" name="Text 25"/>
          <p:cNvSpPr/>
          <p:nvPr/>
        </p:nvSpPr>
        <p:spPr>
          <a:xfrm>
            <a:off x="4783226" y="4050792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근거: 연령×topic 일치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4572914" y="4690872"/>
            <a:ext cx="3045866" cy="475488"/>
          </a:xfrm>
          <a:prstGeom prst="roundRect">
            <a:avLst>
              <a:gd name="adj" fmla="val 9615"/>
            </a:avLst>
          </a:prstGeom>
          <a:solidFill>
            <a:srgbClr val="E8EDF8"/>
          </a:solidFill>
          <a:ln/>
        </p:spPr>
      </p:sp>
      <p:sp>
        <p:nvSpPr>
          <p:cNvPr id="29" name="Text 27"/>
          <p:cNvSpPr/>
          <p:nvPr/>
        </p:nvSpPr>
        <p:spPr>
          <a:xfrm>
            <a:off x="4664354" y="4690872"/>
            <a:ext cx="28629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자연발생 → 추천으로 강화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21701" y="1417320"/>
            <a:ext cx="3503066" cy="3931920"/>
          </a:xfrm>
          <a:prstGeom prst="roundRect">
            <a:avLst>
              <a:gd name="adj" fmla="val 1827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21701" y="1417320"/>
            <a:ext cx="3503066" cy="713232"/>
          </a:xfrm>
          <a:prstGeom prst="roundRect">
            <a:avLst>
              <a:gd name="adj" fmla="val 8974"/>
            </a:avLst>
          </a:prstGeom>
          <a:solidFill>
            <a:srgbClr val="B05A3C"/>
          </a:solidFill>
          <a:ln/>
        </p:spPr>
      </p:sp>
      <p:sp>
        <p:nvSpPr>
          <p:cNvPr id="32" name="Shape 30"/>
          <p:cNvSpPr/>
          <p:nvPr/>
        </p:nvSpPr>
        <p:spPr>
          <a:xfrm>
            <a:off x="8121701" y="1783080"/>
            <a:ext cx="3503066" cy="347472"/>
          </a:xfrm>
          <a:prstGeom prst="rect">
            <a:avLst/>
          </a:prstGeom>
          <a:solidFill>
            <a:srgbClr val="B05A3C"/>
          </a:solidFill>
          <a:ln/>
        </p:spPr>
      </p:sp>
      <p:sp>
        <p:nvSpPr>
          <p:cNvPr id="33" name="Text 31"/>
          <p:cNvSpPr/>
          <p:nvPr/>
        </p:nvSpPr>
        <p:spPr>
          <a:xfrm>
            <a:off x="8350301" y="1417320"/>
            <a:ext cx="313730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실험 필요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350301" y="2286000"/>
            <a:ext cx="304586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 대량진입자 → 타로 노출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377733" y="3108960"/>
            <a:ext cx="82296" cy="82296"/>
          </a:xfrm>
          <a:prstGeom prst="ellipse">
            <a:avLst/>
          </a:prstGeom>
          <a:solidFill>
            <a:srgbClr val="B05A3C"/>
          </a:solidFill>
          <a:ln/>
        </p:spPr>
      </p:sp>
      <p:sp>
        <p:nvSpPr>
          <p:cNvPr id="36" name="Text 34"/>
          <p:cNvSpPr/>
          <p:nvPr/>
        </p:nvSpPr>
        <p:spPr>
          <a:xfrm>
            <a:off x="8560613" y="3026664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타로 재구매 우위(46%)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8377733" y="3621024"/>
            <a:ext cx="82296" cy="82296"/>
          </a:xfrm>
          <a:prstGeom prst="ellipse">
            <a:avLst/>
          </a:prstGeom>
          <a:solidFill>
            <a:srgbClr val="B05A3C"/>
          </a:solidFill>
          <a:ln/>
        </p:spPr>
      </p:sp>
      <p:sp>
        <p:nvSpPr>
          <p:cNvPr id="38" name="Text 36"/>
          <p:cNvSpPr/>
          <p:nvPr/>
        </p:nvSpPr>
        <p:spPr>
          <a:xfrm>
            <a:off x="8560613" y="3538728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자연전이 약함(lift 0.66)</a:t>
            </a:r>
            <a:endParaRPr lang="en-US" sz="1030" dirty="0"/>
          </a:p>
        </p:txBody>
      </p:sp>
      <p:sp>
        <p:nvSpPr>
          <p:cNvPr id="39" name="Shape 37"/>
          <p:cNvSpPr/>
          <p:nvPr/>
        </p:nvSpPr>
        <p:spPr>
          <a:xfrm>
            <a:off x="8377733" y="4133088"/>
            <a:ext cx="82296" cy="82296"/>
          </a:xfrm>
          <a:prstGeom prst="ellipse">
            <a:avLst/>
          </a:prstGeom>
          <a:solidFill>
            <a:srgbClr val="B05A3C"/>
          </a:solidFill>
          <a:ln/>
        </p:spPr>
      </p:sp>
      <p:sp>
        <p:nvSpPr>
          <p:cNvPr id="40" name="Text 38"/>
          <p:cNvSpPr/>
          <p:nvPr/>
        </p:nvSpPr>
        <p:spPr>
          <a:xfrm>
            <a:off x="8560613" y="4050792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 불확실 → 검증 대상</a:t>
            </a:r>
            <a:endParaRPr lang="en-US" sz="1030" dirty="0"/>
          </a:p>
        </p:txBody>
      </p:sp>
      <p:sp>
        <p:nvSpPr>
          <p:cNvPr id="41" name="Shape 39"/>
          <p:cNvSpPr/>
          <p:nvPr/>
        </p:nvSpPr>
        <p:spPr>
          <a:xfrm>
            <a:off x="8350301" y="4690872"/>
            <a:ext cx="3045866" cy="475488"/>
          </a:xfrm>
          <a:prstGeom prst="roundRect">
            <a:avLst>
              <a:gd name="adj" fmla="val 9615"/>
            </a:avLst>
          </a:prstGeom>
          <a:solidFill>
            <a:srgbClr val="F6E6DE"/>
          </a:solidFill>
          <a:ln/>
        </p:spPr>
      </p:sp>
      <p:sp>
        <p:nvSpPr>
          <p:cNvPr id="42" name="Text 40"/>
          <p:cNvSpPr/>
          <p:nvPr/>
        </p:nvSpPr>
        <p:spPr>
          <a:xfrm>
            <a:off x="8441741" y="4690872"/>
            <a:ext cx="28629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테스트 1순위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분석 리뷰 · Phase 1.2~4 (2026-06-01)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 &amp; 한계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5 + 검증 필요 사항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852160" cy="4114800"/>
          </a:xfrm>
          <a:prstGeom prst="roundRect">
            <a:avLst>
              <a:gd name="adj" fmla="val 1333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7276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— Phase 5 (A/B 설계)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41248" y="2011680"/>
            <a:ext cx="118872" cy="118872"/>
          </a:xfrm>
          <a:prstGeom prst="rect">
            <a:avLst/>
          </a:prstGeom>
          <a:solidFill>
            <a:srgbClr val="23408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929384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실험 1순위 — </a:t>
            </a:r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 진입자 타로 노출 — 노출위치(결제직후/홈탭/푸시)·표본·기간·지표(rev90↑)·holdout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841248" y="2880360"/>
            <a:ext cx="118872" cy="118872"/>
          </a:xfrm>
          <a:prstGeom prst="rect">
            <a:avLst/>
          </a:prstGeom>
          <a:solidFill>
            <a:srgbClr val="23408F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798064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A·B 룰 적용 — </a:t>
            </a:r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 적용 가능 룰을 실행 위치에 매핑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841248" y="3749040"/>
            <a:ext cx="118872" cy="118872"/>
          </a:xfrm>
          <a:prstGeom prst="rect">
            <a:avLst/>
          </a:prstGeom>
          <a:solidFill>
            <a:srgbClr val="23408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666744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매트릭스 v2 — </a:t>
            </a:r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intent·가격까지 결합한 세분 추천 (0스캔 가능)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822960" y="4617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후속 트랙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48920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웹→앱(45K, 재방문 94.6%) 동일 틀 적용 · C 웹온리 마케팅 · 매출 비중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29400" y="1417320"/>
            <a:ext cx="4995367" cy="4114800"/>
          </a:xfrm>
          <a:prstGeom prst="roundRect">
            <a:avLst>
              <a:gd name="adj" fmla="val 1333"/>
            </a:avLst>
          </a:prstGeom>
          <a:solidFill>
            <a:srgbClr val="FBEFD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157276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해석 시 유의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193852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86600" y="1920240"/>
            <a:ext cx="438271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sameday 과대 가능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연속결제·번들이 당일 다건으로 집계 — sameday 51%는 검증 후 해석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0" y="26517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86600" y="2633472"/>
            <a:ext cx="438271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lift는 상관, 인과 아님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전이·추천 lift는 자연발생 관찰값. 추천 효과는 A/B로만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0" y="336499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86600" y="3346704"/>
            <a:ext cx="438271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 커버리지 94.7%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임시 시트(topic) 기반. 미태깅 5.3% 별도 버킷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0" y="4078224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86600" y="4059936"/>
            <a:ext cx="438271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2회차=ever 기준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전이 분석은 lifetime(90일 아님). baseline rev90과 분모 다름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58000" y="4791456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86600" y="4773168"/>
            <a:ext cx="438271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성별 폐기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채움 3.3%로 성별 분석 불가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분석 리뷰 · Phase 1.2~4 (2026-06-01)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app-first Cross-Sell 분석 리뷰 (Phase 1.2~4)</dc:title>
  <dc:subject>PptxGenJS Presentation</dc:subject>
  <dc:creator>HelloBot Data</dc:creator>
  <cp:lastModifiedBy>HelloBot Data</cp:lastModifiedBy>
  <cp:revision>1</cp:revision>
  <dcterms:created xsi:type="dcterms:W3CDTF">2026-05-31T15:30:26Z</dcterms:created>
  <dcterms:modified xsi:type="dcterms:W3CDTF">2026-05-31T15:30:26Z</dcterms:modified>
</cp:coreProperties>
</file>