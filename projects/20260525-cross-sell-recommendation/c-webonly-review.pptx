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14400"/>
            <a:ext cx="146304" cy="146304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914400"/>
            <a:ext cx="146304" cy="146304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3444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데이터 분석 (/dev-data)  ·  REVISION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웹 1회 구매자 → 재구매 분석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웹온리 심층 리뷰  ·  A와 동일 REVISION 3 절차 재계산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9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E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289,963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8096" y="4846320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웹온리 신규 코호트 (A의 약 3배)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4314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9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rev90 13.1%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5482" y="4846320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재구매 (A의 1/3)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1701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9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재방문 &gt; 당일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2869" y="4846320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정반대 — 리텐션·앱전환 문제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콘텐츠결제(pay_for_)가 WEB &amp; 앱결제 0 · 첫구매 2024-03-02~2026-03-02 · 재export(r_* 진짜재방문 SKU) · 재계산 rev3_recompute_c.py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같은 시장, 정반대 행동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3774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앱퍼스트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웹온리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코호트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289,963 (3배)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재방문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 (1/3)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 당일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 (1/5)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당일 vs 재방문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8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당일 지배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재방문 &gt; 당일 (정반대)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2회+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 (75.5% 1회성)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417320"/>
            <a:ext cx="4401007" cy="4160520"/>
          </a:xfrm>
          <a:prstGeom prst="roundRect">
            <a:avLst>
              <a:gd name="adj" fmla="val 1319"/>
            </a:avLst>
          </a:prstGeom>
          <a:solidFill>
            <a:srgbClr val="F1F7F5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5544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C의 본질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52360" y="1920240"/>
            <a:ext cx="4016959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C는 cross-sell이 아니라 </a:t>
            </a:r>
            <a:pPr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리텐션·앱전환 문제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75.5%가 1회성 — 인앱 추천 레버 밖. 당일 업셀이 거의 없어(10.4%) 결제 후 바로 이탈, 올 때 다시 옴(재방문 우위).
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</a:t>
            </a:r>
            <a:pPr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 패턴은 A와 동일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연애 우세·타로&gt;사주·사주→타로 lift 0.72·생애주기·생활운 클러스터. 절대값만 1/3.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 프레임 (A와 동일)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재방문이 당일보다 크다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83189" cy="822960"/>
          </a:xfrm>
          <a:prstGeom prst="rect">
            <a:avLst/>
          </a:prstGeom>
          <a:solidFill>
            <a:srgbClr val="0E8C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63624"/>
            <a:ext cx="11831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10.7%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11831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only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50117" y="1508760"/>
            <a:ext cx="265388" cy="822960"/>
          </a:xfrm>
          <a:prstGeom prst="rect">
            <a:avLst/>
          </a:prstGeom>
          <a:solidFill>
            <a:srgbClr val="2340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5505" y="1508760"/>
            <a:ext cx="884627" cy="822960"/>
          </a:xfrm>
          <a:prstGeom prst="rect">
            <a:avLst/>
          </a:prstGeom>
          <a:solidFill>
            <a:srgbClr val="C884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5505" y="1563624"/>
            <a:ext cx="8846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5505" y="1965960"/>
            <a:ext cx="8846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only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00132" y="1508760"/>
            <a:ext cx="8724635" cy="822960"/>
          </a:xfrm>
          <a:prstGeom prst="rect">
            <a:avLst/>
          </a:prstGeom>
          <a:solidFill>
            <a:srgbClr val="C9CE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0132" y="1563624"/>
            <a:ext cx="87246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78.9%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00132" y="1965960"/>
            <a:ext cx="87246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90일내 2회차 없음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4414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C 코호트 289,963명 4분할 · 재방문(rev90)=재방문only+당일+재방문=38,010(13.1%) · 당일(10.4%)&lt;재방문 → A와 정반대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0040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값(C)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참고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결정 KPI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C88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 레버(C는 미미)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맥락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천장 · 75.5% 1회성</a:t>
                      </a:r>
                      <a:endParaRPr lang="en-US" sz="11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589520" y="3200400"/>
            <a:ext cx="4035247" cy="2286000"/>
          </a:xfrm>
          <a:prstGeom prst="roundRect">
            <a:avLst>
              <a:gd name="adj" fmla="val 2400"/>
            </a:avLst>
          </a:prstGeom>
          <a:solidFill>
            <a:srgbClr val="E1F4EF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3328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같은 정정 적용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18120" y="3657600"/>
            <a:ext cx="3742639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재방문 = rev90 38,010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(폐기된 40,726 대체)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전이·형식 = 진짜재방문 r_ctype 기준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NBO = lift 기준 (연애 prior 77.3%)
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+ Wilson CI 부기, age 14-90 클린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(REV3)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기준선 — n=289,963, 95% CI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1F4E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rev90 재방문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KPI · CI ±0.12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A의 1/3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9996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BEFD8"/>
          </a:solidFill>
          <a:ln/>
        </p:spPr>
      </p:sp>
      <p:sp>
        <p:nvSpPr>
          <p:cNvPr id="10" name="Shape 8"/>
          <p:cNvSpPr/>
          <p:nvPr/>
        </p:nvSpPr>
        <p:spPr>
          <a:xfrm>
            <a:off x="339996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C8841A"/>
          </a:solidFill>
          <a:ln/>
        </p:spPr>
      </p:sp>
      <p:sp>
        <p:nvSpPr>
          <p:cNvPr id="11" name="Text 9"/>
          <p:cNvSpPr/>
          <p:nvPr/>
        </p:nvSpPr>
        <p:spPr>
          <a:xfrm>
            <a:off x="354627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456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당일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456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C는 당일&lt;재방문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인세션 소비 적음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300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8E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300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1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21.1%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9760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9760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당일+재방문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66047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1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6047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9212351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30639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2회+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0639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75.5% 1회성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앱전환 모집단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 코호트 (성숙도)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37560"/>
          <a:ext cx="56692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첫구매연도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137,017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125,794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(경계)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66928" y="50749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달리 연도별 rev90 안정(13.3% 평탄) — 웹 전환율 구조적으로 낮고 일정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92240" y="3017520"/>
            <a:ext cx="5132527" cy="2606040"/>
          </a:xfrm>
          <a:prstGeom prst="roundRect">
            <a:avLst>
              <a:gd name="adj" fmla="val 2105"/>
            </a:avLst>
          </a:prstGeom>
          <a:solidFill>
            <a:srgbClr val="F1F7F5"/>
          </a:solidFill>
          <a:ln/>
        </p:spPr>
      </p:sp>
      <p:sp>
        <p:nvSpPr>
          <p:cNvPr id="28" name="Text 25"/>
          <p:cNvSpPr/>
          <p:nvPr/>
        </p:nvSpPr>
        <p:spPr>
          <a:xfrm>
            <a:off x="6720840" y="3154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기준선이 말하는 것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720840" y="3474720"/>
            <a:ext cx="4892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75.5%가 1회성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마케팅 1회 전환 모집단. 인앱 추천 레버 밖.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당일&lt;재방문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인세션 업셀 거의 없음. 올 때 다시 오는 구조.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앱전환이 본질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 290K(최대 모집단)이나 retention이 핵심 과제.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형식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사주가 시장 압도 — 타로&gt;사주는 유지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914400"/>
                <a:gridCol w="914400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구매자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(고가·압도)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198,445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점성학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(미태깅)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749040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F6E6DE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374904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웹은 사주가 5배 —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198K(68%) vs 타로 39K. 타로&gt;사주 방향은 A와 동일하나 웹 타로는 고가(중앙값 1.35만 = 앱의 9배).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178040" y="141732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F6E6DE"/>
          </a:solidFill>
          <a:ln/>
        </p:spPr>
      </p:sp>
      <p:sp>
        <p:nvSpPr>
          <p:cNvPr id="8" name="Shape 5"/>
          <p:cNvSpPr/>
          <p:nvPr/>
        </p:nvSpPr>
        <p:spPr>
          <a:xfrm>
            <a:off x="7178040" y="141732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9" name="Text 6"/>
          <p:cNvSpPr/>
          <p:nvPr/>
        </p:nvSpPr>
        <p:spPr>
          <a:xfrm>
            <a:off x="7324344" y="150876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42632" y="210312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= 웹 주력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42632" y="235915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고가·1회성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198,445명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178040" y="292608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E1F4EF"/>
          </a:solidFill>
          <a:ln/>
        </p:spPr>
      </p:sp>
      <p:sp>
        <p:nvSpPr>
          <p:cNvPr id="13" name="Shape 10"/>
          <p:cNvSpPr/>
          <p:nvPr/>
        </p:nvSpPr>
        <p:spPr>
          <a:xfrm>
            <a:off x="7178040" y="292608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14" name="Text 11"/>
          <p:cNvSpPr/>
          <p:nvPr/>
        </p:nvSpPr>
        <p:spPr>
          <a:xfrm>
            <a:off x="7324344" y="301752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+2.3%p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342632" y="361188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rev90 우위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42632" y="386791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vs 12.8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(A는 +3.0)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78040" y="4434840"/>
            <a:ext cx="4446727" cy="1188720"/>
          </a:xfrm>
          <a:prstGeom prst="roundRect">
            <a:avLst>
              <a:gd name="adj" fmla="val 4615"/>
            </a:avLst>
          </a:prstGeom>
          <a:solidFill>
            <a:srgbClr val="F1F7F5"/>
          </a:solidFill>
          <a:ln/>
        </p:spPr>
      </p:sp>
      <p:sp>
        <p:nvSpPr>
          <p:cNvPr id="18" name="Text 15"/>
          <p:cNvSpPr/>
          <p:nvPr/>
        </p:nvSpPr>
        <p:spPr>
          <a:xfrm>
            <a:off x="7360920" y="4434840"/>
            <a:ext cx="410839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타로 = 고가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앱의 '저가 여러장' 당일 소비 구조 없음. 다음 장에서 확인.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형식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C는 타로 강점이 더 약하다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격차(타−사)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 당일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8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88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재방문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순수재방문(당일0)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977640"/>
            <a:ext cx="6400800" cy="1554480"/>
          </a:xfrm>
          <a:prstGeom prst="roundRect">
            <a:avLst>
              <a:gd name="adj" fmla="val 3529"/>
            </a:avLst>
          </a:prstGeom>
          <a:solidFill>
            <a:srgbClr val="1A1F36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3977640"/>
            <a:ext cx="5989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같은 정정, 더 뚜렷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재방문에선 타로 11.1 vs 사주 10.5 —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+0.6, 사실상 동률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웹 타로는 고가라 앱의 당일 다건 소비가 없어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retention 강점이 거의 사라짐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콘텐츠 효과는 A보다 더 약하다.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78040" y="1417320"/>
            <a:ext cx="4446727" cy="4114800"/>
          </a:xfrm>
          <a:prstGeom prst="roundRect">
            <a:avLst>
              <a:gd name="adj" fmla="val 1333"/>
            </a:avLst>
          </a:prstGeom>
          <a:solidFill>
            <a:srgbClr val="F1F7F5"/>
          </a:solidFill>
          <a:ln/>
        </p:spPr>
      </p:sp>
      <p:sp>
        <p:nvSpPr>
          <p:cNvPr id="8" name="Text 5"/>
          <p:cNvSpPr/>
          <p:nvPr/>
        </p:nvSpPr>
        <p:spPr>
          <a:xfrm>
            <a:off x="7406640" y="15544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 C 비교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1965960"/>
            <a:ext cx="4062679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순수재방문 타로−사주 격차
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앱퍼스트: −4.0 (사주 우위)
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 웹온리:  +0.6 (동률)
</a:t>
            </a:r>
            <a:pPr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결론: </a:t>
            </a:r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"타로=반복형 콘텐츠"는 retention 기준에선 성립 안 함. 타로의 외형적 강점은 당일/저가 구조의 산물.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NBO 주제 매트릭스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C도 연애는 prior, lift가 신호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ever-2nd 71,079 풀링 · lift = conf / topic-prior(연애 77.3%)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219456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 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→자기주제 conf(lift)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최고 lift cross 후보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56,091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 87% (1.13)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prior 자체, 신호 미미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 (7.75)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lift 5.81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학업직업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 (11.1)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lift 5.40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 (9.62)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학업직업 lift 4.83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 (5.72)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 lift 3.41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가족자녀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(27.6)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 lift 1.88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434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연애→연애 lift 1.13 — A(1.15)와 동일하게 prior 수준(신호 아님)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635240" y="1554480"/>
            <a:ext cx="3989527" cy="4069080"/>
          </a:xfrm>
          <a:prstGeom prst="roundRect">
            <a:avLst>
              <a:gd name="adj" fmla="val 1375"/>
            </a:avLst>
          </a:prstGeom>
          <a:solidFill>
            <a:srgbClr val="E1F4EF"/>
          </a:solidFill>
          <a:ln/>
        </p:spPr>
      </p:sp>
      <p:sp>
        <p:nvSpPr>
          <p:cNvPr id="8" name="Text 5"/>
          <p:cNvSpPr/>
          <p:nvPr/>
        </p:nvSpPr>
        <p:spPr>
          <a:xfrm>
            <a:off x="7845552" y="168249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동일 구조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45552" y="2011680"/>
            <a:ext cx="3559759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8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cross-sell = 생활운 클러스터
</a:t>
            </a:r>
            <a:pPr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재물금전·일반운세·학업직업·총운이 서로 lift 3.4~5.8로 교차 (A보다 lift 더 큼).
</a:t>
            </a:r>
            <a:pPr indent="0" marL="0">
              <a:lnSpc>
                <a:spcPct val="116000"/>
              </a:lnSpc>
              <a:buNone/>
            </a:pPr>
            <a:r>
              <a:rPr lang="en-US" sz="108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C도 추천 로직은 A와 동일. 단 전달 채널이 다름(앱 없어 푸시 불가, 이메일·웹푸시·앱전환).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전이 · 진짜 재방문 기준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사주 → 타로 lift 0.72 — A와 정확히 동일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6035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1차 → 재방문 2번째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타로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사주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63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E8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45.4%  (lift 2.08)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53.3%  (0.70)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B7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  (lift 0.72)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82.2%  (1.08)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6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1546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재방문(r_ctype) base: 2nd=타로 21.8% · 사주 76.3% · n=31,686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36118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무관 재확인.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진입자의 타로 전이 lift = A 0.72 / C 0.72 — 동일. 형식 고착은 앱·웹 차이 없음.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03720" y="1463040"/>
            <a:ext cx="4721047" cy="4069080"/>
          </a:xfrm>
          <a:prstGeom prst="roundRect">
            <a:avLst>
              <a:gd name="adj" fmla="val 1573"/>
            </a:avLst>
          </a:prstGeom>
          <a:solidFill>
            <a:srgbClr val="17302A"/>
          </a:solidFill>
          <a:ln w="12700">
            <a:solidFill>
              <a:srgbClr val="2446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0" y="16276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0" y="20116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lift&lt;1 이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A·C 양 채널에서 0.72로 동일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형식 선호 고착은 사용자 본질이지 채널 효과 아님.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로직(주제·형식·intent)은 A·C 공통으로 재활용 가능.
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사주→타로가 미개척인지 고정선호인지는 A/B로만 판별 — C는 앱전환이 선결.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매트릭스 (정정)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연령 × 형식 → 재방문 (lift + CI)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재방문 모집단 n=37,987 · r_topic prior 연애 79.8% · n&lt;300 suppress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280160"/>
                <a:gridCol w="100584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연령 × 형식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 conf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최고 lift cross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6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25-34 × 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가족자녀 2.25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25-34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결혼 1.35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35-44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3.31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45+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 6.84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1148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동일 패턴 — 연애 lift 0.61~1.12, 고연령·사주는 &lt;1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448056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E1F4EF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" y="448056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신호  </a:t>
            </a:r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A와 동일 — 고연령·사주 진입자 → 재물금전(45+ lift 6.84, 35-44 lift 3.31) · 25-34 사주 → 결혼(1.35).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7680960" y="1554480"/>
            <a:ext cx="3943807" cy="4023360"/>
          </a:xfrm>
          <a:prstGeom prst="roundRect">
            <a:avLst>
              <a:gd name="adj" fmla="val 1391"/>
            </a:avLst>
          </a:prstGeom>
          <a:solidFill>
            <a:srgbClr val="F1F7F5"/>
          </a:solidFill>
          <a:ln/>
        </p:spPr>
      </p:sp>
      <p:sp>
        <p:nvSpPr>
          <p:cNvPr id="10" name="Text 7"/>
          <p:cNvSpPr/>
          <p:nvPr/>
        </p:nvSpPr>
        <p:spPr>
          <a:xfrm>
            <a:off x="7882128" y="1682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연령×연애 rev90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82128" y="2011680"/>
            <a:ext cx="3559759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   14.4%
25-34 16.4%
35-44 17.5%
45+   21.0%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고연령일수록 상승 — A와 동일 생애주기 방향 (절대값만 낮음).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(REVISION 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웹온리 — A 대비 결론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7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0" cy="50292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규모는 최대, 전환은 최저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C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290K(A의 3배)지만 rev90 13.1%(1/3)·75.5% 1회성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7016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7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8768" y="1719072"/>
            <a:ext cx="502920" cy="50292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8456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&lt; 재방문 (A와 반대)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8456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C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인세션 업셀 거의 없음. 결제 후 이탈→재방문 구조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7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227832"/>
            <a:ext cx="502920" cy="50292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8132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 패턴은 A와 동일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C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우세·타로&gt;사주·생애주기·생활운 클러스터 전부 동일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7016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7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8768" y="3227832"/>
            <a:ext cx="502920" cy="502920"/>
          </a:xfrm>
          <a:prstGeom prst="ellipse">
            <a:avLst/>
          </a:prstGeom>
          <a:solidFill>
            <a:srgbClr val="0E9E84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8456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lift 0.72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8456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C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A(0.72)와 정확히 동일 — 형식 고착 채널 무관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7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736592"/>
            <a:ext cx="502920" cy="502920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8132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강점 더 약함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8132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C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타로 고가 → 순수재방문 타로−사주 +0.6(동률)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37016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7302A"/>
          </a:solidFill>
          <a:ln w="12700">
            <a:solidFill>
              <a:srgbClr val="2C4A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8768" y="4736592"/>
            <a:ext cx="502920" cy="502920"/>
          </a:xfrm>
          <a:prstGeom prst="ellipse">
            <a:avLst/>
          </a:prstGeom>
          <a:solidFill>
            <a:srgbClr val="C2E8DD"/>
          </a:solidFill>
          <a:ln/>
        </p:spPr>
      </p:sp>
      <p:sp>
        <p:nvSpPr>
          <p:cNvPr id="31" name="Text 29"/>
          <p:cNvSpPr/>
          <p:nvPr/>
        </p:nvSpPr>
        <p:spPr>
          <a:xfrm>
            <a:off x="65987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8456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 = 리텐션·앱전환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8456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C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레버 밖. 추천 로직은 A 재활용, 전달만 분리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우선순위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C는 전환·리타겟이 먼저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0E8C77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347472"/>
          </a:xfrm>
          <a:prstGeom prst="rect">
            <a:avLst/>
          </a:prstGeom>
          <a:solidFill>
            <a:srgbClr val="0E8C77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앱 전환 유도 (최우선)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75.5% 1회성 → 앱 설치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3580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5351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결제자 앱 온보딩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22960" y="358444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0215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전환 시 A 추천 레버 가동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22960" y="413308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 290K = 최대 기회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95528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E1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개선 · 1순위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344314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4314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23408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4314" y="1783080"/>
            <a:ext cx="3503066" cy="3474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914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웹 재방문 리타겟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914" y="228600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이메일·웹푸시 (앱푸시 불가)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00346" y="303580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3" name="Text 21"/>
          <p:cNvSpPr/>
          <p:nvPr/>
        </p:nvSpPr>
        <p:spPr>
          <a:xfrm>
            <a:off x="4783226" y="295351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median 짧음 → 빠른 리마인드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600346" y="358444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5" name="Text 23"/>
          <p:cNvSpPr/>
          <p:nvPr/>
        </p:nvSpPr>
        <p:spPr>
          <a:xfrm>
            <a:off x="4783226" y="350215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연애·생활운 후속 추천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600346" y="413308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7" name="Text 25"/>
          <p:cNvSpPr/>
          <p:nvPr/>
        </p:nvSpPr>
        <p:spPr>
          <a:xfrm>
            <a:off x="4783226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없어 전달 채널 제한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572914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E8EDF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4354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전달 채널 분리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121701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1701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B05A3C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1701" y="1783080"/>
            <a:ext cx="3503066" cy="347472"/>
          </a:xfrm>
          <a:prstGeom prst="rect">
            <a:avLst/>
          </a:prstGeom>
          <a:solidFill>
            <a:srgbClr val="B05A3C"/>
          </a:solidFill>
          <a:ln/>
        </p:spPr>
      </p:sp>
      <p:sp>
        <p:nvSpPr>
          <p:cNvPr id="33" name="Text 31"/>
          <p:cNvSpPr/>
          <p:nvPr/>
        </p:nvSpPr>
        <p:spPr>
          <a:xfrm>
            <a:off x="8350301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추천 로직 A 재활용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50301" y="2286000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주제·형식·intent 동일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77733" y="303580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36" name="Text 34"/>
          <p:cNvSpPr/>
          <p:nvPr/>
        </p:nvSpPr>
        <p:spPr>
          <a:xfrm>
            <a:off x="8560613" y="295351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lift 0.72 동일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377733" y="358444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38" name="Text 36"/>
          <p:cNvSpPr/>
          <p:nvPr/>
        </p:nvSpPr>
        <p:spPr>
          <a:xfrm>
            <a:off x="8560613" y="350215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생활운 클러스터 동일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377733" y="413308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40" name="Text 38"/>
          <p:cNvSpPr/>
          <p:nvPr/>
        </p:nvSpPr>
        <p:spPr>
          <a:xfrm>
            <a:off x="8560613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A/B는 A 후순위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8350301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F6E6DE"/>
          </a:solidFill>
          <a:ln/>
        </p:spPr>
      </p:sp>
      <p:sp>
        <p:nvSpPr>
          <p:cNvPr id="42" name="Text 40"/>
          <p:cNvSpPr/>
          <p:nvPr/>
        </p:nvSpPr>
        <p:spPr>
          <a:xfrm>
            <a:off x="8441741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 공통 · 전달만 분리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566928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 웹온리 Cross-Sell · REVISION 3 (A와 동일 절차 재계산) · 2026-06-02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web-only Cross-Sell 분석 리뷰 REVISION 3</dc:title>
  <dc:subject>PptxGenJS Presentation</dc:subject>
  <dc:creator>HelloBot Data</dc:creator>
  <cp:lastModifiedBy>HelloBot Data</cp:lastModifiedBy>
  <cp:revision>1</cp:revision>
  <dcterms:created xsi:type="dcterms:W3CDTF">2026-06-01T17:32:03Z</dcterms:created>
  <dcterms:modified xsi:type="dcterms:W3CDTF">2026-06-01T17:32:03Z</dcterms:modified>
</cp:coreProperties>
</file>